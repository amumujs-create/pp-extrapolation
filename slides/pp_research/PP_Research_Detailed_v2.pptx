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mai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762750" cy="68580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0" y="0"/>
            <a:ext cx="1524000" cy="6858000"/>
          </a:xfrm>
          <a:prstGeom prst="rect">
            <a:avLst/>
          </a:prstGeom>
          <a:solidFill>
            <a:srgbClr val="B20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742950"/>
            <a:ext cx="838200" cy="47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KOREA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76375"/>
            <a:ext cx="5334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pleGothic"/>
                <a:ea typeface="AppleGothic"/>
              </a:rPr>
              <a:t>PP EXTRAPOLATION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AppleGothic"/>
                <a:ea typeface="AppleGothic"/>
              </a:rPr>
              <a:t>RESEARCH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952750"/>
            <a:ext cx="4953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DDE6"/>
                </a:solidFill>
                <a:latin typeface="AppleGothic"/>
                <a:ea typeface="AppleGothic"/>
              </a:rPr>
              <a:t>SAAR 주결과 · Zn/교차도메인 업데이트 ·</a:t>
            </a:r>
          </a:p>
          <a:p>
            <a:pPr algn="l"/>
            <a:r>
              <a:rPr sz="1800" b="0">
                <a:solidFill>
                  <a:srgbClr val="F5DDE6"/>
                </a:solidFill>
                <a:latin typeface="AppleGothic"/>
                <a:ea typeface="AppleGothic"/>
              </a:rPr>
              <a:t>주장 경계 · 다음에 할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000500"/>
            <a:ext cx="476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BCCB"/>
                </a:solidFill>
                <a:latin typeface="AppleGothic"/>
                <a:ea typeface="AppleGothic"/>
              </a:rPr>
              <a:t>남은수명 · 배터리 · 베어링 · 공구 상태예측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5334000"/>
            <a:ext cx="3810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pleGothic"/>
                <a:ea typeface="AppleGothic"/>
              </a:rPr>
              <a:t>Smart Production Systems Lab.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ppleGothic"/>
                <a:ea typeface="AppleGothic"/>
              </a:rPr>
              <a:t>PP 연구 발표자료 (v2 갱신)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619125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BCCB"/>
                </a:solidFill>
                <a:latin typeface="AppleGothic"/>
                <a:ea typeface="AppleGothic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발표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본문 A–D  ·  상세 근거와 원문은 Appendix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625" y="1905000"/>
            <a:ext cx="2524125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9625" y="1905000"/>
            <a:ext cx="2524125" cy="609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125" y="2038350"/>
            <a:ext cx="38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Gothic"/>
                <a:ea typeface="AppleGothic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1125" y="2076450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문제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2857500"/>
            <a:ext cx="2095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외삽 바운더리와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연구 범위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2325" y="2857500"/>
            <a:ext cx="171450" cy="209550"/>
          </a:xfrm>
          <a:prstGeom prst="rightArrow">
            <a:avLst/>
          </a:prstGeom>
          <a:solidFill>
            <a:srgbClr val="C8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71875" y="1905000"/>
            <a:ext cx="2524125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71875" y="1905000"/>
            <a:ext cx="2524125" cy="609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2375" y="2038350"/>
            <a:ext cx="38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Gothic"/>
                <a:ea typeface="AppleGothic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3375" y="2076450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방법론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1425" y="2857500"/>
            <a:ext cx="2095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SAAR 구조와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공용 prior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124575" y="2857500"/>
            <a:ext cx="171450" cy="209550"/>
          </a:xfrm>
          <a:prstGeom prst="rightArrow">
            <a:avLst/>
          </a:prstGeom>
          <a:solidFill>
            <a:srgbClr val="C8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34125" y="1905000"/>
            <a:ext cx="2524125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4125" y="1905000"/>
            <a:ext cx="2524125" cy="6096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4625" y="2038350"/>
            <a:ext cx="38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5625" y="2076450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실증·업데이트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3675" y="2857500"/>
            <a:ext cx="2095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3배터리 + Zn·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교차도메인 현황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86825" y="2857500"/>
            <a:ext cx="171450" cy="209550"/>
          </a:xfrm>
          <a:prstGeom prst="rightArrow">
            <a:avLst/>
          </a:prstGeom>
          <a:solidFill>
            <a:srgbClr val="C8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96375" y="1905000"/>
            <a:ext cx="2524125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6375" y="1905000"/>
            <a:ext cx="2524125" cy="6096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6875" y="2038350"/>
            <a:ext cx="38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Gothic"/>
                <a:ea typeface="AppleGothic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7875" y="2076450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전망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5925" y="2857500"/>
            <a:ext cx="2095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논문 타깃·PAE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경계·부록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625" y="4667250"/>
            <a:ext cx="10572750" cy="904875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5375" y="4953000"/>
            <a:ext cx="1000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요지  ·  논문 주모델은 SAAR. Zn·베어링은 확장·한계 보고. PAE 결과와는 아직 안 겹침.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왜 이 연구를 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학습 안에서는 잘 맞아도, 밖에서는 가정이 예측을 가른다</a:t>
            </a:r>
          </a:p>
        </p:txBody>
      </p:sp>
      <p:pic>
        <p:nvPicPr>
          <p:cNvPr id="8" name="Picture 7" descr="motivation_fu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28750"/>
            <a:ext cx="7429500" cy="28575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86750" y="1619250"/>
            <a:ext cx="3238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86750" y="1619250"/>
            <a:ext cx="3238500" cy="66675"/>
          </a:xfrm>
          <a:prstGeom prst="roundRect">
            <a:avLst>
              <a:gd name="adj" fmla="val 8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150" y="1790700"/>
            <a:ext cx="2933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150" y="2095500"/>
            <a:ext cx="29337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일반 신경망은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학습 범위 밖에서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예측이 흔들리기 쉽다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6750" y="2952750"/>
            <a:ext cx="3238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6750" y="2952750"/>
            <a:ext cx="323850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150" y="3124200"/>
            <a:ext cx="2933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150" y="3429000"/>
            <a:ext cx="29337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물리식을 세게 넣으면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그 식이 틀릴 때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오히려 더 위험하다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6750" y="4286250"/>
            <a:ext cx="3238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86750" y="4286250"/>
            <a:ext cx="32385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4457700"/>
            <a:ext cx="2933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출발점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150" y="4762500"/>
            <a:ext cx="29337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지금 분명히 아는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약한 가정만 쓰고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모르면 예측을 멈춘다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476750"/>
            <a:ext cx="723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29"/>
                </a:solidFill>
                <a:latin typeface="AppleGothic"/>
                <a:ea typeface="AppleGothic"/>
              </a:rPr>
              <a:t>문헌에서 가져온 한 문장: 밖을 지탱하는 것은 데이터가 아니라 가정이다.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5048250"/>
            <a:ext cx="723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출처: 외삽 문헌조사 발표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연구의 위치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선행 연구와 겹치는 지점, 그리고 본 연구가 다루는 공백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571625"/>
            <a:ext cx="34290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1571625"/>
            <a:ext cx="3429000" cy="66675"/>
          </a:xfrm>
          <a:prstGeom prst="roundRect">
            <a:avLst>
              <a:gd name="adj" fmla="val 8000"/>
            </a:avLst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43075"/>
            <a:ext cx="3124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이미 축적된 흐름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47875"/>
            <a:ext cx="3124200" cy="179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물리–신경망 결합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단조성·방향성 제약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불확실성 기반 예측 보류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6750" y="1571625"/>
            <a:ext cx="34290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76750" y="1571625"/>
            <a:ext cx="342900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9150" y="1743075"/>
            <a:ext cx="3124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남는 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2047875"/>
            <a:ext cx="3124200" cy="179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지배 방정식은 모르더라도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수명 경계·최근 이력 같은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약한 가정은 어떻게 쓸 것인가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500" y="1571625"/>
            <a:ext cx="34290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1500" y="1571625"/>
            <a:ext cx="34290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1743075"/>
            <a:ext cx="3124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본 연구의 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2047875"/>
            <a:ext cx="3124200" cy="179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약한 가정을 명시적으로 고정하고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신경망이 이를 훼손하지 않게 하며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근거가 부족하면 예측을 유보한다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286250"/>
            <a:ext cx="10858500" cy="104775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7750" y="4524375"/>
            <a:ext cx="10287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요약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4857750"/>
            <a:ext cx="10287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pleGothic"/>
                <a:ea typeface="AppleGothic"/>
              </a:rPr>
              <a:t>새로운 모형의 발명이라기보다, 학습 지지 밖 남은수명 예측에서 약한 가정을 안전하게 운용하는 절차를 정립한 연구다.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PP는 어떤 외삽 연구인가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연구 바운더리 — 하는 것 / 안 하는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476375"/>
            <a:ext cx="352425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6750" y="147637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50" y="164782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하는 것 (In scope)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1952625"/>
            <a:ext cx="3219450" cy="245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연속 열화의 남은수명(RUL)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개체(unit) 분리 평가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사전 좌표의 train hull 밖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식 없는 구조 prior 실행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(SAAR / 최종 PP)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500" y="1476375"/>
            <a:ext cx="352425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1500" y="147637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3900" y="164782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안 하는 것 (Out)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1952625"/>
            <a:ext cx="3219450" cy="245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임의 tabular 만능 외삽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도메인 물리식 발견/주입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같은 개체 단순 미래예측만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테스트 보고 prior 재선택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모든 OOD 1등 주장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6250" y="1476375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6250" y="1476375"/>
            <a:ext cx="3429000" cy="66675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8650" y="1647825"/>
            <a:ext cx="3124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한 줄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8650" y="1952625"/>
            <a:ext cx="3124200" cy="245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unit-disjoint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+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out-of-support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RUL extrapolation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under equation-free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structural priors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762500"/>
            <a:ext cx="10477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외삽 좌표 예: health/capacity 끝단 · 균열 길이 · 부하(TRA)·만기 조건.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일반 ‘시간상 미래’나 분류 OOD와 문제 정의를 구분한다.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외삽 범위를 어떻게 잡았나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스플릿·평가에 넣은 규칙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47637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1476375"/>
            <a:ext cx="3524250" cy="40005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155257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① 계약 먼저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047875"/>
            <a:ext cx="32385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경계·unit·시간축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인과 입력·외삽 좌표를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데이터 이름보다 먼저 고정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500" y="147637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1500" y="1476375"/>
            <a:ext cx="3524250" cy="4000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850" y="155257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② unit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850" y="2047875"/>
            <a:ext cx="32385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같은 셀/시편/엔진이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train·val·test에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동시에 들어가지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6250" y="147637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6250" y="1476375"/>
            <a:ext cx="3524250" cy="40005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5257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③ train = support 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47875"/>
            <a:ext cx="32385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학습 unit의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관측 범위 내부 행만 사용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스케일도 train만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" y="366712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750" y="3667125"/>
            <a:ext cx="3524250" cy="40005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374332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④ 평가는 hull 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4238625"/>
            <a:ext cx="32385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val/test는 사전 좌표가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train convex hull 밖인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행만 남겨 점수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1500" y="366712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1500" y="3667125"/>
            <a:ext cx="3524250" cy="40005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4850" y="374332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⑤ val-only 선택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4850" y="4238625"/>
            <a:ext cx="32385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설정·epoch·모듈 승인은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검증만 · test 라벨로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구조 다시 고르지 않음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6250" y="366712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6250" y="3667125"/>
            <a:ext cx="3524250" cy="40005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74332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⑥ 보고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238625"/>
            <a:ext cx="32385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주: pooled R²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보조: unit·seed·경계위반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성공과 실패를 같이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질문 세 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식을 넣을까 · 식 없이 어떻게 · 믿어도 될까</a:t>
            </a:r>
          </a:p>
        </p:txBody>
      </p:sp>
      <p:pic>
        <p:nvPicPr>
          <p:cNvPr id="8" name="Picture 7" descr="prior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81125"/>
            <a:ext cx="7239000" cy="31432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01000" y="152400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500" y="1676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27D98"/>
                </a:solidFill>
                <a:latin typeface="AppleGothic"/>
                <a:ea typeface="AppleGothic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1924050"/>
            <a:ext cx="2190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어떤 식을 넣을까?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9875" y="1952625"/>
            <a:ext cx="904875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AppleGothic"/>
                <a:ea typeface="AppleGothic"/>
              </a:rPr>
              <a:t>PAE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66700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0" y="2819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27D98"/>
                </a:solidFill>
                <a:latin typeface="AppleGothic"/>
                <a:ea typeface="AppleGothic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0" y="3067050"/>
            <a:ext cx="2190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식 없이 어떻게?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9875" y="3095625"/>
            <a:ext cx="904875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AppleGothic"/>
                <a:ea typeface="AppleGothic"/>
              </a:rPr>
              <a:t>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81000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1500" y="396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27D98"/>
                </a:solidFill>
                <a:latin typeface="AppleGothic"/>
                <a:ea typeface="AppleGothic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4210050"/>
            <a:ext cx="2190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믿어도 되나?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9875" y="4238625"/>
            <a:ext cx="904875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3A5F"/>
                </a:solidFill>
                <a:latin typeface="AppleGothic"/>
                <a:ea typeface="AppleGothic"/>
              </a:rPr>
              <a:t>보증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4762500"/>
            <a:ext cx="1047750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AppleGothic"/>
                <a:ea typeface="AppleGothic"/>
              </a:rPr>
              <a:t>지금 논문은 Q2(PP). PP는 prior-free가 아니라 equation-free. 일반 구조 bias(safeguard)는 있다.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PP와 PAE의 분기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후보식이 있으면 PAE(식+NN) · 없으면 PP</a:t>
            </a:r>
          </a:p>
        </p:txBody>
      </p:sp>
      <p:pic>
        <p:nvPicPr>
          <p:cNvPr id="8" name="Picture 7" descr="pp_pa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381125"/>
            <a:ext cx="112395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191125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PAE에서도 식만으로 끝내지 않는다. 허용된 식 위에 부족분은 NN이 제한적으로 학습한다.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PP는 prior를 어떻게 켜나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전부 한꺼번에가 아니라, 계약상 최소 bundle만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476375"/>
            <a:ext cx="36195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1476375"/>
            <a:ext cx="36195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7825"/>
            <a:ext cx="3314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52625"/>
            <a:ext cx="3314700" cy="179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데이터셋 이름으로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고르지 않는다.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외삽 타입·관측 가능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정보로 사전에 고정된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eligibility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476375"/>
            <a:ext cx="36195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476375"/>
            <a:ext cx="361950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4400" y="1647825"/>
            <a:ext cx="3314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예: 배터리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1952625"/>
            <a:ext cx="3314700" cy="179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경계·방향·이력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bounded correction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rate는 causal 이력이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있을 때만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2000" y="1476375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82000" y="1476375"/>
            <a:ext cx="3048000" cy="66675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0" y="1647825"/>
            <a:ext cx="2743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예: tabular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400" y="1952625"/>
            <a:ext cx="2743200" cy="179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affine tail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연속성·기울기 제한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거리·거절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095750"/>
            <a:ext cx="10477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규칙 예: 고장경계 관측 → boundary 허용 / causal history → history·rate 허용 /</a:t>
            </a:r>
          </a:p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정적 tabular만 → affine·연속성만 / 방향이 외부 정당화 → 부호 제약 / 안전 연장 불가 → 거절</a:t>
            </a:r>
          </a:p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성능을 보고 사람이 고르면 사후 튜닝. PP의 선택은 기계적·사전 고정이어야 PAE와 안 겹친다.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5191125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29"/>
                </a:solidFill>
                <a:latin typeface="AppleGothic"/>
                <a:ea typeface="AppleGothic"/>
              </a:rPr>
              <a:t>흐름: 문제 계약 → 적용 가능한 weak-prior bundle → 안전한 실행 (equation-free safeguard)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문제와 핵심 아이디어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PP: support-aware residual extrapolation</a:t>
            </a:r>
          </a:p>
        </p:txBody>
      </p:sp>
      <p:pic>
        <p:nvPicPr>
          <p:cNvPr id="8" name="Picture 7" descr="pp_core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33500"/>
            <a:ext cx="11430000" cy="409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476875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27D98"/>
                </a:solidFill>
                <a:latin typeface="AppleGothic"/>
                <a:ea typeface="AppleGothic"/>
              </a:rPr>
              <a:t>순서: 왜 일반 NN이 외삽에서 위험한가 → PP가 무엇을 제한하는가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모형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affine 기본 경로 + 제한된 residual</a:t>
            </a:r>
          </a:p>
        </p:txBody>
      </p:sp>
      <p:pic>
        <p:nvPicPr>
          <p:cNvPr id="8" name="Picture 7" descr="p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85875"/>
            <a:ext cx="11430000" cy="447675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수식은 하나면 충분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각 항이 NN 자유도를 어떻게 줄이는가</a:t>
            </a:r>
          </a:p>
        </p:txBody>
      </p:sp>
      <p:pic>
        <p:nvPicPr>
          <p:cNvPr id="8" name="Picture 7" descr="pp_equ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81125"/>
            <a:ext cx="11430000" cy="381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334000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ŷ = ŷ_affine + w(d) · B tanh(r_θ(x)/B)   ·   global path + support-adaptive bounded correction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공용 prior / 데이터별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배터리 열화식을 미리 넣는 모델이 아니다</a:t>
            </a:r>
          </a:p>
        </p:txBody>
      </p:sp>
      <p:pic>
        <p:nvPicPr>
          <p:cNvPr id="8" name="Picture 7" descr="pp_shared_vs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33500"/>
            <a:ext cx="11430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143500"/>
            <a:ext cx="104775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0029"/>
                </a:solidFill>
                <a:latin typeface="AppleGothic"/>
                <a:ea typeface="AppleGothic"/>
              </a:rPr>
              <a:t>발표 멘트: 어떤 데이터셋에도 동일한 외삽 구조를 적용하고, 각 데이터셋에서는 추세와 residual만 새로 학습한다.</a:t>
            </a:r>
          </a:p>
          <a:p>
            <a:pPr algn="l"/>
            <a:r>
              <a:rPr sz="1300" b="1">
                <a:solidFill>
                  <a:srgbClr val="8B0029"/>
                </a:solidFill>
                <a:latin typeface="AppleGothic"/>
                <a:ea typeface="AppleGothic"/>
              </a:rPr>
              <a:t>prior는 데이터셋 고유식이 아니라, 관측 밖에서 복잡한 NN 보정을 덜 신뢰한다는 공용 외삽 prior다.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학습에서 멀어질수록 보정을 줄인다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w(d): 가까운 곳은 자세히, 먼 곳은 덜 신뢰</a:t>
            </a:r>
          </a:p>
        </p:txBody>
      </p:sp>
      <p:pic>
        <p:nvPicPr>
          <p:cNvPr id="8" name="Picture 7" descr="support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381125"/>
            <a:ext cx="6858000" cy="36195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20000" y="1619250"/>
            <a:ext cx="381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0" y="1619250"/>
            <a:ext cx="3810000" cy="66675"/>
          </a:xfrm>
          <a:prstGeom prst="roundRect">
            <a:avLst>
              <a:gd name="adj" fmla="val 8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790700"/>
            <a:ext cx="3505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왜 필요한가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95500"/>
            <a:ext cx="35052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보정을 안 막으면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밖에서 기본 경향을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덮어쓸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0" y="2952750"/>
            <a:ext cx="381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0" y="2952750"/>
            <a:ext cx="38100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124200"/>
            <a:ext cx="3505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어떻게 하나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29000"/>
            <a:ext cx="35052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학습 범위에서 멀수록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보정 허용폭을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부드럽게 바꾼다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0" y="4286250"/>
            <a:ext cx="381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20000" y="4286250"/>
            <a:ext cx="3810000" cy="66675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457700"/>
            <a:ext cx="3505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그래서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62500"/>
            <a:ext cx="35052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보정이 무한히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커지지 않고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추세 중심으로 수축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어떻게 검증하나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랜덤으로 나누지 않고, 진짜 바깥 구간을 먼저 잡는다</a:t>
            </a:r>
          </a:p>
        </p:txBody>
      </p:sp>
      <p:pic>
        <p:nvPicPr>
          <p:cNvPr id="8" name="Picture 7" descr="protoco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30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4953000"/>
            <a:ext cx="1047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0029"/>
                </a:solidFill>
                <a:latin typeface="AppleGothic"/>
                <a:ea typeface="AppleGothic"/>
              </a:rPr>
              <a:t>원칙: 검증 구간만으로 모델 고르기 · 테스트 정답은 보지 않기 · 개발 결과와 확인 실험은 따로 쓰기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핵심 실험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같은 구조로 Sunwoda · RWTH · MICH</a:t>
            </a:r>
          </a:p>
        </p:txBody>
      </p:sp>
      <p:pic>
        <p:nvPicPr>
          <p:cNvPr id="8" name="Picture 7" descr="main_ablati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33500"/>
            <a:ext cx="7429500" cy="381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91500" y="1476375"/>
            <a:ext cx="3238500" cy="9525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1500" y="1476375"/>
            <a:ext cx="76200" cy="952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1590675"/>
            <a:ext cx="2857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평균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9625" y="1838325"/>
            <a:ext cx="2857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A9D8F"/>
                </a:solidFill>
                <a:latin typeface="AppleGothic"/>
                <a:ea typeface="AppleGothic"/>
              </a:rPr>
              <a:t>0.842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9625" y="2162175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최고 0.934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500" y="2571750"/>
            <a:ext cx="3238500" cy="9525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1500" y="2571750"/>
            <a:ext cx="76200" cy="9525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9625" y="2686050"/>
            <a:ext cx="2857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최고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625" y="2933700"/>
            <a:ext cx="2857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6F95"/>
                </a:solidFill>
                <a:latin typeface="AppleGothic"/>
                <a:ea typeface="AppleGothic"/>
              </a:rPr>
              <a:t>0.934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9625" y="3257550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Sunwoda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1500" y="3667125"/>
            <a:ext cx="3238500" cy="9525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1500" y="3667125"/>
            <a:ext cx="76200" cy="952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9625" y="3781425"/>
            <a:ext cx="2857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최저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9625" y="4029075"/>
            <a:ext cx="2857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A261"/>
                </a:solidFill>
                <a:latin typeface="AppleGothic"/>
                <a:ea typeface="AppleGothic"/>
              </a:rPr>
              <a:t>0.751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9625" y="4352925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MICH (회복)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5286375"/>
            <a:ext cx="1047750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0029"/>
                </a:solidFill>
                <a:latin typeface="AppleGothic"/>
                <a:ea typeface="AppleGothic"/>
              </a:rPr>
              <a:t>논문 주표(개발 3데이터). 고정 경계형 최저 0.468 → SAAR 최저 0.751. 확증 cohort는 별도.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최신 업데이트 (2026-09)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무엇이 바뀌었고, 무엇을 아직 주장하지 않나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476375"/>
            <a:ext cx="5334000" cy="1952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1476375"/>
            <a:ext cx="53340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1590675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500" y="1590675"/>
            <a:ext cx="4000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SAAR / dual-scale BQ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143125"/>
            <a:ext cx="485775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Sunwoda·RWTH·MICH 0.934 / 0.842 / 0.751</a:t>
            </a:r>
          </a:p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논문 1편의 주 executor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0" y="1476375"/>
            <a:ext cx="5334000" cy="1952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6500" y="1476375"/>
            <a:ext cx="5334000" cy="4572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0" y="1590675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1590675"/>
            <a:ext cx="4000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Na / Zn-ion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2143125"/>
            <a:ext cx="485775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BQ만으로는 Zn untouched 실패 →</a:t>
            </a:r>
          </a:p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RBF-regime·refit으로 개발 점수 회복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" y="3667125"/>
            <a:ext cx="5334000" cy="1952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6750" y="3667125"/>
            <a:ext cx="53340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50" y="3781425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교차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4500" y="3781425"/>
            <a:ext cx="4000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XJTU · FEMTO · Milling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" y="4333875"/>
            <a:ext cx="485775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구조 복구·입력 감사 단계</a:t>
            </a:r>
          </a:p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통합 우월성 주장 전 아님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500" y="3667125"/>
            <a:ext cx="5334000" cy="1952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6500" y="3667125"/>
            <a:ext cx="5334000" cy="457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7000" y="3781425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경계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0" y="3781425"/>
            <a:ext cx="4000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PAE / 저널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4333875"/>
            <a:ext cx="485775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결과 표는 PP만 · PAE 라우팅 실험 없음</a:t>
            </a:r>
          </a:p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분야 Q1–Q2가 현실 본선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Zn-ion에서 무엇이 달라졌나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실패 → 경로 분기 → 개발 개선 (확증 아님)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714500"/>
            <a:ext cx="261937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1714500"/>
            <a:ext cx="2619375" cy="495300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1828800"/>
            <a:ext cx="38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1866900"/>
            <a:ext cx="190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Gothic"/>
                <a:ea typeface="AppleGothic"/>
              </a:rPr>
              <a:t>BQ-PP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476500"/>
            <a:ext cx="2238375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untouched Zn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실패 (≈ −0.38)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14700" y="2571750"/>
            <a:ext cx="171450" cy="209550"/>
          </a:xfrm>
          <a:prstGeom prst="rightArrow">
            <a:avLst/>
          </a:prstGeom>
          <a:solidFill>
            <a:srgbClr val="C8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4250" y="1714500"/>
            <a:ext cx="261937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4250" y="1714500"/>
            <a:ext cx="2619375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5700" y="1828800"/>
            <a:ext cx="38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8125" y="1866900"/>
            <a:ext cx="190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Gothic"/>
                <a:ea typeface="AppleGothic"/>
              </a:rPr>
              <a:t>RBF-regime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4750" y="2476500"/>
            <a:ext cx="2238375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장수명 memory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+ BQ 혼합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172200" y="2571750"/>
            <a:ext cx="171450" cy="209550"/>
          </a:xfrm>
          <a:prstGeom prst="rightArrow">
            <a:avLst/>
          </a:prstGeom>
          <a:solidFill>
            <a:srgbClr val="C8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1750" y="1714500"/>
            <a:ext cx="261937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81750" y="1714500"/>
            <a:ext cx="2619375" cy="4953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1828800"/>
            <a:ext cx="38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5625" y="1866900"/>
            <a:ext cx="190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Gothic"/>
                <a:ea typeface="AppleGothic"/>
              </a:rPr>
              <a:t>α / refit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2476500"/>
            <a:ext cx="2238375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강한 shrinkage +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full-dev refit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029700" y="2571750"/>
            <a:ext cx="171450" cy="209550"/>
          </a:xfrm>
          <a:prstGeom prst="rightArrow">
            <a:avLst/>
          </a:prstGeom>
          <a:solidFill>
            <a:srgbClr val="C8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9250" y="1714500"/>
            <a:ext cx="261937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9250" y="1714500"/>
            <a:ext cx="2619375" cy="495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0700" y="1828800"/>
            <a:ext cx="38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3125" y="1866900"/>
            <a:ext cx="190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Gothic"/>
                <a:ea typeface="AppleGothic"/>
              </a:rPr>
              <a:t>개발 점수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9750" y="2476500"/>
            <a:ext cx="2238375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Zn ≈ 0.91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Na ≈ 0.82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50" y="4191000"/>
            <a:ext cx="10858500" cy="13335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875" y="4381500"/>
            <a:ext cx="1038225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주의  ·  0.91/0.82는 이미 본 test에 대한 사후 개발 결과. 새 untouched 확증으로 쓰지 않음.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개선의 큰 축은 새 NN 구조만이 아니라 ridge shrinkage와 validation을 포함한 standard refit 계약.</a:t>
            </a:r>
          </a:p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RBF+BQ 혼합은 margin=0 경계를 항상 보장하지 않음 → 다음 후보: quotient 안 결합(Dynamic Boundary-Scale).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점수가 오른 이유 — 정직하게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구조 혁신 vs 학습 계약·수축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666875"/>
            <a:ext cx="352425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6750" y="166687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50" y="183832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구조로 설명되는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143125"/>
            <a:ext cx="3219450" cy="264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SAAR dual-scale로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MICH 최저점 회복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(고정 bound 0.468→0.751)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Zn에서 lifetime 경로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추가로 BQ 단독 실패 보완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500" y="1666875"/>
            <a:ext cx="352425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1500" y="166687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3900" y="183832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계약·조율로 오른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2143125"/>
            <a:ext cx="3219450" cy="264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α=1000 affine shrinkage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full-development refit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(같은 epoch로 val prefix 포함)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같은 refit을 MLP에도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줘야 공정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6250" y="1666875"/>
            <a:ext cx="352425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6250" y="166687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8650" y="183832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아직 분리 안 된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8650" y="2143125"/>
            <a:ext cx="3219450" cy="264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RBF memory 정보량 vs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NN residual 기여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공정 NN 대조·nested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unit CV·표본 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5191125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29"/>
                </a:solidFill>
                <a:latin typeface="AppleGothic"/>
                <a:ea typeface="AppleGothic"/>
              </a:rPr>
              <a:t>발표/논문 멘트: ‘모델이 통째로 한 단계 진화’보다 ‘어디서 구조가, 어디서 계약이 이득인지’를 분리한다.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교차 도메인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배터리 밖 — 복구·감사 중, 통합 성공 아님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428750"/>
            <a:ext cx="1428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도메인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500" y="1428750"/>
            <a:ext cx="1714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500" y="1428750"/>
            <a:ext cx="4000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핵심 수치/사실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142875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주장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6250" y="1685925"/>
            <a:ext cx="11239500" cy="714375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1809750"/>
            <a:ext cx="1428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XJTU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5500" y="1809750"/>
            <a:ext cx="1714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개발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500" y="1809750"/>
            <a:ext cx="4000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progress+scale transport ≈ 0.257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(기존 Ridge −0.84)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0" y="1809750"/>
            <a:ext cx="3238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post-test 개발. 독립 확증 아님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250" y="2495550"/>
            <a:ext cx="11239500" cy="714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" y="2619375"/>
            <a:ext cx="1428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FEMTO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5500" y="2619375"/>
            <a:ext cx="1714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판정 보류/실패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0500" y="2619375"/>
            <a:ext cx="4000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잘못된 진동 채널 발견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교정 후 PP 구조들 채택 실패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0" y="2619375"/>
            <a:ext cx="3238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우월 실패가 아니라 설계 미성숙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250" y="3305175"/>
            <a:ext cx="11239500" cy="714375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3429000"/>
            <a:ext cx="1428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Milling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5500" y="3429000"/>
            <a:ext cx="1714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감사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500" y="3429000"/>
            <a:ext cx="4000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일부 양수 점수는 수식 보정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NN 경로 꺼진 경우 있음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0" y="3429000"/>
            <a:ext cx="3238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NN 기여와 보정 기여 분리 필요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6250" y="4114800"/>
            <a:ext cx="11239500" cy="714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" y="4238625"/>
            <a:ext cx="1428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정보 한계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95500" y="4238625"/>
            <a:ext cx="1714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0500" y="4238625"/>
            <a:ext cx="4000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비슷한 prefix + 다른 Z면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어떤 f(H)도 한계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0" y="4238625"/>
            <a:ext cx="3238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안 보이는 lifetime을 복원하지 않음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Ablation — 무엇이 성능을 만드나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구성요소 on/off (개발 3데이터 + 대표 설정)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14287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1428750"/>
            <a:ext cx="2095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제거하면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1428750"/>
            <a:ext cx="2667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켠 효과(요지)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0" y="142875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해석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1685925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50" y="1762125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NN residual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000" y="1762125"/>
            <a:ext cx="2095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affine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176212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MICH −3.3→0.47 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0" y="176212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직선만으로는 부족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2209800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750" y="2286000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Affine 동결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7000" y="2286000"/>
            <a:ext cx="2095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trainable 경계NN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0" y="2286000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세 데이터 모두 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0" y="2286000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NN이 tail 덮는 것 억제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2733675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50" y="2809875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Residual bound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7000" y="2809875"/>
            <a:ext cx="2095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unbounded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3000" y="280987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Sun/RWTH ↑, MICH 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500" y="280987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조건부 — dual-scale로 보완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" y="3257550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750" y="3333750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Dual-scale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7000" y="3333750"/>
            <a:ext cx="2095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고정 bound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3000" y="3333750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MICH 0.47→0.75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500" y="3333750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이질 regime에서 용량 확대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" y="3781425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750" y="3857625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Rate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7000" y="3857625"/>
            <a:ext cx="2095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margin만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3000" y="385762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Sun/RWTH 큰 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0500" y="385762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MICH는 단순 history가 유리한 반례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500" y="4305300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750" y="4381500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Transport/gate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7000" y="4381500"/>
            <a:ext cx="2095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always-on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3000" y="4381500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HUST·MATRb2 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0500" y="4381500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증거 없으면 모듈 거절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250" y="5143500"/>
            <a:ext cx="104775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0029"/>
                </a:solidFill>
                <a:latin typeface="AppleGothic"/>
                <a:ea typeface="AppleGothic"/>
              </a:rPr>
              <a:t>주장: ‘모든 부품이 모든 데이터에서 항상 이긴다’가 아니라,</a:t>
            </a:r>
          </a:p>
          <a:p>
            <a:pPr algn="l"/>
            <a:r>
              <a:rPr sz="1300" b="1">
                <a:solidFill>
                  <a:srgbClr val="8B0029"/>
                </a:solidFill>
                <a:latin typeface="AppleGothic"/>
                <a:ea typeface="AppleGothic"/>
              </a:rPr>
              <a:t>frozen affine + residual이 핵심이고, bound·history·transport는 regime에 따라 승인한다.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게이트 효과는 어떻게 확인하나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넣었다 뺐다(on/off) = 표준 ablation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476375"/>
            <a:ext cx="36195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6750" y="1476375"/>
            <a:ext cx="36195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50" y="1647825"/>
            <a:ext cx="3314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하는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1952625"/>
            <a:ext cx="33147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같은 split·같은 모델에서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① 게이트 끔(always-on)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② 게이트 켬(val 증거 있을 때만)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차이를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6750" y="1476375"/>
            <a:ext cx="36195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76750" y="1476375"/>
            <a:ext cx="361950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9150" y="1647825"/>
            <a:ext cx="3314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우리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1952625"/>
            <a:ext cx="33147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13개 설정 감사: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개선 3 · 유지 10 · 악화 0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항상 켜면 Virkler 등 악화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(−5.37→−6.56)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6750" y="1476375"/>
            <a:ext cx="32385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6750" y="1476375"/>
            <a:ext cx="3238500" cy="66675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150" y="1647825"/>
            <a:ext cx="2933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해석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150" y="1952625"/>
            <a:ext cx="29337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게이트는 평균 R²를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직접 올리는 부품보다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틀린 모듈을 막아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기본 PP를 지키는 역할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381500"/>
            <a:ext cx="10477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보통 맞음: 효과 주장은 on/off(또는 matched arm)로 확인한다.</a:t>
            </a:r>
          </a:p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다만 ‘모든 shift를 잡는다’까지는 못 씀 — MICH history는 val이 full을 골랐는데 test는 단순 history가 더 나은 반례.</a:t>
            </a:r>
          </a:p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원문: FINAL_PP_COMPONENT_ABLATION_RESULTS_KO.md (Evidence gate ablation)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조건 적합도가 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밖의 점수를 미리 알 수는 없다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524000"/>
            <a:ext cx="352425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6750" y="1524000"/>
            <a:ext cx="3524250" cy="66675"/>
          </a:xfrm>
          <a:prstGeom prst="roundRect">
            <a:avLst>
              <a:gd name="adj" fmla="val 8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50" y="1695450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할 수 없는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000250"/>
            <a:ext cx="3219450" cy="226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테스트 정답을 보기 전에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‘이번엔 R²가 몇이다’를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맞춰 맞히는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500" y="1524000"/>
            <a:ext cx="352425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1500" y="1524000"/>
            <a:ext cx="352425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3900" y="1695450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할 수 있는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2000250"/>
            <a:ext cx="3219450" cy="226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관측만으로 검사: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이 문제에 SAAR를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써도 되는가?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안 되면 숫자를 내지 않기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6250" y="1524000"/>
            <a:ext cx="3429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6250" y="1524000"/>
            <a:ext cx="3429000" cy="66675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8650" y="1695450"/>
            <a:ext cx="3124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최종 출력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8650" y="2000250"/>
            <a:ext cx="3124200" cy="226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예측 숫자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+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적용 가능 증명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+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거리·불확실성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667250"/>
            <a:ext cx="10477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29"/>
                </a:solidFill>
                <a:latin typeface="AppleGothic"/>
                <a:ea typeface="AppleGothic"/>
              </a:rPr>
              <a:t>한 줄: 적합도는 ‘잘 맞힐 보증서’가 아니라 ‘이 가정으로 말해도 되는가’의 허가증이다.</a:t>
            </a:r>
          </a:p>
          <a:p>
            <a:pPr algn="l"/>
            <a:r>
              <a:rPr sz="1400" b="1">
                <a:solidFill>
                  <a:srgbClr val="8B0029"/>
                </a:solidFill>
                <a:latin typeface="AppleGothic"/>
                <a:ea typeface="AppleGothic"/>
              </a:rPr>
              <a:t>허가 없이 점수만 내면, 외삽에서 틀린 확신을 주는 것과 같다.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조건 적합도 6가지 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쉬운 말로 — 무엇을 / 왜 보나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5" y="1381125"/>
            <a:ext cx="36671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3875" y="1381125"/>
            <a:ext cx="3667125" cy="3619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175" y="1447800"/>
            <a:ext cx="3429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① 문제 타입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185737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AppleGothic"/>
                <a:ea typeface="AppleGothic"/>
              </a:rPr>
              <a:t>무엇을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5875" y="1838325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안 본 개체의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학습 밖 남은수명인가?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261937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5875" y="2600325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랜덤 미래예측과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문제가 다르기 때문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3875" y="1381125"/>
            <a:ext cx="36671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3875" y="1381125"/>
            <a:ext cx="3667125" cy="36195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8175" y="1447800"/>
            <a:ext cx="3429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② 관측 계약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8175" y="185737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AppleGothic"/>
                <a:ea typeface="AppleGothic"/>
              </a:rPr>
              <a:t>무엇을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5875" y="1838325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경계·이력·방향이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실제로 보이는가?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8175" y="261937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5875" y="2600325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없는 prior를 켜면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가정이 거짓이 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3875" y="1381125"/>
            <a:ext cx="36671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43875" y="1381125"/>
            <a:ext cx="3667125" cy="36195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8175" y="1447800"/>
            <a:ext cx="3429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③ Val 기술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8175" y="185737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F95"/>
                </a:solidFill>
                <a:latin typeface="AppleGothic"/>
                <a:ea typeface="AppleGothic"/>
              </a:rPr>
              <a:t>무엇을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5875" y="1838325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검증 끝단에서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이미 도움이 되나?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8175" y="261937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5875" y="2600325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test 보기 전에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실력 증거를 남김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3875" y="3619500"/>
            <a:ext cx="36671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3875" y="3619500"/>
            <a:ext cx="3667125" cy="36195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175" y="3686175"/>
            <a:ext cx="3429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④ 거리·안정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" y="4095750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무엇을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5875" y="4076700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너무 멀거나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재학습이 흔들리나?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175" y="4857750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5875" y="4838700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멀수록 가정 의존↑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불안정하면 위험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3875" y="3619500"/>
            <a:ext cx="36671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33875" y="3619500"/>
            <a:ext cx="3667125" cy="36195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48175" y="3686175"/>
            <a:ext cx="3429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⑤ 경로 호환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8175" y="4095750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29"/>
                </a:solidFill>
                <a:latin typeface="AppleGothic"/>
                <a:ea typeface="AppleGothic"/>
              </a:rPr>
              <a:t>무엇을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95875" y="4076700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검증→시험 방향이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비슷한가?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48175" y="4857750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5875" y="4838700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반대면 보정을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옮기면 안 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43875" y="3619500"/>
            <a:ext cx="36671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43875" y="3619500"/>
            <a:ext cx="3667125" cy="36195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58175" y="3686175"/>
            <a:ext cx="3429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⑥ 메커니즘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8175" y="4095750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7D44"/>
                </a:solidFill>
                <a:latin typeface="AppleGothic"/>
                <a:ea typeface="AppleGothic"/>
              </a:rPr>
              <a:t>무엇을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05875" y="4076700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재료·고장·센서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의미가 같은가?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8175" y="4857750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5875" y="4838700"/>
            <a:ext cx="2762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다르면 모델이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다른 현상을 봄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적합도 판정 — 세 갈래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Pass / Weak / 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428750"/>
            <a:ext cx="352425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1428750"/>
            <a:ext cx="3524250" cy="6667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" y="1504950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Gothic"/>
                <a:ea typeface="AppleGothic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17907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Gothic"/>
                <a:ea typeface="AppleGothic"/>
              </a:rPr>
              <a:t>써도 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333625"/>
            <a:ext cx="314325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6항이 대체로 통과</a:t>
            </a:r>
          </a:p>
          <a:p>
            <a:pPr algn="ctr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val에서 실력도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429000"/>
            <a:ext cx="314325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9D8F"/>
                </a:solidFill>
                <a:latin typeface="AppleGothic"/>
                <a:ea typeface="AppleGothic"/>
              </a:rPr>
              <a:t>→ SAAR 예측을 보고</a:t>
            </a:r>
          </a:p>
          <a:p>
            <a:pPr algn="ctr"/>
            <a:r>
              <a:rPr sz="1400" b="1">
                <a:solidFill>
                  <a:srgbClr val="2A9D8F"/>
                </a:solidFill>
                <a:latin typeface="AppleGothic"/>
                <a:ea typeface="AppleGothic"/>
              </a:rPr>
              <a:t>거리·불확실성과 함께 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500" y="1428750"/>
            <a:ext cx="352425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1500" y="1428750"/>
            <a:ext cx="3524250" cy="66675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4375" y="1504950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Gothic"/>
                <a:ea typeface="AppleGothic"/>
              </a:rPr>
              <a:t>Weak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4375" y="17907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Gothic"/>
                <a:ea typeface="AppleGothic"/>
              </a:rPr>
              <a:t>조심해서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3625"/>
            <a:ext cx="314325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문제는 맞지만</a:t>
            </a:r>
          </a:p>
          <a:p>
            <a:pPr algn="ctr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거리 큼·증거 얇음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29000"/>
            <a:ext cx="314325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A261"/>
                </a:solidFill>
                <a:latin typeface="AppleGothic"/>
                <a:ea typeface="AppleGothic"/>
              </a:rPr>
              <a:t>→ 보정 줄이거나</a:t>
            </a:r>
          </a:p>
          <a:p>
            <a:pPr algn="ctr"/>
            <a:r>
              <a:rPr sz="1400" b="1">
                <a:solidFill>
                  <a:srgbClr val="F4A261"/>
                </a:solidFill>
                <a:latin typeface="AppleGothic"/>
                <a:ea typeface="AppleGothic"/>
              </a:rPr>
              <a:t>직선(identity)만 유지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6250" y="1428750"/>
            <a:ext cx="352425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6250" y="1428750"/>
            <a:ext cx="3524250" cy="666750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9125" y="1504950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Gothic"/>
                <a:ea typeface="AppleGothic"/>
              </a:rPr>
              <a:t>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9125" y="17907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Gothic"/>
                <a:ea typeface="AppleGothic"/>
              </a:rPr>
              <a:t>쓰지 않는다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0" y="2333625"/>
            <a:ext cx="314325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메커니즘이 다르거나</a:t>
            </a:r>
          </a:p>
          <a:p>
            <a:pPr algn="ctr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val에서 이미 실패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0" y="3429000"/>
            <a:ext cx="314325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44536"/>
                </a:solidFill>
                <a:latin typeface="AppleGothic"/>
                <a:ea typeface="AppleGothic"/>
              </a:rPr>
              <a:t>→ ABSTAIN</a:t>
            </a:r>
          </a:p>
          <a:p>
            <a:pPr algn="ctr"/>
            <a:r>
              <a:rPr sz="1400" b="1">
                <a:solidFill>
                  <a:srgbClr val="C44536"/>
                </a:solidFill>
                <a:latin typeface="AppleGothic"/>
                <a:ea typeface="AppleGothic"/>
              </a:rPr>
              <a:t>숫자를 내지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4953000"/>
            <a:ext cx="10477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사례: milling 재료 1→2 → Fail(정답 없이 거절).  ·  plain MICH → coverage만으로 Pass 하면 안 됨(관계 이동).</a:t>
            </a:r>
          </a:p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Sunwoda는 잘 나와도, 게이트를 엄하게 두면 Weak로 보수 운용 가능. 적합도 = 정확도 보증 아님.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비유로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발표 멘트용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524000"/>
            <a:ext cx="5334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6750" y="1524000"/>
            <a:ext cx="53340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50" y="1695450"/>
            <a:ext cx="5029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운전 비유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000250"/>
            <a:ext cx="5029200" cy="245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SAAR는 ‘고속도로용 차선 유지’ 장치.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비포장·반대차선이면 장치를 켜지 않고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멈추거나 천천히 간다.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적합도 검사 = 지금이 고속도로인지 확인.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500" y="1524000"/>
            <a:ext cx="523875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500" y="1524000"/>
            <a:ext cx="5238750" cy="66675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900" y="1695450"/>
            <a:ext cx="49339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논문에서 말할 문장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000250"/>
            <a:ext cx="4933950" cy="245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We do not claim accuracy before seeing labels.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We claim a test-label-free applicability check: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use SAAR only when the declared contract,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validation skill, and shift compatibility hold;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otherwise abstain.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4857750"/>
            <a:ext cx="10477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27D98"/>
                </a:solidFill>
                <a:latin typeface="AppleGothic"/>
                <a:ea typeface="AppleGothic"/>
              </a:rPr>
              <a:t>연결: 게이트 on/off 실험은 이 허가증을 ‘항상 킴’ vs ‘검사 후 킴’으로 비교한 것.</a:t>
            </a:r>
          </a:p>
          <a:p>
            <a:pPr algn="l"/>
            <a:r>
              <a:rPr sz="1300" b="1">
                <a:solidFill>
                  <a:srgbClr val="627D98"/>
                </a:solidFill>
                <a:latin typeface="AppleGothic"/>
                <a:ea typeface="AppleGothic"/>
              </a:rPr>
              <a:t>원문: APPLICABILITY_NOVELTY_LIMITS_KO.md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Ablation 수치 (matched)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Sunwoda / RWTH / MICH ensemble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147637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500" y="147637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Sunwoda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0" y="147637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RWTH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1476375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MICH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1781175"/>
            <a:ext cx="10668000" cy="4572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18573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Direct NN (구조 없음)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0" y="18573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−1.35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0" y="18573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0" y="18573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0.68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2276475"/>
            <a:ext cx="10668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500" y="23526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Affine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23526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0" y="23526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23526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−3.34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2771775"/>
            <a:ext cx="10668000" cy="4572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500" y="28479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Trainable hard-boundary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0500" y="28479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0" y="28479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0" y="28479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0.32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3267075"/>
            <a:ext cx="10668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500" y="33432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Frozen + unbounded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500" y="33432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0" y="33432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0" y="33432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2000" y="3762375"/>
            <a:ext cx="10668000" cy="4572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500" y="38385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BQ bounded (고정)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0500" y="38385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0.94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1250" y="38385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0.88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0" y="38385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0.47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2000" y="4257675"/>
            <a:ext cx="10668000" cy="4572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500" y="43338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최종 dual-scale SAAR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0500" y="43338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0.93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1250" y="43338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0.84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0" y="4333875"/>
            <a:ext cx="2095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0.75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250" y="5048250"/>
            <a:ext cx="10477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고정 bound는 MICH에서 unbounded보다 낮음(−0.29) → dual-scale이 worst-domain을 회복.</a:t>
            </a:r>
          </a:p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원문: FINAL_PP_COMPONENT_ABLATION_RESULTS_KO.md · UNIFIED_SUPPORT_GATED_PP_RESULTS_KO.md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MICH를 배터리 하나씩 보면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전체 점수만 보지 않고, 유닛마다도 양의 성능을 확인</a:t>
            </a:r>
          </a:p>
        </p:txBody>
      </p:sp>
      <p:pic>
        <p:nvPicPr>
          <p:cNvPr id="8" name="Picture 7" descr="mich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381125"/>
            <a:ext cx="8572500" cy="40005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34500" y="1905000"/>
            <a:ext cx="219075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34500" y="1905000"/>
            <a:ext cx="219075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86900" y="2076450"/>
            <a:ext cx="18859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6900" y="2381250"/>
            <a:ext cx="188595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8개 전부 양수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가장 어려웠던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unit 31도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음수에서 회복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관계가 바뀐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대표 사례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다른 방법과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잘 된 8곳 · 알고리즘별 R² (TabPFN 전체 반영)</a:t>
            </a:r>
          </a:p>
        </p:txBody>
      </p:sp>
      <p:pic>
        <p:nvPicPr>
          <p:cNvPr id="8" name="Picture 7" descr="competito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38250"/>
            <a:ext cx="1143000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286375"/>
            <a:ext cx="1047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TabPFN 8곳 모두 반영. Sunwoda·RWTH는 음수, NCMAPSS는 PP와 동률권(0.934). train 상한·일부 단일 seed 보조 비교.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주요 알고리즘 막대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PP / V-REx / GroupDRO / LinRBF / Engression / TabPFN</a:t>
            </a:r>
          </a:p>
        </p:txBody>
      </p:sp>
      <p:pic>
        <p:nvPicPr>
          <p:cNvPr id="8" name="Picture 7" descr="competitor_algo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33500"/>
            <a:ext cx="1143000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476875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원문: ALL_DATASET_EXTRAPOLATION_COMPETITORS · FAIR_PFN_COMPARISON · TABPFN_EXTERNAL_BATTERIES_RESULTS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PP와 TabPFN 직접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동일 고정 test 기준 · TabPFN은 보조 조건(행 상한 등)</a:t>
            </a:r>
          </a:p>
        </p:txBody>
      </p:sp>
      <p:pic>
        <p:nvPicPr>
          <p:cNvPr id="8" name="Picture 7" descr="pp_vs_tabpf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33500"/>
            <a:ext cx="1143000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429250"/>
            <a:ext cx="10477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29"/>
                </a:solidFill>
                <a:latin typeface="AppleGothic"/>
                <a:ea typeface="AppleGothic"/>
              </a:rPr>
              <a:t>MATRb2에서는 TabPFN(0.618)이 기본 PP보다 높을 수 있어, 이 분할만으로 PP 우위를 주장하지 않는다.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어디서 되고, 어디서 안 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성공과 실패를 한 지도에 같이 둔다</a:t>
            </a:r>
          </a:p>
        </p:txBody>
      </p:sp>
      <p:pic>
        <p:nvPicPr>
          <p:cNvPr id="8" name="Picture 7" descr="experimen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33500"/>
            <a:ext cx="7810500" cy="40957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72500" y="1619250"/>
            <a:ext cx="2952750" cy="1238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500" y="1619250"/>
            <a:ext cx="295275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900" y="1790700"/>
            <a:ext cx="26479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잘 되는 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4900" y="2095500"/>
            <a:ext cx="264795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연속 열화·경계 prior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검증≈테스트 방향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SAAR 3배터리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500" y="3048000"/>
            <a:ext cx="2952750" cy="1238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72500" y="3048000"/>
            <a:ext cx="295275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4900" y="3219450"/>
            <a:ext cx="26479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조심할 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4900" y="3524250"/>
            <a:ext cx="264795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Zn 장수명·교차조건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개발 점수는 있으나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확증·공정대조 남음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500" y="4476750"/>
            <a:ext cx="29527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2500" y="4476750"/>
            <a:ext cx="2952750" cy="66675"/>
          </a:xfrm>
          <a:prstGeom prst="roundRect">
            <a:avLst>
              <a:gd name="adj" fmla="val 8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4900" y="4648200"/>
            <a:ext cx="26479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아직 안 되는 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4900" y="4953000"/>
            <a:ext cx="26479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FEMTO 현 설계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정보 한계(Z 미관측)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→ 거절·재설계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통계로 본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일부 긴 시계열만 좋아진 것이 아님</a:t>
            </a:r>
          </a:p>
        </p:txBody>
      </p:sp>
      <p:pic>
        <p:nvPicPr>
          <p:cNvPr id="8" name="Picture 7" descr="bootstrap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28750"/>
            <a:ext cx="8572500" cy="381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34500" y="1905000"/>
            <a:ext cx="219075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34500" y="1905000"/>
            <a:ext cx="219075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86900" y="2076450"/>
            <a:ext cx="18859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읽는 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6900" y="2381250"/>
            <a:ext cx="188595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세 데이터 모두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신뢰구간이 0 아래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초기화 5번 모두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같은 방향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다만 도메인 수는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아직 적음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어디까지 말해도 될까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과장하지 않고, 솔직하게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9050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1905000"/>
            <a:ext cx="34290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6450"/>
            <a:ext cx="3124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꽤 확실한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1250"/>
            <a:ext cx="31242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SAAR로 3배터리 최저점 회복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잘 된 cohort에서 경쟁 우위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경계 위반 0건(해당 설정)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PAE와 결과 표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6750" y="19050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76750" y="1905000"/>
            <a:ext cx="342900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9150" y="2076450"/>
            <a:ext cx="3124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조심할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2381250"/>
            <a:ext cx="31242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핵심 표는 개발 결과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Zn 0.9대·XJTU 0.26은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사후/소표본 성격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refit·정보량 맞춰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500" y="19050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1500" y="1905000"/>
            <a:ext cx="3429000" cy="66675"/>
          </a:xfrm>
          <a:prstGeom prst="roundRect">
            <a:avLst>
              <a:gd name="adj" fmla="val 8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076450"/>
            <a:ext cx="3124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아직 약한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2381250"/>
            <a:ext cx="31242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보편 pre-gate 실패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FEMTO 미성숙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통합 executor 미검증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ICML급 증거는 부족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5048250"/>
            <a:ext cx="1047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말할 때: ‘어디서나 1등’이 아니라 ‘연속 열화·경계 prior가 맞고 검증이 비슷할 때 SAAR가 안전장치로 작동한다’.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논문으로 어디를 노리나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지금 증거 강도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714500"/>
            <a:ext cx="352425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1714500"/>
            <a:ext cx="352425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85950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현실 본선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0750"/>
            <a:ext cx="321945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RESS · MSSP ·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IEEE Reliability/TII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분야 Q1–Q2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외삽·RUL 스토리 적합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6750" y="1714500"/>
            <a:ext cx="352425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76750" y="1714500"/>
            <a:ext cx="3524250" cy="66675"/>
          </a:xfrm>
          <a:prstGeom prst="roundRect">
            <a:avLst>
              <a:gd name="adj" fmla="val 8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9150" y="1885950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도전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2190750"/>
            <a:ext cx="321945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Applied Energy 등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배터리 특화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청구항을 Li 연속열화로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좁힐 때만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500" y="1714500"/>
            <a:ext cx="352425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1500" y="1714500"/>
            <a:ext cx="3524250" cy="66675"/>
          </a:xfrm>
          <a:prstGeom prst="roundRect">
            <a:avLst>
              <a:gd name="adj" fmla="val 8000"/>
            </a:avLst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1885950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아직 이름만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2190750"/>
            <a:ext cx="321945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ICML / NeurIPS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Nature 계열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새 학습 원리·대규모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확증이 더 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762500"/>
            <a:ext cx="10477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전략  ·  PP 1편은 SAAR+3배터리(+정직한 한계). Zn·베어링은 같은 편의 주 claim에 넣지 않거나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개발/한계 절로만. ‘세계 탑’과 ‘분야 상위(Q1)’는 다른 줄.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지금 / 다음 / 박사과정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식 유무로 나눈 두 독립 논문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762125"/>
            <a:ext cx="1714500" cy="8572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125" y="2047875"/>
            <a:ext cx="142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0" y="1933575"/>
            <a:ext cx="3810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pleGothic"/>
                <a:ea typeface="AppleGothic"/>
              </a:rPr>
              <a:t>equation-free</a:t>
            </a:r>
          </a:p>
          <a:p>
            <a:pPr algn="l"/>
            <a:r>
              <a:rPr sz="1700" b="1">
                <a:solidFill>
                  <a:srgbClr val="102A43"/>
                </a:solidFill>
                <a:latin typeface="AppleGothic"/>
                <a:ea typeface="AppleGothic"/>
              </a:rPr>
              <a:t>외삽 안전장치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933575"/>
            <a:ext cx="43815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27D98"/>
                </a:solidFill>
                <a:latin typeface="AppleGothic"/>
                <a:ea typeface="AppleGothic"/>
              </a:rPr>
              <a:t>계약 → 고정 rule로 weak bundle</a:t>
            </a:r>
          </a:p>
          <a:p>
            <a:pPr algn="l"/>
            <a:r>
              <a:rPr sz="1400" b="0">
                <a:solidFill>
                  <a:srgbClr val="627D98"/>
                </a:solidFill>
                <a:latin typeface="AppleGothic"/>
                <a:ea typeface="AppleGothic"/>
              </a:rPr>
              <a:t>기계적 활성화 · 수축·거절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2857500"/>
            <a:ext cx="1714500" cy="85725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3143250"/>
            <a:ext cx="142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PAE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500" y="3028950"/>
            <a:ext cx="3810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pleGothic"/>
                <a:ea typeface="AppleGothic"/>
              </a:rPr>
              <a:t>식 뼈대 +</a:t>
            </a:r>
          </a:p>
          <a:p>
            <a:pPr algn="l"/>
            <a:r>
              <a:rPr sz="1700" b="1">
                <a:solidFill>
                  <a:srgbClr val="102A43"/>
                </a:solidFill>
                <a:latin typeface="AppleGothic"/>
                <a:ea typeface="AppleGothic"/>
              </a:rPr>
              <a:t>NN 부족분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028950"/>
            <a:ext cx="43815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27D98"/>
                </a:solidFill>
                <a:latin typeface="AppleGothic"/>
                <a:ea typeface="AppleGothic"/>
              </a:rPr>
              <a:t>후보식 검증 → 제한 보정 학습</a:t>
            </a:r>
          </a:p>
          <a:p>
            <a:pPr algn="l"/>
            <a:r>
              <a:rPr sz="1400" b="0">
                <a:solidFill>
                  <a:srgbClr val="627D98"/>
                </a:solidFill>
                <a:latin typeface="AppleGothic"/>
                <a:ea typeface="AppleGothic"/>
              </a:rPr>
              <a:t>이득 없으면 끔 · PP/거절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50" y="3952875"/>
            <a:ext cx="1714500" cy="857250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4238625"/>
            <a:ext cx="142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Gothic"/>
                <a:ea typeface="AppleGothic"/>
              </a:rPr>
              <a:t>박사논문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7500" y="4124325"/>
            <a:ext cx="3810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pleGothic"/>
                <a:ea typeface="AppleGothic"/>
              </a:rPr>
              <a:t>식 있음→PAE</a:t>
            </a:r>
          </a:p>
          <a:p>
            <a:pPr algn="l"/>
            <a:r>
              <a:rPr sz="1700" b="1">
                <a:solidFill>
                  <a:srgbClr val="102A43"/>
                </a:solidFill>
                <a:latin typeface="AppleGothic"/>
                <a:ea typeface="AppleGothic"/>
              </a:rPr>
              <a:t>없음→PP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124325"/>
            <a:ext cx="43815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27D98"/>
                </a:solidFill>
                <a:latin typeface="AppleGothic"/>
                <a:ea typeface="AppleGothic"/>
              </a:rPr>
              <a:t>교차 도메인 · 선택적 위험 ·</a:t>
            </a:r>
          </a:p>
          <a:p>
            <a:pPr algn="l"/>
            <a:r>
              <a:rPr sz="1400" b="0">
                <a:solidFill>
                  <a:srgbClr val="627D98"/>
                </a:solidFill>
                <a:latin typeface="AppleGothic"/>
                <a:ea typeface="AppleGothic"/>
              </a:rPr>
              <a:t>미개봉 cohort 확증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50" y="5191125"/>
            <a:ext cx="10477500" cy="523875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8B0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7750" y="5334000"/>
            <a:ext cx="10096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29"/>
                </a:solidFill>
                <a:latin typeface="AppleGothic"/>
                <a:ea typeface="AppleGothic"/>
              </a:rPr>
              <a:t>지금: PP(SAAR)  |  Zn·교차는 한계/확장  |  다음: PAE  |  prior-free라고 쓰지 말 것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PAE 안에서 식과 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식이 있어도 부족분은 신경망이 제한적으로 메운다</a:t>
            </a:r>
          </a:p>
        </p:txBody>
      </p:sp>
      <p:pic>
        <p:nvPicPr>
          <p:cNvPr id="8" name="Picture 7" descr="pae_equation_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33500"/>
            <a:ext cx="11430000" cy="381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286375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29"/>
                </a:solidFill>
                <a:latin typeface="AppleGothic"/>
                <a:ea typeface="AppleGothic"/>
              </a:rPr>
              <a:t>식 = 방향·경계·관계의 뼈대  ·  NN = 미지 파라미터·잔차·노이즈  ·  식을 덮어쓰지 않게 보정 제한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한 장 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입력이 다르면 연구도 갈린다</a:t>
            </a:r>
          </a:p>
        </p:txBody>
      </p:sp>
      <p:pic>
        <p:nvPicPr>
          <p:cNvPr id="8" name="Picture 7" descr="pp_vs_pa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81125"/>
            <a:ext cx="1143000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476875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27D98"/>
                </a:solidFill>
                <a:latin typeface="AppleGothic"/>
                <a:ea typeface="AppleGothic"/>
              </a:rPr>
              <a:t>명칭  ·  PAE: equation prior + bounded NN   ·   PP: equation-free extrapolation safeguard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한 장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오늘 가져갈 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619250"/>
            <a:ext cx="1524000" cy="5715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125" y="1771650"/>
            <a:ext cx="1238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000" y="1752600"/>
            <a:ext cx="857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학습 밖에서는 가정이 필요하다. 식만 넣으면 답이 아니다.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2428875"/>
            <a:ext cx="1524000" cy="5715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125" y="2581275"/>
            <a:ext cx="1238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7000" y="2562225"/>
            <a:ext cx="857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주모델 SAAR: equation-free 외삽 안전장치 (prior-free 아님).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238500"/>
            <a:ext cx="1524000" cy="571500"/>
          </a:xfrm>
          <a:prstGeom prst="roundRect">
            <a:avLst>
              <a:gd name="adj" fmla="val 8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125" y="3390900"/>
            <a:ext cx="1238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증거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0" y="3371850"/>
            <a:ext cx="857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3배터리 개발 표가 본선. Zn·XJTU 숫자는 개발/한계로 분리.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50" y="4048125"/>
            <a:ext cx="1524000" cy="571500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125" y="4200525"/>
            <a:ext cx="1238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PAE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7000" y="4181475"/>
            <a:ext cx="857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결과 표와 안 겹침. 식 컴파일·라우팅은 후속.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50" y="4857750"/>
            <a:ext cx="1524000" cy="571500"/>
          </a:xfrm>
          <a:prstGeom prst="roundRect">
            <a:avLst>
              <a:gd name="adj" fmla="val 8000"/>
            </a:avLst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5010150"/>
            <a:ext cx="1238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다음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7000" y="4991100"/>
            <a:ext cx="857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scale-aware / boundary-consistent quotient · 미개봉 cohort.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952500"/>
            <a:ext cx="809625" cy="5715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8250"/>
            <a:ext cx="571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02A43"/>
                </a:solidFill>
                <a:latin typeface="AppleGothic"/>
                <a:ea typeface="AppleGothic"/>
              </a:rPr>
              <a:t>같이 정할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905000"/>
            <a:ext cx="476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0029"/>
                </a:solidFill>
                <a:latin typeface="AppleGothic"/>
                <a:ea typeface="AppleGothic"/>
              </a:rPr>
              <a:t>발표·논문 다듬을 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4765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533650"/>
            <a:ext cx="171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Gothic"/>
                <a:ea typeface="Apple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514600"/>
            <a:ext cx="9525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주표를 SAAR 3배터리만 둘지, Zn 개발 숫자를 한계 절로만 둘지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31432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200400"/>
            <a:ext cx="171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Gothic"/>
                <a:ea typeface="Apple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3181350"/>
            <a:ext cx="9525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XJTU 0.257·FEMTO 실패를 본문 한계로 둘지 Appendix로 뺄지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8100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867150"/>
            <a:ext cx="171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Gothic"/>
                <a:ea typeface="Apple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3848100"/>
            <a:ext cx="9525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투고 본선을 RESS/MSSP로 고정할지, 배터리 특화로 좁힐지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44767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533900"/>
            <a:ext cx="171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Gothic"/>
                <a:ea typeface="Apple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4514850"/>
            <a:ext cx="9525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미개봉 cohort·공정 refit MLP 대조를 언제 동결할지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524500"/>
            <a:ext cx="857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자료: pp-extrapolation · SAAR_NAMING · PP_INFORMATION_LIMITS · 외삽 문헌조사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2095500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AppleGothic"/>
                <a:ea typeface="AppleGothic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667000"/>
            <a:ext cx="10477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pleGothic"/>
                <a:ea typeface="AppleGothic"/>
              </a:rPr>
              <a:t>공부용 상세 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714750"/>
            <a:ext cx="952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D4E3"/>
                </a:solidFill>
                <a:latin typeface="AppleGothic"/>
                <a:ea typeface="AppleGothic"/>
              </a:rPr>
              <a:t>논문처럼 문제·방법·결과·한계를 정리하고</a:t>
            </a:r>
          </a:p>
          <a:p>
            <a:pPr algn="l"/>
            <a:r>
              <a:rPr sz="2000" b="0">
                <a:solidFill>
                  <a:srgbClr val="C8D4E3"/>
                </a:solidFill>
                <a:latin typeface="AppleGothic"/>
                <a:ea typeface="AppleGothic"/>
              </a:rPr>
              <a:t>원문 파일 경로까지 연결한다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953000"/>
            <a:ext cx="857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A261"/>
                </a:solidFill>
                <a:latin typeface="AppleGothic"/>
                <a:ea typeface="AppleGothic"/>
              </a:rPr>
              <a:t>본문(01–19)은 발표용 · 여기서부터는 복습·원고용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자료 지도 — 어디까지 연결되나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발표 → 실험 원문 → 문헌조사까지 한줄로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619250"/>
            <a:ext cx="2095500" cy="666750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125" y="1809750"/>
            <a:ext cx="1809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발표 본문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0" y="1714500"/>
            <a:ext cx="4953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ppt/pp/PP_Research_Detailed_v2.pptx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1790700"/>
            <a:ext cx="304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스토리·그래프·한 줄 메시지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2476500"/>
            <a:ext cx="2095500" cy="666750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667000"/>
            <a:ext cx="1809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실험 저장소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8500" y="2571750"/>
            <a:ext cx="4953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pp-extrapolation/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2647950"/>
            <a:ext cx="304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프로토콜·결과 md·코드·json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50" y="3333750"/>
            <a:ext cx="2095500" cy="666750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524250"/>
            <a:ext cx="1809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문헌 공부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8500" y="3429000"/>
            <a:ext cx="4953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ppt/외삽자료/ (literec_study)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505200"/>
            <a:ext cx="304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50분 발표·통합 ppt·paper_pdfs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50" y="4191000"/>
            <a:ext cx="2095500" cy="666750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81500"/>
            <a:ext cx="1809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프레임 초안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8500" y="4286250"/>
            <a:ext cx="4953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pp_pae_total/ · v7 ppt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4362450"/>
            <a:ext cx="304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PP–PAE 큰 그림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5334000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AppleGothic"/>
                <a:ea typeface="AppleGothic"/>
              </a:rPr>
              <a:t>공부 순서 추천: 외삽 문헌조사 통합 ppt → 본문 A~D → 아래 부록 표 → 해당 md 원문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논문식 요약 (Abstract 초안)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PP가 말하는 한 단락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524000"/>
            <a:ext cx="10477500" cy="40005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762125"/>
            <a:ext cx="9906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남은수명(RUL) 예측기는 학습 구간 안에서는 잘 맞아도, 관측된 열화 범위 밖에서는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행동이 통제되지 않는 경우가 많다. 본 연구(SAAR)는 안정적인 기본 경향(고정 affine)과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support-aware dual-scale residual을 분리해 equation-free 외삽 안전장치로 둔다.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경계가 관측되면 Boundary-Quotient로 고장점 RUL=0을 강제한다. 주 개발 표는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Sunwoda·RWTH·MICH이며, Zn-ion·베어링 확장은 한계·개발 결과로 분리 보고한다.</a:t>
            </a:r>
          </a:p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PAE(식 컴파일)와는 결과 표를 공유하지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334000"/>
            <a:ext cx="990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원문: PP_FIRST_PUBLICATION_CLAIMS_KO · UNIFIED_DUAL_SCALE · PP_INFORMATION_LIMITS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문제 정의 (Methods)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무엇을 외삽이라고 부르는가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666875"/>
            <a:ext cx="2667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6750" y="1666875"/>
            <a:ext cx="266700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50" y="1838325"/>
            <a:ext cx="2362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1. 개체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143125"/>
            <a:ext cx="23622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같은 배터리·시편이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학습과 테스트에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동시에 들어가지 않음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6625" y="1666875"/>
            <a:ext cx="2667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6625" y="1666875"/>
            <a:ext cx="26670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9025" y="1838325"/>
            <a:ext cx="2362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2. 범위 밖만 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2143125"/>
            <a:ext cx="23622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학습이 본 열화 좌표의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바깥(끝단)만 테스트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안쪽은 점수에 안 넣음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500" y="1666875"/>
            <a:ext cx="2667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6500" y="1666875"/>
            <a:ext cx="2667000" cy="66675"/>
          </a:xfrm>
          <a:prstGeom prst="roundRect">
            <a:avLst>
              <a:gd name="adj" fmla="val 8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8900" y="1838325"/>
            <a:ext cx="2362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3. 정답 미사용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2143125"/>
            <a:ext cx="23622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설정·보정은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검증 구간만으로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테스트 정답은 안 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6375" y="1666875"/>
            <a:ext cx="2667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6375" y="1666875"/>
            <a:ext cx="2667000" cy="66675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8775" y="1838325"/>
            <a:ext cx="2362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4. 보고 지표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2143125"/>
            <a:ext cx="23622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주: 전체 설명력 R²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보조: 유닛별·재학습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경계 위반 횟수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4762500"/>
            <a:ext cx="104775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원문: MODEL_AND_SPLIT_KO.md · ADDITIONAL_REAL_DATASETS_PROTOCOL.md · DISTANCE_SHELL_PROTOCOL.md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5286375"/>
            <a:ext cx="10477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pleGothic"/>
                <a:ea typeface="AppleGothic"/>
              </a:rPr>
              <a:t>핵심: 일반 ‘미래 예측’과 다르게, 처음 보는 개체의 학습 밖 구간만 본다.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데이터셋 한눈에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도메인 · 무엇을 추론하나 · 외삽 타입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1381125"/>
            <a:ext cx="1333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3A5F"/>
                </a:solidFill>
                <a:latin typeface="AppleGothic"/>
                <a:ea typeface="AppleGothic"/>
              </a:rPr>
              <a:t>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500" y="1381125"/>
            <a:ext cx="1428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3A5F"/>
                </a:solidFill>
                <a:latin typeface="AppleGothic"/>
                <a:ea typeface="AppleGothic"/>
              </a:rPr>
              <a:t>도메인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1381125"/>
            <a:ext cx="1238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3A5F"/>
                </a:solidFill>
                <a:latin typeface="AppleGothic"/>
                <a:ea typeface="AppleGothic"/>
              </a:rPr>
              <a:t>추론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1381125"/>
            <a:ext cx="3429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3A5F"/>
                </a:solidFill>
                <a:latin typeface="AppleGothic"/>
                <a:ea typeface="AppleGothic"/>
              </a:rPr>
              <a:t>스플릿·외삽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0" y="1381125"/>
            <a:ext cx="266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3A5F"/>
                </a:solidFill>
                <a:latin typeface="AppleGothic"/>
                <a:ea typeface="AppleGothic"/>
              </a:rPr>
              <a:t>결과 요지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1609725"/>
            <a:ext cx="11049000" cy="4191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750" y="1666875"/>
            <a:ext cx="1333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AppleGothic"/>
                <a:ea typeface="AppleGothic"/>
              </a:rPr>
              <a:t>HUST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5500" y="1666875"/>
            <a:ext cx="1428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배터리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1666875"/>
            <a:ext cx="12382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RUL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3000" y="166687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안 본 프로토콜의</a:t>
            </a:r>
          </a:p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깊은 미래/끝단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0" y="166687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9D8F"/>
                </a:solidFill>
                <a:latin typeface="AppleGothic"/>
                <a:ea typeface="AppleGothic"/>
              </a:rPr>
              <a:t>잘 됨 · 0.96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2066925"/>
            <a:ext cx="11049000" cy="419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750" y="2124075"/>
            <a:ext cx="1333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AppleGothic"/>
                <a:ea typeface="AppleGothic"/>
              </a:rPr>
              <a:t>Virkler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5500" y="2124075"/>
            <a:ext cx="1428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균열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9500" y="2124075"/>
            <a:ext cx="12382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잔여 수명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3000" y="212407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안 본 시편의</a:t>
            </a:r>
          </a:p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균열 성장 끝단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0" y="212407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9D8F"/>
                </a:solidFill>
                <a:latin typeface="AppleGothic"/>
                <a:ea typeface="AppleGothic"/>
              </a:rPr>
              <a:t>잘 됨 · 0.89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2524125"/>
            <a:ext cx="11049000" cy="4191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750" y="2581275"/>
            <a:ext cx="1333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AppleGothic"/>
                <a:ea typeface="AppleGothic"/>
              </a:rPr>
              <a:t>NASA bat.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95500" y="2581275"/>
            <a:ext cx="1428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배터리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9500" y="2581275"/>
            <a:ext cx="12382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RUL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3000" y="258127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건강도 끝단</a:t>
            </a:r>
          </a:p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(LOBO 집계)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0" y="258127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9D8F"/>
                </a:solidFill>
                <a:latin typeface="AppleGothic"/>
                <a:ea typeface="AppleGothic"/>
              </a:rPr>
              <a:t>잘 됨 · 0.58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2981325"/>
            <a:ext cx="11049000" cy="419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" y="3038475"/>
            <a:ext cx="1333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AppleGothic"/>
                <a:ea typeface="AppleGothic"/>
              </a:rPr>
              <a:t>Sunwoda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95500" y="3038475"/>
            <a:ext cx="1428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배터리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9500" y="3038475"/>
            <a:ext cx="12382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RUL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3000" y="303847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안 본 셀</a:t>
            </a:r>
          </a:p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늦은 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0" y="303847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9D8F"/>
                </a:solidFill>
                <a:latin typeface="AppleGothic"/>
                <a:ea typeface="AppleGothic"/>
              </a:rPr>
              <a:t>잘 됨 · 0.87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500" y="3438525"/>
            <a:ext cx="11049000" cy="4191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750" y="3495675"/>
            <a:ext cx="1333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AppleGothic"/>
                <a:ea typeface="AppleGothic"/>
              </a:rPr>
              <a:t>RWTH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95500" y="3495675"/>
            <a:ext cx="1428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배터리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9500" y="3495675"/>
            <a:ext cx="12382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RUL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3000" y="349567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안 본 셀</a:t>
            </a:r>
          </a:p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늦은 health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2500" y="349567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9D8F"/>
                </a:solidFill>
                <a:latin typeface="AppleGothic"/>
                <a:ea typeface="AppleGothic"/>
              </a:rPr>
              <a:t>잘 됨 · 0.74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500" y="3895725"/>
            <a:ext cx="11049000" cy="419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6750" y="3952875"/>
            <a:ext cx="1333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AppleGothic"/>
                <a:ea typeface="AppleGothic"/>
              </a:rPr>
              <a:t>MICH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95500" y="3952875"/>
            <a:ext cx="1428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배터리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9500" y="3952875"/>
            <a:ext cx="12382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RUL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3000" y="395287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안 본 셀</a:t>
            </a:r>
          </a:p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새 regime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2500" y="395287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9D8F"/>
                </a:solidFill>
                <a:latin typeface="AppleGothic"/>
                <a:ea typeface="AppleGothic"/>
              </a:rPr>
              <a:t>통합 후 0.75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1500" y="4352925"/>
            <a:ext cx="11049000" cy="4191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6750" y="4410075"/>
            <a:ext cx="1333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AppleGothic"/>
                <a:ea typeface="AppleGothic"/>
              </a:rPr>
              <a:t>MATR19/b2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95500" y="4410075"/>
            <a:ext cx="1428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배터리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9500" y="4410075"/>
            <a:ext cx="12382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RUL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3000" y="441007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안 본 셀</a:t>
            </a:r>
          </a:p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먼/가까운 꼬리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2500" y="441007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9D8F"/>
                </a:solidFill>
                <a:latin typeface="AppleGothic"/>
                <a:ea typeface="AppleGothic"/>
              </a:rPr>
              <a:t>보정 후 양수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71500" y="4810125"/>
            <a:ext cx="11049000" cy="419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6750" y="4867275"/>
            <a:ext cx="1333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2A43"/>
                </a:solidFill>
                <a:latin typeface="AppleGothic"/>
                <a:ea typeface="AppleGothic"/>
              </a:rPr>
              <a:t>N-CMAPSS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95500" y="4867275"/>
            <a:ext cx="1428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엔진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19500" y="4867275"/>
            <a:ext cx="12382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RUL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53000" y="4867275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안 본 엔진</a:t>
            </a:r>
          </a:p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× 고부하 × 만기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72500" y="4867275"/>
            <a:ext cx="266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9D8F"/>
                </a:solidFill>
                <a:latin typeface="AppleGothic"/>
                <a:ea typeface="AppleGothic"/>
              </a:rPr>
              <a:t>잘 됨 · 0.94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7250" y="5476875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29"/>
                </a:solidFill>
                <a:latin typeface="AppleGothic"/>
                <a:ea typeface="AppleGothic"/>
              </a:rPr>
              <a:t>실패 축(별도): XJTU · FEMTO · NASA milling — 아래 ‘언제 되나’ 슬라이드 참고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각 데이터셋이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출처·측정·왜 RUL 문제인가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476375"/>
            <a:ext cx="2714625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1476375"/>
            <a:ext cx="2714625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050" y="1552575"/>
            <a:ext cx="2476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HUST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2000250"/>
            <a:ext cx="2476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리튬배터리 수명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서로 다른 충전 프로토콜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용량 궤적 → 남은 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4250" y="1476375"/>
            <a:ext cx="2714625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4250" y="1476375"/>
            <a:ext cx="2714625" cy="381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8550" y="1552575"/>
            <a:ext cx="2476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Virkler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2000250"/>
            <a:ext cx="2476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금속 피로 균열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시편별 균열 성장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임계 길이까지 잔여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1750" y="1476375"/>
            <a:ext cx="2714625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1750" y="1476375"/>
            <a:ext cx="2714625" cy="381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6050" y="1552575"/>
            <a:ext cx="2476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NASA bat.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6050" y="2000250"/>
            <a:ext cx="2476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공개 배터리 aging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셀별 용량 fade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건강도 끝단 RUL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9250" y="1476375"/>
            <a:ext cx="2714625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9250" y="1476375"/>
            <a:ext cx="2714625" cy="3810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3550" y="1552575"/>
            <a:ext cx="2476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Sunwoda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3550" y="2000250"/>
            <a:ext cx="2476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상용 셀 cohort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early/late health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안 본 셀 늦은 구간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50" y="3667125"/>
            <a:ext cx="2714625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6750" y="3667125"/>
            <a:ext cx="2714625" cy="3810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050" y="3743325"/>
            <a:ext cx="2476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RWTH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4191000"/>
            <a:ext cx="2476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실험실 배터리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온도·조건 다양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안 본 셀 끝단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4250" y="3667125"/>
            <a:ext cx="2714625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4250" y="3667125"/>
            <a:ext cx="2714625" cy="3810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8550" y="3743325"/>
            <a:ext cx="2476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MICH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8550" y="4191000"/>
            <a:ext cx="2476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배터리 새 regime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관계 이동이 큼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통합 SAAR 회복 사례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1750" y="3667125"/>
            <a:ext cx="2714625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81750" y="3667125"/>
            <a:ext cx="2714625" cy="381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6050" y="3743325"/>
            <a:ext cx="2476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MATR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6050" y="4191000"/>
            <a:ext cx="2476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대규모 셀 데이터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batch/연도 분할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먼·가까운 health 꼬리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9250" y="3667125"/>
            <a:ext cx="2714625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9250" y="3667125"/>
            <a:ext cx="2714625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3550" y="3743325"/>
            <a:ext cx="2476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Gothic"/>
                <a:ea typeface="AppleGothic"/>
              </a:rPr>
              <a:t>N-CMAPSS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3550" y="4191000"/>
            <a:ext cx="2476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항공기 엔진 시뮬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부하·수명 교차</a:t>
            </a:r>
          </a:p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안 본 엔진×고부하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데이터마다 어떻게 쪼갰나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공통 규칙 + 데이터별 외삽 좌표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428750"/>
            <a:ext cx="27146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1428750"/>
            <a:ext cx="76200" cy="2095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1543050"/>
            <a:ext cx="2381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HUST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1905000"/>
            <a:ext cx="238125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Train: 본 프로토콜 unit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Test: 안 본 프로토콜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좌표: 깊은 미래 health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hull-out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4250" y="1428750"/>
            <a:ext cx="27146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4250" y="1428750"/>
            <a:ext cx="76200" cy="2095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4750" y="1543050"/>
            <a:ext cx="2381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Virkler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1905000"/>
            <a:ext cx="238125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Train/Test: 시편 분리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좌표: 균열 길이 끝단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성장 방향 유지 구간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1750" y="1428750"/>
            <a:ext cx="27146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1750" y="1428750"/>
            <a:ext cx="76200" cy="20955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0" y="1543050"/>
            <a:ext cx="2381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NASA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1905000"/>
            <a:ext cx="238125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Leave-one-battery-out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좌표: 용량/health 끝단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fold 예측 후 pooled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9250" y="1428750"/>
            <a:ext cx="27146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9250" y="1428750"/>
            <a:ext cx="76200" cy="20955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9750" y="1543050"/>
            <a:ext cx="2381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Sunwoda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9750" y="1905000"/>
            <a:ext cx="238125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Early-life unit → train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Late-health 안 본 셀 → test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좌표: health (멀~4.4SD)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50" y="3667125"/>
            <a:ext cx="27146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6750" y="3667125"/>
            <a:ext cx="76200" cy="2095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250" y="3781425"/>
            <a:ext cx="2381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RWTH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50" y="4143375"/>
            <a:ext cx="238125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Unit 분리 + late health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val은 pseudo-tail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좌표: health (~2.9SD)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4250" y="3667125"/>
            <a:ext cx="27146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4250" y="3667125"/>
            <a:ext cx="76200" cy="20955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14750" y="3781425"/>
            <a:ext cx="2381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MICH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4750" y="4143375"/>
            <a:ext cx="238125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Unit 분리 + late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margin 변동이 train 밖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관계 이동 스트레스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1750" y="3667125"/>
            <a:ext cx="27146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81750" y="3667125"/>
            <a:ext cx="76200" cy="2095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72250" y="3781425"/>
            <a:ext cx="2381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MATR19/b2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250" y="4143375"/>
            <a:ext cx="238125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Unseen cell tail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2019=먼 꼬리 / b2=가까움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출력 transport 검토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9250" y="3667125"/>
            <a:ext cx="2714625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9250" y="3667125"/>
            <a:ext cx="76200" cy="2095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29750" y="3781425"/>
            <a:ext cx="2381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N-CMAPSS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9750" y="4143375"/>
            <a:ext cx="238125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Unseen engine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× high TRA × late life</a:t>
            </a:r>
          </a:p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짧은 조건 hull 밖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어떻게 나누나 (공통 규칙)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데이터셋 이름이 아니라 계약·hull로 고정</a:t>
            </a:r>
          </a:p>
        </p:txBody>
      </p:sp>
      <p:pic>
        <p:nvPicPr>
          <p:cNvPr id="8" name="Picture 7" descr="datase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81125"/>
            <a:ext cx="11430000" cy="381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334000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원문: MODEL_AND_SPLIT_KO.md · ADDITIONAL_REAL_DATASETS_PROTOCOL.md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무엇을 추론하고, 언제 잘 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타깃 · 입력 · 성공/실패 지도</a:t>
            </a:r>
          </a:p>
        </p:txBody>
      </p:sp>
      <p:pic>
        <p:nvPicPr>
          <p:cNvPr id="8" name="Picture 7" descr="dataset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33500"/>
            <a:ext cx="11430000" cy="409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55245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0029"/>
                </a:solidFill>
                <a:latin typeface="AppleGothic"/>
                <a:ea typeface="AppleGothic"/>
              </a:rPr>
              <a:t>말할 때: ‘어디서나 1등’이 아니라 ‘경계·방향이 맞고 val/test 이동이 비슷할 때’.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잘 된 설정 — 스플릿·입력·해석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양의 8곳 (요약)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47637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1476375"/>
            <a:ext cx="352425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155257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Gothic"/>
                <a:ea typeface="AppleGothic"/>
              </a:rPr>
              <a:t>HUST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000250"/>
            <a:ext cx="323850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스플릿: 안 본 프로토콜 unit · hull-out 100% · 거리~1.6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524125"/>
            <a:ext cx="3238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추론: 용량·이력 → RUL (깊은 끝단)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000375"/>
            <a:ext cx="3238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왜: 경계·방향 안정 · PP 0.958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500" y="147637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1500" y="1476375"/>
            <a:ext cx="352425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850" y="155257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Gothic"/>
                <a:ea typeface="AppleGothic"/>
              </a:rPr>
              <a:t>Virkler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50" y="2000250"/>
            <a:ext cx="323850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스플릿: 안 본 시편 · 균열 끝단 · hull-out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4850" y="2524125"/>
            <a:ext cx="3238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추론: 균열 좌표·성장 → 잔여 수명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4850" y="3000375"/>
            <a:ext cx="3238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왜: 성장 방향과 맞을 때 · 0.888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6250" y="147637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6250" y="1476375"/>
            <a:ext cx="352425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5257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Gothic"/>
                <a:ea typeface="AppleGothic"/>
              </a:rPr>
              <a:t>NASA bat.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000250"/>
            <a:ext cx="323850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스플릿: 건강도 끝단 · LOBO 집계 · 거리~2.0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24125"/>
            <a:ext cx="3238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추론: 용량 궤적 → RUL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000375"/>
            <a:ext cx="3238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왜: 양수이나 격차 작음 · 0.584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50" y="366712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6750" y="3667125"/>
            <a:ext cx="3524250" cy="381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" y="374332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Gothic"/>
                <a:ea typeface="AppleGothic"/>
              </a:rPr>
              <a:t>Sunwoda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4191000"/>
            <a:ext cx="323850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스플릿: early unit → late-health cell · 거리~4.4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4714875"/>
            <a:ext cx="3238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추론: health/rate window → RUL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" y="5191125"/>
            <a:ext cx="3238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왜: 먼 꼬리에서도 양수 · 0.865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1500" y="366712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1500" y="3667125"/>
            <a:ext cx="3524250" cy="381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4850" y="374332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Gothic"/>
                <a:ea typeface="AppleGothic"/>
              </a:rPr>
              <a:t>RWTH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4850" y="4191000"/>
            <a:ext cx="323850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스플릿: unit 분리 + 늦은 health · 거리~2.9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4850" y="4714875"/>
            <a:ext cx="3238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추론: 동일 입력 계약 → RUL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4850" y="5191125"/>
            <a:ext cx="3238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왜: 통합·보정 후 · 0.743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6250" y="3667125"/>
            <a:ext cx="352425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6250" y="3667125"/>
            <a:ext cx="3524250" cy="381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743325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Gothic"/>
                <a:ea typeface="AppleGothic"/>
              </a:rPr>
              <a:t>N-CMAPSS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191000"/>
            <a:ext cx="323850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pleGothic"/>
                <a:ea typeface="AppleGothic"/>
              </a:rPr>
              <a:t>스플릿: 안 본 엔진 × 고부하 × late · 짧은 거리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714875"/>
            <a:ext cx="3238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추론: 조건·센서 요약 → cycle RUL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191125"/>
            <a:ext cx="3238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왜: 짧은 조건 외삽 · 0.937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특수·실패 설정 — 왜 그런가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같은 규칙으로도 안 되는 경우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1476375"/>
            <a:ext cx="533400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1476375"/>
            <a:ext cx="76200" cy="200025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350" y="1628775"/>
            <a:ext cx="485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MATR2019 / batch2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047875"/>
            <a:ext cx="48577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안 본 셀의 health 꼬리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2019는 먼 꼬리(~5.6 SD)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batch2는 상대적으로 가까움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667000"/>
            <a:ext cx="4857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기본 PP 약함 →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출력 보정 후 0.466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batch2는 양수이나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NN/TabPFN과 경합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0" y="1476375"/>
            <a:ext cx="533400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6500" y="1476375"/>
            <a:ext cx="76200" cy="20002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0" y="1628775"/>
            <a:ext cx="485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MICH (통합)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2047875"/>
            <a:ext cx="48577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안 본 셀 + 새 regime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margin 변동이 train 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2667000"/>
            <a:ext cx="4857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기본 PP −1.52 실패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경계·dual-scale로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0.751 · 8/8 unit 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" y="3667125"/>
            <a:ext cx="533400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6750" y="3667125"/>
            <a:ext cx="76200" cy="2000250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50" y="3819525"/>
            <a:ext cx="485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XJTU / FEMTO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4238625"/>
            <a:ext cx="48577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베어링·미접촉 cohort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끝점 희소 / 방향 불일치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" y="4857750"/>
            <a:ext cx="4857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전 방법 음수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옮기지 않거나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거절이 정직한 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500" y="3667125"/>
            <a:ext cx="533400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6500" y="3667125"/>
            <a:ext cx="76200" cy="200025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5100" y="3819525"/>
            <a:ext cx="485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NASA milling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4238625"/>
            <a:ext cx="48577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재료 1→2 전이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검증 unit 극소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4857750"/>
            <a:ext cx="4857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메커니즘 게이트가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실패를 사전 탐지</a:t>
            </a:r>
          </a:p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점수 −4.8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Ablation 요약 (공부용)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본문 C절과 동일 메시지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619250"/>
            <a:ext cx="171450" cy="1714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8250" y="1581150"/>
            <a:ext cx="1000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핵심: frozen affine + nonlinear residual (둘 다 필요)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190750"/>
            <a:ext cx="171450" cy="1714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8250" y="2152650"/>
            <a:ext cx="1000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Fixed bound: Sun/RWTH ↑, MICH ↓ → dual-scale로 worst 회복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2762250"/>
            <a:ext cx="171450" cy="1714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2724150"/>
            <a:ext cx="1000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Full rate history: Sun/RWTH 필수, MICH는 단순 history 반례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33750"/>
            <a:ext cx="171450" cy="1714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295650"/>
            <a:ext cx="1000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Transport: HUST +0.13, MATRb2 +0.19 수준 기여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50" y="3905250"/>
            <a:ext cx="171450" cy="1714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867150"/>
            <a:ext cx="1000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Evidence gate: 13설정에서 악화 0 — 틀린 모듈 거절이 역할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476750"/>
            <a:ext cx="171450" cy="17145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4438650"/>
            <a:ext cx="1000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pleGothic"/>
                <a:ea typeface="AppleGothic"/>
              </a:rPr>
              <a:t>원문: FINAL_PP_COMPONENT_ABLATION_RESULTS_KO.md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조건 적합도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허가증이지 성적표가 아니다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14097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검사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1250" y="14097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통과 조건 (쉬운 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0" y="14097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AppleGothic"/>
                <a:ea typeface="AppleGothic"/>
              </a:rPr>
              <a:t>실패하면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1685925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17621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①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621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9D8F"/>
                </a:solidFill>
                <a:latin typeface="AppleGothic"/>
                <a:ea typeface="AppleGothic"/>
              </a:rPr>
              <a:t>안 본 개체 + 학습 밖 RUL인가?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0" y="17621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4536"/>
                </a:solidFill>
                <a:latin typeface="AppleGothic"/>
                <a:ea typeface="AppleGothic"/>
              </a:rPr>
              <a:t>같은 개체 미래만 / 랜덤 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2181225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750" y="22574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② 계약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1250" y="22574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9D8F"/>
                </a:solidFill>
                <a:latin typeface="AppleGothic"/>
                <a:ea typeface="AppleGothic"/>
              </a:rPr>
              <a:t>쓰는 prior에 필요한 관측이 있나?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0" y="22574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4536"/>
                </a:solidFill>
                <a:latin typeface="AppleGothic"/>
                <a:ea typeface="AppleGothic"/>
              </a:rPr>
              <a:t>없는 경계·방향 강제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2676525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750" y="27527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③ 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1250" y="27527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9D8F"/>
                </a:solidFill>
                <a:latin typeface="AppleGothic"/>
                <a:ea typeface="AppleGothic"/>
              </a:rPr>
              <a:t>검증 끝단에서 이미 도움이 되나?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0" y="27527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4536"/>
                </a:solidFill>
                <a:latin typeface="AppleGothic"/>
                <a:ea typeface="AppleGothic"/>
              </a:rPr>
              <a:t>test만 보고 채택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3171825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" y="32480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④ 안정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0" y="32480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9D8F"/>
                </a:solidFill>
                <a:latin typeface="AppleGothic"/>
                <a:ea typeface="AppleGothic"/>
              </a:rPr>
              <a:t>거리·seed가 허용 범위인가?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0" y="32480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4536"/>
                </a:solidFill>
                <a:latin typeface="AppleGothic"/>
                <a:ea typeface="AppleGothic"/>
              </a:rPr>
              <a:t>너무 멀거나 재학습 붕괴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" y="3667125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750" y="37433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⑤ 호환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1250" y="37433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9D8F"/>
                </a:solidFill>
                <a:latin typeface="AppleGothic"/>
                <a:ea typeface="AppleGothic"/>
              </a:rPr>
              <a:t>검증→시험 이동이 비슷한가?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0" y="37433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4536"/>
                </a:solidFill>
                <a:latin typeface="AppleGothic"/>
                <a:ea typeface="AppleGothic"/>
              </a:rPr>
              <a:t>방향 반대·관계 급변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4162425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" y="4238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pleGothic"/>
                <a:ea typeface="AppleGothic"/>
              </a:rPr>
              <a:t>⑥ 메커니즘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81250" y="42386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9D8F"/>
                </a:solidFill>
                <a:latin typeface="AppleGothic"/>
                <a:ea typeface="AppleGothic"/>
              </a:rPr>
              <a:t>재료·고장·센서 의미가 같은가?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0" y="42386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4536"/>
                </a:solidFill>
                <a:latin typeface="AppleGothic"/>
                <a:ea typeface="AppleGothic"/>
              </a:rPr>
              <a:t>다른 현상을 같은 모델에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250" y="4953000"/>
            <a:ext cx="104775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판정: Pass=예측 사용 · Weak=보정 축소/identity · Fail=ABSTAIN.</a:t>
            </a:r>
          </a:p>
          <a:p>
            <a:pPr algn="l"/>
            <a:r>
              <a:rPr sz="1200" b="1">
                <a:solidFill>
                  <a:srgbClr val="627D98"/>
                </a:solidFill>
                <a:latin typeface="AppleGothic"/>
                <a:ea typeface="AppleGothic"/>
              </a:rPr>
              <a:t>출력은 숫자만이 아니라 적용증명·거리·불확실성을 함께. 원문: APPLICABILITY_NOVELTY_LIMITS_KO.md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방법 상세 (최종 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수식 하나 + 공용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476375"/>
            <a:ext cx="104775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2A43"/>
                </a:solidFill>
                <a:latin typeface="AppleGothic"/>
                <a:ea typeface="AppleGothic"/>
              </a:rPr>
              <a:t>ŷ = ŷ_affine + w(d) · B tanh(r_θ(x)/B)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50" y="2076450"/>
            <a:ext cx="95250" cy="952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5375" y="2000250"/>
            <a:ext cx="4953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ŷ_affine: 관측 밖에서도 폭주하지 않는 기본 추세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2533650"/>
            <a:ext cx="95250" cy="952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5375" y="2457450"/>
            <a:ext cx="4953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r_θ(x): history에서 학습한 비선형 보정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50" y="2990850"/>
            <a:ext cx="95250" cy="952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5375" y="2914650"/>
            <a:ext cx="4953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B tanh(·/B): 보정 크기 상한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50" y="3448050"/>
            <a:ext cx="95250" cy="952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5375" y="3371850"/>
            <a:ext cx="4953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w(d): support에서 멀수록 NN 보정 감쇠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50" y="3905250"/>
            <a:ext cx="95250" cy="952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5375" y="3829050"/>
            <a:ext cx="4953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공용: affine + bounded residual +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50" y="4362450"/>
            <a:ext cx="95250" cy="9525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5375" y="4286250"/>
            <a:ext cx="4953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데이터별: 계수·NN·범위·gate 강도만 학습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076450"/>
            <a:ext cx="95250" cy="9525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5125" y="2000250"/>
            <a:ext cx="476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배터리 열화식 사전 주입 아님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7000" y="2533650"/>
            <a:ext cx="95250" cy="9525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5125" y="2457450"/>
            <a:ext cx="476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도메인별은 입력 표현만 다름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7000" y="2990850"/>
            <a:ext cx="95250" cy="9525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5125" y="2914650"/>
            <a:ext cx="476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재학습 시드 42–46 (5회)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7000" y="3448050"/>
            <a:ext cx="95250" cy="9525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5125" y="3371850"/>
            <a:ext cx="476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검증 MSE로 설정·조기종료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7000" y="3905250"/>
            <a:ext cx="95250" cy="9525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5125" y="3829050"/>
            <a:ext cx="476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주 점수: 테스트 전체 R²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7000" y="4362450"/>
            <a:ext cx="95250" cy="9525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5125" y="4286250"/>
            <a:ext cx="4762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경계·보정 위반: 0/17,645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53340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원문: UNIFIED_SUPPORT_GATED_PP_RESULTS_KO.md · BOUNDARY_QUOTIENT_PP_RESULTS_KO.md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표 1. 통합 모델 비교 (개발 3데이터)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같은 구조·설정을 Sunwoda / RWTH / MICH에 공동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1571625"/>
            <a:ext cx="2190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모형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0" y="1571625"/>
            <a:ext cx="1047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Sunwoda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0" y="1571625"/>
            <a:ext cx="95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RWTH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0" y="1571625"/>
            <a:ext cx="95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MICH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1571625"/>
            <a:ext cx="1047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평균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0" y="1571625"/>
            <a:ext cx="1047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최고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571625"/>
            <a:ext cx="1047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A5F"/>
                </a:solidFill>
                <a:latin typeface="AppleGothic"/>
                <a:ea typeface="AppleGothic"/>
              </a:rPr>
              <a:t>최저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250" y="1876425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875" y="1952625"/>
            <a:ext cx="2190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고정 경계형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500" y="195262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0.939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0" y="1952625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0.878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0" y="1952625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0.468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195262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0" y="195262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0.939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5262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0.468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6250" y="2400300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875" y="2476500"/>
            <a:ext cx="2190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보정 제한 없음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7500" y="2476500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5750" y="2476500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8750" y="2476500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0" y="2476500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0500" y="2476500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76500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0.718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6250" y="2924175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875" y="3000375"/>
            <a:ext cx="2190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전체 적응형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7500" y="300037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5750" y="3000375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8750" y="3000375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0.746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0" y="300037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0" y="300037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00037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0.719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6250" y="3448050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3875" y="3524250"/>
            <a:ext cx="2190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거리 기반 보정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57500" y="3524250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0.894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5750" y="3524250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0.800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8750" y="3524250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0" y="3524250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0.810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0500" y="3524250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0.894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524250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pleGothic"/>
                <a:ea typeface="AppleGothic"/>
              </a:rPr>
              <a:t>0.736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6250" y="3971925"/>
            <a:ext cx="11049000" cy="4572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875" y="4048125"/>
            <a:ext cx="2190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최종 모델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7500" y="404812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0.934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95750" y="4048125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0.842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8750" y="4048125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0.751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0" y="404812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0.842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0500" y="404812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0.934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048125"/>
            <a:ext cx="1047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9D8F"/>
                </a:solidFill>
                <a:latin typeface="AppleGothic"/>
                <a:ea typeface="AppleGothic"/>
              </a:rPr>
              <a:t>0.751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250" y="4762500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pleGothic"/>
                <a:ea typeface="AppleGothic"/>
              </a:rPr>
              <a:t>해석: 최종 모델은 평균·최저를 같이 올림. 최고는 고정 경계형(0.939)과 비슷하나, 최저(0.751 vs 0.468)에서 차이.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7250" y="5286375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원문: UNIFIED_SUPPORT_GATED_PP_RESULTS_KO.md · results/bq_dual_scale_final_replay_v1/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표 2. 잘 된 8곳 — 알고리즘별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TabPFN 8곳 전체 반영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1409700"/>
            <a:ext cx="1047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3A5F"/>
                </a:solidFill>
                <a:latin typeface="AppleGothic"/>
                <a:ea typeface="AppleGothic"/>
              </a:rPr>
              <a:t>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00" y="1409700"/>
            <a:ext cx="1047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3A5F"/>
                </a:solidFill>
                <a:latin typeface="AppleGothic"/>
                <a:ea typeface="AppleGothic"/>
              </a:rPr>
              <a:t>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0" y="1409700"/>
            <a:ext cx="1047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3A5F"/>
                </a:solidFill>
                <a:latin typeface="AppleGothic"/>
                <a:ea typeface="AppleGothic"/>
              </a:rPr>
              <a:t>V-REx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0" y="1409700"/>
            <a:ext cx="1047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3A5F"/>
                </a:solidFill>
                <a:latin typeface="AppleGothic"/>
                <a:ea typeface="AppleGothic"/>
              </a:rPr>
              <a:t>G-DRO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0" y="1409700"/>
            <a:ext cx="1047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3A5F"/>
                </a:solidFill>
                <a:latin typeface="AppleGothic"/>
                <a:ea typeface="AppleGothic"/>
              </a:rPr>
              <a:t>Mono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0" y="1409700"/>
            <a:ext cx="1047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3A5F"/>
                </a:solidFill>
                <a:latin typeface="AppleGothic"/>
                <a:ea typeface="AppleGothic"/>
              </a:rPr>
              <a:t>LinRBF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0" y="1409700"/>
            <a:ext cx="1047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3A5F"/>
                </a:solidFill>
                <a:latin typeface="AppleGothic"/>
                <a:ea typeface="AppleGothic"/>
              </a:rPr>
              <a:t>Engr.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1409700"/>
            <a:ext cx="1047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3A5F"/>
                </a:solidFill>
                <a:latin typeface="AppleGothic"/>
                <a:ea typeface="AppleGothic"/>
              </a:rPr>
              <a:t>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0" y="1409700"/>
            <a:ext cx="1047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3A5F"/>
                </a:solidFill>
                <a:latin typeface="AppleGothic"/>
                <a:ea typeface="AppleGothic"/>
              </a:rPr>
              <a:t>TabPFN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" y="1695450"/>
            <a:ext cx="1143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HUST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1695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ppleGothic"/>
                <a:ea typeface="AppleGothic"/>
              </a:rPr>
              <a:t>0.958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8000" y="1695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5750" y="1695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0.934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0" y="1695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1250" y="1695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0.710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0" y="1695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0" y="1695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-0.32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1695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0.218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875" y="2076450"/>
            <a:ext cx="1143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Virkler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5000" y="2076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ppleGothic"/>
                <a:ea typeface="AppleGothic"/>
              </a:rPr>
              <a:t>0.888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8000" y="2076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0.583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5750" y="2076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0.554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3500" y="2076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0.565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1250" y="2076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4250" y="2076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0.552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0" y="2076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0.54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2076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0.621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875" y="2457450"/>
            <a:ext cx="1143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NASA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5000" y="2457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ppleGothic"/>
                <a:ea typeface="AppleGothic"/>
              </a:rPr>
              <a:t>0.584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8000" y="2457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0.285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95750" y="2457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0.286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3500" y="2457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0.283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1250" y="2457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0.550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4250" y="2457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0.549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0" y="2457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5000" y="2457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-0.69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875" y="2838450"/>
            <a:ext cx="1143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Sunwoda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05000" y="2838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ppleGothic"/>
                <a:ea typeface="AppleGothic"/>
              </a:rPr>
              <a:t>0.865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0" y="2838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-0.24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95750" y="2838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-0.30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43500" y="2838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-0.05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1250" y="2838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0.838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4250" y="2838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0.619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0" y="2838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-1.60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25000" y="2838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-0.89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875" y="3219450"/>
            <a:ext cx="1143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RWTH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05000" y="3219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ppleGothic"/>
                <a:ea typeface="AppleGothic"/>
              </a:rPr>
              <a:t>0.743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48000" y="3219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0.645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95750" y="3219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0.602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43500" y="3219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-0.01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1250" y="3219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0.385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34250" y="3219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0.526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2000" y="3219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-0.47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5000" y="3219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-2.18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875" y="3600450"/>
            <a:ext cx="1143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MATR19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05000" y="3600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ppleGothic"/>
                <a:ea typeface="AppleGothic"/>
              </a:rPr>
              <a:t>0.466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48000" y="3600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0.044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95750" y="3600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0.272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43500" y="3600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0.018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1250" y="3600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-2.64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34250" y="3600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-0.73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82000" y="3600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-2.46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25000" y="3600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0.202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875" y="3981450"/>
            <a:ext cx="1143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MATRb2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5000" y="3981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ppleGothic"/>
                <a:ea typeface="AppleGothic"/>
              </a:rPr>
              <a:t>0.862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48000" y="3981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95750" y="3981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0.777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43500" y="3981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0.674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1250" y="3981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-0.78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34250" y="3981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0.739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82000" y="3981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25000" y="3981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0.618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3875" y="4362450"/>
            <a:ext cx="1143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NCMAPSS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05000" y="4362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ppleGothic"/>
                <a:ea typeface="AppleGothic"/>
              </a:rPr>
              <a:t>0.937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48000" y="4362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0.883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95750" y="4362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0.880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3500" y="4362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0.892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4362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34250" y="4362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0.932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82000" y="4362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0.80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25000" y="4362450"/>
            <a:ext cx="952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2A43"/>
                </a:solidFill>
                <a:latin typeface="AppleGothic"/>
                <a:ea typeface="AppleGothic"/>
              </a:rPr>
              <a:t>0.934*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7250" y="4905375"/>
            <a:ext cx="104775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pleGothic"/>
                <a:ea typeface="AppleGothic"/>
              </a:rPr>
              <a:t>TabPFN: FAIR_PFN(HUST/Virkler/NASA) · TABPFN_EXTERNAL(Sunwoda/RWTH/MATRb2) · EXTENDED_NN(MATR19) · NCMAPSS(*단일 seed).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7250" y="5429250"/>
            <a:ext cx="10477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0029"/>
                </a:solidFill>
                <a:latin typeface="AppleGothic"/>
                <a:ea typeface="AppleGothic"/>
              </a:rPr>
              <a:t>보조 비교(train 상한). MATRb2는 TabPFN이 기본 PP보다 높을 수 있어 그 분할만으로 PP 우위를 주장하지 않음.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표 3. 실패 설정 — 적용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모든 방법이 음수인 경우도 논문에 남긴다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4375" y="1666875"/>
            <a:ext cx="2667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375" y="1666875"/>
            <a:ext cx="2667000" cy="76200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725" y="1905000"/>
            <a:ext cx="238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MICH (기본 PP)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381250"/>
            <a:ext cx="23812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44536"/>
                </a:solidFill>
                <a:latin typeface="AppleGothic"/>
                <a:ea typeface="AppleGothic"/>
              </a:rPr>
              <a:t>−1.522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952750"/>
            <a:ext cx="238125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보정이 거의 안 켜짐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형태/관계 실패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→ 경계형으로 일부 회복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4250" y="1666875"/>
            <a:ext cx="2667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4250" y="1666875"/>
            <a:ext cx="2667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905000"/>
            <a:ext cx="238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XJTU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81250"/>
            <a:ext cx="23812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A261"/>
                </a:solidFill>
                <a:latin typeface="AppleGothic"/>
                <a:ea typeface="AppleGothic"/>
              </a:rPr>
              <a:t>−1.229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952750"/>
            <a:ext cx="238125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검증과 테스트의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이동 방향이 반대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→ 옮기지 않는 게 맞음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4125" y="1666875"/>
            <a:ext cx="2667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34125" y="1666875"/>
            <a:ext cx="2667000" cy="762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7475" y="1905000"/>
            <a:ext cx="238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FEMTO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475" y="2381250"/>
            <a:ext cx="23812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6F95"/>
                </a:solidFill>
                <a:latin typeface="AppleGothic"/>
                <a:ea typeface="AppleGothic"/>
              </a:rPr>
              <a:t>−1.378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2952750"/>
            <a:ext cx="238125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베어링당 끝점 1개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유닛 점수 정의 어려움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666875"/>
            <a:ext cx="2667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666875"/>
            <a:ext cx="2667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7350" y="1905000"/>
            <a:ext cx="2381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NASA milling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7350" y="2381250"/>
            <a:ext cx="23812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3A5F"/>
                </a:solidFill>
                <a:latin typeface="AppleGothic"/>
                <a:ea typeface="AppleGothic"/>
              </a:rPr>
              <a:t>−4.826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7350" y="2952750"/>
            <a:ext cx="238125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검증 유닛이 너무 적음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나눔 자체가 불안정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4953000"/>
            <a:ext cx="1047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원문: ADDITIONAL_REAL_DATASETS_RESULTS_KO.md · XJTU_UNTOUCHED_RESULTS_KO.md · FEMTO_PP_PROSPECTIVE_RESULTS_KO.md · MILLING_LOCKED_RESULTS.md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" y="5476875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29"/>
                </a:solidFill>
                <a:latin typeface="AppleGothic"/>
                <a:ea typeface="AppleGothic"/>
              </a:rPr>
              <a:t>논문 메시지: 실패를 숨기지 않고, ‘언제 거절해야 하는지’의 근거로 쓴다.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사례 연구: MICH 회복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기본 PP −1.522 → 경계형 0.468 → 최종 통합 0.751</a:t>
            </a:r>
          </a:p>
        </p:txBody>
      </p:sp>
      <p:pic>
        <p:nvPicPr>
          <p:cNvPr id="8" name="Picture 7" descr="mich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28750"/>
            <a:ext cx="7429500" cy="381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86750" y="1619250"/>
            <a:ext cx="3238500" cy="133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86750" y="1619250"/>
            <a:ext cx="3238500" cy="66675"/>
          </a:xfrm>
          <a:prstGeom prst="roundRect">
            <a:avLst>
              <a:gd name="adj" fmla="val 8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150" y="1790700"/>
            <a:ext cx="2933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무슨 일이었나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150" y="2095500"/>
            <a:ext cx="293370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건강도–남은수명 관계가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학습 집단과 달라져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보정이 꺼졌다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6750" y="3143250"/>
            <a:ext cx="3238500" cy="133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6750" y="3143250"/>
            <a:ext cx="32385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150" y="3314700"/>
            <a:ext cx="2933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무엇을 바꿨나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150" y="3619500"/>
            <a:ext cx="293370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경계를 몫으로 두고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기본경향 고정 +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보정 상한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6750" y="4667250"/>
            <a:ext cx="3238500" cy="857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86750" y="4667250"/>
            <a:ext cx="323850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4838700"/>
            <a:ext cx="2933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150" y="5143500"/>
            <a:ext cx="2933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unit 31은 여전히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가장 어렵고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완전 해결은 아님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통계 근거 (Results 보강)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알고리즘 안정성 + 유닛 단위 효과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571625"/>
            <a:ext cx="5334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1571625"/>
            <a:ext cx="53340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43075"/>
            <a:ext cx="5029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재학습 합의 규칙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47875"/>
            <a:ext cx="50292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보정 채택을 5번 재학습 투표로 봄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5/5일 때만 승인 (단측 p=0.031)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4/5는 거절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주의: 물리 반복실험이 아니라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초기화 안정성 검정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7000" y="1571625"/>
            <a:ext cx="4953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7000" y="1571625"/>
            <a:ext cx="4953000" cy="66675"/>
          </a:xfrm>
          <a:prstGeom prst="roundRect">
            <a:avLst>
              <a:gd name="adj" fmla="val 8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743075"/>
            <a:ext cx="4648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유닛 짝 비교 (20,000회)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47875"/>
            <a:ext cx="464820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HUST  −25.2  [−34.4, −14.5]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RWTH  −23.3  [−41.8, −8.9]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MATR  −10.6  [−15.7, −6.4]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세 곳 모두 신뢰구간이 0 아래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= 긴 시퀀스 몇 개만의 착시 아님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4572000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pleGothic"/>
                <a:ea typeface="AppleGothic"/>
              </a:rPr>
              <a:t>안전성 감사: 7곳 중 3곳 개선 · 4곳 그대로 · 악화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5048250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원문: STATISTICAL_NOVELTY_EVIDENCE_KO.md · results/consensus_statistical_audit_v1/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5476875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4536"/>
                </a:solidFill>
                <a:latin typeface="AppleGothic"/>
                <a:ea typeface="AppleGothic"/>
              </a:rPr>
              <a:t>도메인 수가 적어 ‘모든 분야에서 유의’라고 쓰면 안 된다.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기여 / 비기여 (논문 경계)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심사에서 바로 물어보는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571625"/>
            <a:ext cx="5334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1571625"/>
            <a:ext cx="53340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43075"/>
            <a:ext cx="5029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기여로 쓸 수 있는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47875"/>
            <a:ext cx="5029200" cy="283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1) 개체 분리 + 범위 밖 남은수명 문제 정의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2) 고정 기본경향 + 제한 보정 예측기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3) 검증으로만 승인하는 보정 옮기기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4) 실패·거절까지 포함한 실험 지도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7000" y="1571625"/>
            <a:ext cx="4953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7000" y="1571625"/>
            <a:ext cx="4953000" cy="66675"/>
          </a:xfrm>
          <a:prstGeom prst="roundRect">
            <a:avLst>
              <a:gd name="adj" fmla="val 8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743075"/>
            <a:ext cx="4648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기여로 쓰면 안 되는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47875"/>
            <a:ext cx="4648200" cy="283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최초 물리–신경망 혼합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최초 affine+residual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최초 범위 밖 평가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모든 도메인 1등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보정=이론적 안전 보증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53340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원문: NOVELTY_LITERATURE_AUDIT_KO.md · BQ_PP_NOVELTY_AUDIT_KO.md · PP_FIRST_PUBLICATION_CLAIMS_KO.md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공부 체크리스트 — 파일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읽을 순서대로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571625"/>
            <a:ext cx="3524250" cy="1857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157162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4307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① 문헌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47875"/>
            <a:ext cx="3219450" cy="1266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ppt/외삽자료/extrapolation-papers/외삽_문헌조사_통합.pptx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+ 외삽_50분_장표별_설명_v5.md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6750" y="1571625"/>
            <a:ext cx="3524250" cy="1857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76750" y="157162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9150" y="174307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② 문제·분할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2047875"/>
            <a:ext cx="3219450" cy="1266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pp-extrapolation/MODEL_AND_SPLIT_KO.md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500" y="1571625"/>
            <a:ext cx="3524250" cy="1857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1500" y="157162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174307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③ 최종 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2047875"/>
            <a:ext cx="3219450" cy="1266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UNIFIED_SUPPORT_GATED_PP_RESULTS_KO.md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BOUNDARY_QUOTIENT_PP_RESULTS_KO.md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3667125"/>
            <a:ext cx="3524250" cy="1857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2000" y="366712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3857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④ 경쟁·실패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43375"/>
            <a:ext cx="3219450" cy="1266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ALL_DATASET_EXTRAPOLATION_COMPETITORS_KO.md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ENGRESSION_GP_EXTRAPOLATION_RESULTS_KO.md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76750" y="3667125"/>
            <a:ext cx="3524250" cy="1857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76750" y="366712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9150" y="383857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⑤ 통계·노벨티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9150" y="4143375"/>
            <a:ext cx="3219450" cy="1266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STATISTICAL_NOVELTY_EVIDENCE_KO.md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NOVELTY_LITERATURE_AUDIT_KO.md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1500" y="3667125"/>
            <a:ext cx="3524250" cy="1857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91500" y="3667125"/>
            <a:ext cx="3524250" cy="66675"/>
          </a:xfrm>
          <a:prstGeom prst="roundRect">
            <a:avLst>
              <a:gd name="adj" fmla="val 8000"/>
            </a:avLst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3900" y="3838575"/>
            <a:ext cx="32194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⑥ 확증·한계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3900" y="4143375"/>
            <a:ext cx="3219450" cy="1266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MATR_BATCH2_CONFIRMATORY_RESULTS_KO.md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APPLICABILITY_NOVELTY_LIMITS_KO.md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실험 원문 색인 (더 보고 싶을 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주제 → 파일명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581150"/>
            <a:ext cx="76200" cy="762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524000"/>
            <a:ext cx="10287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기본 PP 프로토콜 · ADDITIONAL_REAL_DATASETS_PROTOCOL /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038350"/>
            <a:ext cx="76200" cy="762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1981200"/>
            <a:ext cx="10287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교차 비교 · ALL_DATASET_COMPARISON_KO · CROSS_DATASET_PP_FT_*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2495550"/>
            <a:ext cx="76200" cy="762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2438400"/>
            <a:ext cx="10287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보정·합의 · OUTPUT_CALIBRATION_CROSS_DATASET · STATISTICAL_NOVELTY_*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2952750"/>
            <a:ext cx="76200" cy="762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2895600"/>
            <a:ext cx="10287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거리·껍질 · HULL_EXTRAPOLATION_QUANTIFICATION · DISTANCE_SHELL_*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50" y="3409950"/>
            <a:ext cx="76200" cy="762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5375" y="3352800"/>
            <a:ext cx="10287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선택 거절 · SELECTIVE_GATE_RESULTS · APPLICABILITY_*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3867150"/>
            <a:ext cx="76200" cy="762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5375" y="3810000"/>
            <a:ext cx="10287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미접촉 확인 · XJTU_UNTOUCHED_* · OXFORD_* · MATR_BATCH2_* · MATR_2019_*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50" y="4324350"/>
            <a:ext cx="76200" cy="762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5375" y="4267200"/>
            <a:ext cx="10287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엔진/균열 · NCMAPSS_PP_COMPARISON · FEMTO_* · MILLING_*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50" y="4781550"/>
            <a:ext cx="76200" cy="762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5375" y="4724400"/>
            <a:ext cx="10287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pleGothic"/>
                <a:ea typeface="AppleGothic"/>
              </a:rPr>
              <a:t>프레임 전체 · ASSUMPTION_AWARE_EXTRAPOLATION_PROGRAM_KO · PAE_PP_*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문헌조사와 PP의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50분 발표에서 가져온 것 / PP로 이어진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619250"/>
            <a:ext cx="5143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1619250"/>
            <a:ext cx="514350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90700"/>
            <a:ext cx="4838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문헌에서 배운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5500"/>
            <a:ext cx="4838700" cy="245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밖 = 가정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ReLU는 직선으로 이어짐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강한 식은 틀리면 위험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범위 밖으로 검증해야 함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모르면 불확실성·거절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500" y="1619250"/>
            <a:ext cx="5143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500" y="1619250"/>
            <a:ext cx="514350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900" y="1790700"/>
            <a:ext cx="48387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PP로 옮긴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095500"/>
            <a:ext cx="4838700" cy="245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약한 가정만 쓰기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기본 경향을 직선적으로 고정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보정은 상한으로 막기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개체 분리 + 범위 밖 평가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안 되면 보정 안 함/거절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5048250"/>
            <a:ext cx="10477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연결 파일: ppt/외삽자료/.../외삽_50분_장표별_설명_v5.md · INDEX.md · paper_pdfs/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5476875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pleGothic"/>
                <a:ea typeface="AppleGothic"/>
              </a:rPr>
              <a:t>추천 PPT: 외삽_문헌조사_통합.pptx (먼저) → 본 자료 본문 → 이 부록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논문 목차 초안 (공부용)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쓰고 싶은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571625"/>
            <a:ext cx="1905000" cy="5238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125" y="1704975"/>
            <a:ext cx="1619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1 Intro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0" y="1685925"/>
            <a:ext cx="8191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학습 밖 RUL · 가정 문제 · 기여 3개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2238375"/>
            <a:ext cx="1905000" cy="5238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125" y="2371725"/>
            <a:ext cx="1619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2 Related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0" y="2352675"/>
            <a:ext cx="8191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hybrid/PINN · selective · hull 검증 · 우리 자리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2905125"/>
            <a:ext cx="1905000" cy="523875"/>
          </a:xfrm>
          <a:prstGeom prst="roundRect">
            <a:avLst>
              <a:gd name="adj" fmla="val 8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125" y="3038475"/>
            <a:ext cx="1619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3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000" y="3019425"/>
            <a:ext cx="8191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개체 분리 · 범위 밖 · 지표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50" y="3571875"/>
            <a:ext cx="1905000" cy="523875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125" y="3705225"/>
            <a:ext cx="1619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4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8000" y="3686175"/>
            <a:ext cx="8191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기본경향+보정 · 경계형 · 승인 규칙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50" y="4238625"/>
            <a:ext cx="1905000" cy="523875"/>
          </a:xfrm>
          <a:prstGeom prst="roundRect">
            <a:avLst>
              <a:gd name="adj" fmla="val 8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71975"/>
            <a:ext cx="1619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5 Experiments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0" y="4352925"/>
            <a:ext cx="8191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표1 통합 · 표2 경쟁 · 표3 실패 · 통계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250" y="4905375"/>
            <a:ext cx="1905000" cy="523875"/>
          </a:xfrm>
          <a:prstGeom prst="roundRect">
            <a:avLst>
              <a:gd name="adj" fmla="val 8000"/>
            </a:avLst>
          </a:prstGeom>
          <a:solidFill>
            <a:srgbClr val="8B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0125" y="5038725"/>
            <a:ext cx="1619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Gothic"/>
                <a:ea typeface="AppleGothic"/>
              </a:rPr>
              <a:t>6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000" y="5019675"/>
            <a:ext cx="8191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A43"/>
                </a:solidFill>
                <a:latin typeface="AppleGothic"/>
                <a:ea typeface="AppleGothic"/>
              </a:rPr>
              <a:t>적용 조건 · 한계 · PAE 컴파일로의 연결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457200"/>
            <a:ext cx="76200" cy="495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428625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AppleGothic"/>
                <a:ea typeface="AppleGothic"/>
              </a:rPr>
              <a:t>Apx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647700"/>
            <a:ext cx="102870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pleGothic"/>
                <a:ea typeface="AppleGothic"/>
              </a:rPr>
              <a:t>부록 사용법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00965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pleGothic"/>
                <a:ea typeface="AppleGothic"/>
              </a:rPr>
              <a:t>발표 / 공부 / 원고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905000"/>
            <a:ext cx="333375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7250" y="1905000"/>
            <a:ext cx="3333750" cy="66675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9650" y="2076450"/>
            <a:ext cx="30289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발표할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2381250"/>
            <a:ext cx="3028950" cy="150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본문만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질문 시 데이터셋·표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6750" y="1905000"/>
            <a:ext cx="333375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76750" y="1905000"/>
            <a:ext cx="3333750" cy="66675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9150" y="2076450"/>
            <a:ext cx="30289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공부할 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2381250"/>
            <a:ext cx="3028950" cy="150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데이터셋→스플릿→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성공/실패→결과 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6250" y="1905000"/>
            <a:ext cx="333375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6250" y="1905000"/>
            <a:ext cx="3333750" cy="66675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8650" y="2076450"/>
            <a:ext cx="30289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pleGothic"/>
                <a:ea typeface="AppleGothic"/>
              </a:rPr>
              <a:t>원고 쓸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8650" y="2381250"/>
            <a:ext cx="3028950" cy="150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Methods=스플릿</a:t>
            </a:r>
          </a:p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Results=표1–3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572000"/>
            <a:ext cx="1047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pleGothic"/>
                <a:ea typeface="AppleGothic"/>
              </a:rPr>
              <a:t>고정본 파일: ppt/pp/PP_Research_Detailed_v2.pptx</a:t>
            </a:r>
          </a:p>
          <a:p>
            <a:pPr algn="l"/>
            <a:r>
              <a:rPr sz="1500" b="1">
                <a:solidFill>
                  <a:srgbClr val="102A43"/>
                </a:solidFill>
                <a:latin typeface="AppleGothic"/>
                <a:ea typeface="AppleGothic"/>
              </a:rPr>
              <a:t>실험 원문 루트: Desktop/연구/pp-extrapolation/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53340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pleGothic"/>
                <a:ea typeface="AppleGothic"/>
              </a:rPr>
              <a:t>끝. 새 버전 파일은 만들지 않고 이 파일만 갱신한다.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419850"/>
            <a:ext cx="10820400" cy="0"/>
          </a:xfrm>
          <a:prstGeom prst="line">
            <a:avLst/>
          </a:prstGeom>
          <a:ln w="12700">
            <a:solidFill>
              <a:srgbClr val="C8D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6496050"/>
            <a:ext cx="7429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pleGothic"/>
                <a:ea typeface="AppleGothic"/>
              </a:rPr>
              <a:t>Smart Production Systems Lab.  /  PP Extrapolation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477000"/>
            <a:ext cx="571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27D98"/>
                </a:solidFill>
                <a:latin typeface="AppleGothic"/>
                <a:ea typeface="AppleGothic"/>
              </a:rPr>
              <a:t>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