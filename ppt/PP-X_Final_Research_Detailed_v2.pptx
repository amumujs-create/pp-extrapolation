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3" r:id="rId14"/>
    <p:sldId id="264" r:id="rId15"/>
    <p:sldId id="265" r:id="rId16"/>
    <p:sldId id="266" r:id="rId17"/>
    <p:sldId id="267" r:id="rId18"/>
    <p:sldId id="271" r:id="rId22"/>
    <p:sldId id="260" r:id="rId11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61" r:id="rId12"/>
    <p:sldId id="302" r:id="rId53"/>
    <p:sldId id="287" r:id="rId38"/>
    <p:sldId id="262" r:id="rId13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304800"/>
            <a:ext cx="11430000" cy="6248400"/>
          </a:xfrm>
          <a:prstGeom prst="rect">
            <a:avLst/>
          </a:prstGeom>
          <a:noFill/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s_la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552450"/>
            <a:ext cx="304800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09550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22222"/>
                </a:solidFill>
                <a:latin typeface="Arial"/>
                <a:ea typeface="AppleGothic"/>
              </a:rPr>
              <a:t>PP-X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52700"/>
            <a:ext cx="10668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222"/>
                </a:solidFill>
                <a:latin typeface="Arial"/>
                <a:ea typeface="AppleGothic"/>
              </a:rPr>
              <a:t>Validation-Approved Prior-Residual Extrapolation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43250"/>
            <a:ext cx="10668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  <a:latin typeface="Arial"/>
                <a:ea typeface="AppleGothic"/>
              </a:rPr>
              <a:t>관측된 support 밖에서의 강건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714750"/>
            <a:ext cx="10668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2B2"/>
                </a:solidFill>
                <a:latin typeface="Arial"/>
                <a:ea typeface="AppleGothic"/>
              </a:rPr>
              <a:t>전체 연구 지도  ·  Prior-Adaptive Extrapolation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7675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Smart Production Systems Lab.  ·  박사과정 박진서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953000"/>
            <a:ext cx="10668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2026.09.11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문제 · 연구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밖에서는 데이터가 답을 정하지 못한다.  정당화되는 prior에 맞춰 고른다.</a:t>
            </a:r>
          </a:p>
        </p:txBody>
      </p:sp>
      <p:pic>
        <p:nvPicPr>
          <p:cNvPr id="6" name="Picture 5" descr="nn_vs_saa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19150"/>
            <a:ext cx="6096000" cy="381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2900" y="4686300"/>
            <a:ext cx="6096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점선 왼쪽은 학습, 오른쪽은 그 밖. 제약 없는 NN은 열화 중에도 예측이 되살아난다.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819150"/>
            <a:ext cx="5219700" cy="12573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1800" y="895350"/>
            <a:ext cx="4914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왜 외삽인가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1123950"/>
            <a:ext cx="49149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학습 분포 안에서는 잘 맞혀도, 관측되지 않은 영역에서는 성능이 급히 떨어질 수 있다. 열화·RUL·피로균열은 실제 시점이 학습 support 밖인 경우가 많아, 보간보다 밖에서의 예측이 중요하다.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190750"/>
            <a:ext cx="5219700" cy="12573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1800" y="2266950"/>
            <a:ext cx="4914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9F00"/>
                </a:solidFill>
                <a:latin typeface="Arial"/>
                <a:ea typeface="AppleGothic"/>
              </a:rPr>
              <a:t>prior는 일정하지 않다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2495550"/>
            <a:ext cx="49149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같은 데이터라도 prior가 바뀌면 밖으로 나가는 곡선이 달라진다. 어떤 문제는 방향·경계·추세만 알고, 어떤 문제는 식과 적용 조건까지 있다. 맞지 않는 prior를 강제하면 외삽이 나빠진다.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562350"/>
            <a:ext cx="5219700" cy="146685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800" y="3638550"/>
            <a:ext cx="4914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2"/>
                </a:solidFill>
                <a:latin typeface="Arial"/>
                <a:ea typeface="AppleGothic"/>
              </a:rPr>
              <a:t>출발점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3886200"/>
            <a:ext cx="49149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맞는 답이 하나가 아니다. 밖을 지탱하는 것은 데이터가 아니라 지금 정당화되는 prior다. prior가 많을수록 좋은 것이 아니라, 그 수준과 신뢰성에 맞춰 외삽 전략을 고른다. 다음 장에서 경로를 나눈다.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2/42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사전 조사 — 회귀 외삽은 추가 가정 없이는 식별되지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대표 방법은 서로 다른 구조·분포 가정을 둔다. PP-X만 prior를 쓰는 것은 아니다.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112776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Arial"/>
                <a:ea typeface="AppleGothic"/>
              </a:rPr>
              <a:t>조사 결론  범용 회귀기가 데이터만으로 support 밖 함수를 정해 주지는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2550"/>
            <a:ext cx="2647950" cy="28575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1504950"/>
            <a:ext cx="23050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  <a:ea typeface="AppleGothic"/>
              </a:rPr>
              <a:t>제약 없는 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1885950"/>
            <a:ext cx="23050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rial"/>
                <a:ea typeface="AppleGothic"/>
              </a:rPr>
              <a:t>ReLU 네트워크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2479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8650" y="2419350"/>
            <a:ext cx="230505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마지막 선형 조각을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밖으로 연장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" y="3295650"/>
            <a:ext cx="230505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가정이 암묵적이라</a:t>
            </a:r>
          </a:p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tail 형태를 통제하기 어렵다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750" y="1352550"/>
            <a:ext cx="2647950" cy="28575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5200" y="1504950"/>
            <a:ext cx="23050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2B2"/>
                </a:solidFill>
                <a:latin typeface="Arial"/>
                <a:ea typeface="AppleGothic"/>
              </a:rPr>
              <a:t>형상 제약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5200" y="1885950"/>
            <a:ext cx="23050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rial"/>
                <a:ea typeface="AppleGothic"/>
              </a:rPr>
              <a:t>CMNN · monotone NN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62350" y="22479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5200" y="2419350"/>
            <a:ext cx="230505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증가/감소 방향을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구조로 강제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200" y="3295650"/>
            <a:ext cx="230505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단조 방향이 맞다는</a:t>
            </a:r>
          </a:p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도메인 prior가 필요하다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300" y="1352550"/>
            <a:ext cx="2647950" cy="28575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1750" y="1504950"/>
            <a:ext cx="23050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9F00"/>
                </a:solidFill>
                <a:latin typeface="Arial"/>
                <a:ea typeface="AppleGothic"/>
              </a:rPr>
              <a:t>식·물리 제약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1750" y="1885950"/>
            <a:ext cx="23050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rial"/>
                <a:ea typeface="AppleGothic"/>
              </a:rPr>
              <a:t>EQL · PINN · Physics-ML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38900" y="22479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81750" y="2419350"/>
            <a:ext cx="230505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함수식·PDE·열화 법칙을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구조 또는 loss에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1750" y="3295650"/>
            <a:ext cx="230505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식과 적용 조건이 맞는</a:t>
            </a:r>
          </a:p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도메인에서 강하다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6850" y="1352550"/>
            <a:ext cx="2647950" cy="28575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8300" y="1504950"/>
            <a:ext cx="23050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  <a:ea typeface="AppleGothic"/>
              </a:rPr>
              <a:t>통계적 외삽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8300" y="1885950"/>
            <a:ext cx="23050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rial"/>
                <a:ea typeface="AppleGothic"/>
              </a:rPr>
              <a:t>Engression · Xtrapolation</a:t>
            </a:r>
          </a:p>
          <a:p>
            <a:pPr algn="ctr"/>
            <a:r>
              <a:rPr sz="1100" b="1">
                <a:solidFill>
                  <a:srgbClr val="666666"/>
                </a:solidFill>
                <a:latin typeface="Arial"/>
                <a:ea typeface="AppleGothic"/>
              </a:rPr>
              <a:t>· Progression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15450" y="22479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258300" y="2419350"/>
            <a:ext cx="230505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noise 위치·미분 경계·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tail dependence를 가정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8300" y="3295650"/>
            <a:ext cx="230505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가정이 약하면 band가 넓고</a:t>
            </a:r>
          </a:p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점예측은 식별되지 않는다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76750"/>
            <a:ext cx="11277600" cy="9906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750" y="4591050"/>
            <a:ext cx="1085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ppleGothic"/>
              </a:rPr>
              <a:t>직접 인접 연구  EV(2024)·LBO(2025)는 boundary-focused validation을 이미 제안했다.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4914900"/>
            <a:ext cx="108585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ppleGothic"/>
              </a:rPr>
              <a:t>남은 질문  이질적인 prior를 outcome-free contract로 제한하고, physical-unit 위험으로 executor와 exact fallback을 시험 전에 함께 고정할 수 있는가?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7531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Xu 2021 · Runje 2023 · Raissi 2019 · Shen &amp; Meinshausen 2024 · Pfister &amp; Bühlmann 2026 · Yu et al. 2024 · García et al. 2025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3/42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연구 기여 C1–C3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무엇을 믿을지 정하고 → 얼마나 수정할지 제한하고 → 실제로 써도 되는지 검증한다.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52500"/>
          <a:ext cx="112776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/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질문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단계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핵심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무엇을 믿어도 되는가?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Declare / Typed Contract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Boundary · Unit · Causal X · Support · 허용 Prior · Fallback을 test 전에 선언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얼마나 수정하게 할 것인가?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Learn / Prior-residual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ŷ = Y_prior + bounded residual. NN은 prior를 뒤집지 못하고 제한된 범위만 수정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실제로 실행해도 되는가?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Approve / Unit evidence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평균만 보지 않음. unit wins ≥60%, worst RMSE ratio ≤1.10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05250"/>
            <a:ext cx="11277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암기  C1 = 무엇을 믿나  →  C2 = 얼마나 수정하나  →  C3 = 써도 되는지 검증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305300"/>
            <a:ext cx="1127760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47675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Frozen execution (운영 규칙)  C3를 통과한 route 1개를 test 전에 고정한다. 실패하면 미리 정한 fallback으로 간다.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다음 장부터 C1 → C2 → C3를 예시로 하나씩 설명한다.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4/42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그래서 외삽에서 무엇이 좋아졌는가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현재 retrospective 데이터 안에서 확인된 효과와 아직 주장할 수 없는 범위를 분리한다.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81050"/>
            <a:ext cx="112776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비교 대상  하나의 prior나 optional module을 모든 데이터에 항상 켜는 외삽 모델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2550"/>
            <a:ext cx="2647950" cy="32766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1524000"/>
            <a:ext cx="23050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72B2"/>
                </a:solidFill>
                <a:latin typeface="Arial"/>
                <a:ea typeface="AppleGothic"/>
              </a:rPr>
              <a:t>① 평균 예측오차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2057400"/>
            <a:ext cx="23050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각 contract에서 validation이 지지한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executor만 선택해, 맞는 구조의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외삽 이득은 유지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2385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8650" y="3486150"/>
            <a:ext cx="230505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개발 결과</a:t>
            </a:r>
          </a:p>
          <a:p>
            <a:pPr algn="ctr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동일예산 최강 비교군 대비 8/9 우세</a:t>
            </a:r>
          </a:p>
          <a:p>
            <a:pPr algn="ctr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paired GM-RMSE 33.8% 감소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3750" y="1352550"/>
            <a:ext cx="2647950" cy="32766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5200" y="1524000"/>
            <a:ext cx="23050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② 전역 적용 붕괴 방지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5200" y="2057400"/>
            <a:ext cx="23050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모든 셋에 같은 bound·scale을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항상 켜지 않고, 해당 contract에서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지지된 executor만 최종 route에 포함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62350" y="32385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05200" y="3486150"/>
            <a:ext cx="230505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직접 반례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MICH fixed bound ΔR² −.291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RWTH dual-scale ΔR² −.037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300" y="1352550"/>
            <a:ext cx="2647950" cy="32766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1750" y="1524000"/>
            <a:ext cx="23050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69F00"/>
                </a:solidFill>
                <a:latin typeface="Arial"/>
                <a:ea typeface="AppleGothic"/>
              </a:rPr>
              <a:t>③ 유닛 단위 안정성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750" y="2057400"/>
            <a:ext cx="23050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평균 RMSE만 보지 않고 unit wins와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worst-unit ratio를 승인 조건에 포함해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일부 설비에 손해가 몰리는 route 제한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38900" y="32385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81750" y="3486150"/>
            <a:ext cx="230505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9F00"/>
                </a:solidFill>
                <a:latin typeface="Arial"/>
                <a:ea typeface="AppleGothic"/>
              </a:rPr>
              <a:t>직접 근거</a:t>
            </a:r>
          </a:p>
          <a:p>
            <a:pPr algn="ctr"/>
            <a:r>
              <a:rPr sz="1200" b="1">
                <a:solidFill>
                  <a:srgbClr val="E69F00"/>
                </a:solidFill>
                <a:latin typeface="Arial"/>
                <a:ea typeface="AppleGothic"/>
              </a:rPr>
              <a:t>HUST transport 15/16 unit 개선</a:t>
            </a:r>
          </a:p>
          <a:p>
            <a:pPr algn="ctr"/>
            <a:r>
              <a:rPr sz="1200" b="1">
                <a:solidFill>
                  <a:srgbClr val="E69F00"/>
                </a:solidFill>
                <a:latin typeface="Arial"/>
                <a:ea typeface="AppleGothic"/>
              </a:rPr>
              <a:t>MICH dual-scale 7/8 unit 개선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6850" y="1352550"/>
            <a:ext cx="2647950" cy="32766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300" y="1524000"/>
            <a:ext cx="23050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④ 잘못된 승인 감소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300" y="2057400"/>
            <a:ext cx="23050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12-domain common-backbone audit에서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unit-gain CI 조건을 추가해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근거가 약한 prior 승인을 걸러냄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15450" y="32385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58300" y="3486150"/>
            <a:ext cx="230505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retrospective policy audit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false accept 2 → 0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선택 정확도 .667 → .833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53000"/>
            <a:ext cx="11277600" cy="78105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6750" y="5067300"/>
            <a:ext cx="108585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ppleGothic"/>
              </a:rPr>
              <a:t>기여 효과  현재 평가 데이터셋에서 PP-X는 validation이 지지한 구조만 실행해 전역 prior/executor의 성능 붕괴를 줄이고, 평균 오차와 unit-level risk를 함께 관리했다.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2930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B1C1C"/>
                </a:solidFill>
                <a:latin typeface="Arial"/>
                <a:ea typeface="AppleGothic"/>
              </a:rPr>
              <a:t>범위  위 수치는 retrospective evidence다. 보지 않은 미래 cohort에서 같은 실패 감소를 보장한다는 주장은 하지 않는다.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10/42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도메인이 바뀌어도 덜 무너졌는가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동일 30후보 예산 · 9개 메인 setting  |  안정성은 seed뿐 아니라 도메인별 성공·실패와 편차로 본다.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52500"/>
          <a:ext cx="112776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4354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모델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macro 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도메인 SD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최악 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R²&gt;0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354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PP-X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0.174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54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Engression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0.257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0.949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−1.580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7/9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354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FT-Transformer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−2.010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7/9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54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plain MLP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0.093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1.007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−2.140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6/9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354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V-REx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0.071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−2.188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543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GroupDRO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0.011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0.998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−2.057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5/9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86250"/>
            <a:ext cx="11277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관측  PP-X만 9/9 양의 R² · 비교군 대비 SD가 작음 · Engression 대비 MAD .061 vs .280 (paired exact p=.0391).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참고  8개 모델 동시 Holm 보정은 비유의. 성공률·최악값·unit log-RMSE와 함께 해석한다.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48250"/>
            <a:ext cx="11277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기여  높은 평균 정확도만이 아니라, prior/executor 전역 오적용을 피하면서 도메인 간 실패와 편차를 줄였다.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25/42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잘 안 된 경우 — 왜 실패했는가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사후 추측이 아니라 matched ablation·unit 결과·validation/test 불일치로 확인된 원인만 남긴다.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33450"/>
            <a:ext cx="5429250" cy="20574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650" y="1066800"/>
            <a:ext cx="50863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① 제약이 실제 shift와 맞지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1428750"/>
            <a:ext cx="50863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MICH  fixed bound가 residual 용량을 과도하게 제한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R² .759(unbounded) → .468(fixed), Δ −.291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RWTH  dual-scale은 8/8 unit에서 악화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R² .878 → .842, BH q=.022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8650" y="2514600"/>
            <a:ext cx="50863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8650" y="2609850"/>
            <a:ext cx="50863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9F00"/>
                </a:solidFill>
                <a:latin typeface="Arial"/>
                <a:ea typeface="AppleGothic"/>
              </a:rPr>
              <a:t>교훈  좋은 제약도 전역 default로 켜면 negative transfer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5550" y="933450"/>
            <a:ext cx="5429250" cy="2057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0" y="1066800"/>
            <a:ext cx="50863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② validation evidence가 test로 이동하지 않음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1428750"/>
            <a:ext cx="50863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단순 validation PP/MLP 선택은 12개 중 7개만 정답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false accept 4개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CI 강화 정책도 retrospective 정확도 .833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즉 validation 점수만으로 보편적 전이를 보장하지 못함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77000" y="2514600"/>
            <a:ext cx="50863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77000" y="2609850"/>
            <a:ext cx="50863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Arial"/>
                <a:ea typeface="AppleGothic"/>
              </a:rPr>
              <a:t>교훈  unit risk와 CI가 필요하지만 미래 보장은 아님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19450"/>
            <a:ext cx="5429250" cy="20574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650" y="3352800"/>
            <a:ext cx="50863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③ prior 거절 뒤 fallback 표현력이 부족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" y="3714750"/>
            <a:ext cx="50863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DS03  prior route 거절 자체는 test-best PP-X route와 일치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하지만 Engression 대비 ΔR² −.0195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unit wins 1/6 · worst ratio 1.989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8650" y="4800600"/>
            <a:ext cx="50863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8650" y="4895850"/>
            <a:ext cx="50863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2B2"/>
                </a:solidFill>
                <a:latin typeface="Arial"/>
                <a:ea typeface="AppleGothic"/>
              </a:rPr>
              <a:t>교훈  안전한 선택과 최고 정확도는 서로 다른 문제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5550" y="3219450"/>
            <a:ext cx="5429250" cy="2057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0" y="3352800"/>
            <a:ext cx="50863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④ 구조를 학습할 정보가 부족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0" y="3714750"/>
            <a:ext cx="50863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Virkler late-tail은 test specimen당 2 rows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Residual-state·temporal projection은 val에서 off 선택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Prior-geometry는 val 승인 후 test RMSE +31.3%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worst-unit ratio 5.82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77000" y="4800600"/>
            <a:ext cx="50863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77000" y="4895850"/>
            <a:ext cx="50863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Arial"/>
                <a:ea typeface="AppleGothic"/>
              </a:rPr>
              <a:t>교훈  짧은 tail에서 복잡한 trajectory head는 과적합 위험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8165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B1C1C"/>
                </a:solidFill>
                <a:latin typeface="Arial"/>
                <a:ea typeface="AppleGothic"/>
              </a:rPr>
              <a:t>정리  PP-X가 실패를 없앤 것이 아니다. 현재 증거는 ‘어떤 구조가 왜 무너졌는지 식별하고, 해로운 route를 전역 적용하지 않는 것’까지 지지한다.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28/42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연구 루트 — 식의 근거에 따라 두 경로로 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식이 없거나 약한 prior만 있으면 PP-X, 적용 가능한 식이 정당화되면 PAE로 확장한다.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66950" y="819150"/>
            <a:ext cx="7658100" cy="51435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19350" y="914400"/>
            <a:ext cx="73533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AppleGothic"/>
              </a:rPr>
              <a:t>목표  ·  근거 수준에 맞는 강건한 외삽 프레임워크 구축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5450"/>
            <a:ext cx="2381250" cy="81915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0550" y="1790700"/>
            <a:ext cx="21145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사용 가능한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550" y="2076450"/>
            <a:ext cx="21145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관측 · 경계 · 도메인 지식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14650" y="1952625"/>
            <a:ext cx="514350" cy="28575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3638550" y="1562100"/>
            <a:ext cx="2857500" cy="1104900"/>
          </a:xfrm>
          <a:prstGeom prst="diamond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적용 가능한 후보식이
정당화되는가?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67300" y="2667000"/>
            <a:ext cx="0" cy="114300"/>
          </a:xfrm>
          <a:prstGeom prst="line">
            <a:avLst/>
          </a:prstGeom>
          <a:ln w="1587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47850" y="2781300"/>
            <a:ext cx="6438900" cy="0"/>
          </a:xfrm>
          <a:prstGeom prst="line">
            <a:avLst/>
          </a:prstGeom>
          <a:ln w="1587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own Arrow 14"/>
          <p:cNvSpPr/>
          <p:nvPr/>
        </p:nvSpPr>
        <p:spPr>
          <a:xfrm>
            <a:off x="1676400" y="2724150"/>
            <a:ext cx="342900" cy="323850"/>
          </a:xfrm>
          <a:prstGeom prst="downArrow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8115300" y="2724150"/>
            <a:ext cx="342900" cy="323850"/>
          </a:xfrm>
          <a:prstGeom prst="downArrow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95500" y="2647950"/>
            <a:ext cx="57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7600" y="2647950"/>
            <a:ext cx="57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E69F00"/>
                </a:solidFill>
                <a:latin typeface="Arial"/>
                <a:ea typeface="AppleGothic"/>
              </a:rPr>
              <a:t>YES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05150"/>
            <a:ext cx="4953000" cy="139065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650" y="3219450"/>
            <a:ext cx="46101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2B2"/>
                </a:solidFill>
                <a:latin typeface="Arial"/>
                <a:ea typeface="AppleGothic"/>
              </a:rPr>
              <a:t>PP-X  |  식이 없거나 약할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600450"/>
            <a:ext cx="4495800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weak prior + bounded residual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Validation evidence로 executor 승인 · 실패 시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81800" y="3105150"/>
            <a:ext cx="4953000" cy="139065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3250" y="3219450"/>
            <a:ext cx="46101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9F00"/>
                </a:solidFill>
                <a:latin typeface="Arial"/>
                <a:ea typeface="AppleGothic"/>
              </a:rPr>
              <a:t>PAE  |  검증된 식이 있을 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3600450"/>
            <a:ext cx="4495800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validated equation + 제한 NN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source gate · 이득 없으면 PP-X로 복귀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762250" y="4552950"/>
            <a:ext cx="342900" cy="3048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9086850" y="4552950"/>
            <a:ext cx="342900" cy="3048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266950" y="4914900"/>
            <a:ext cx="7658100" cy="5905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00300" y="5010150"/>
            <a:ext cx="739140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공통 Assurance  ·  믿기 / 보류 / 거절  →  두 경로를 하나의 외삽 프레임워크로 통합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3880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현재 발표 범위: PP-X  ·  후속 확장: PAE + 통합 Assurance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4/42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약한 prior란 무엇인가 — C1에서 허용하는 믿음의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Prior와 executor를 분리해서 읽는다. contract가 prior 후보를 열고 validation이 executor를 승인한다.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약한 prior = 경계·방향·저복잡도 기본 추세.  ‘Affine’은 함수형, ‘latent/quotient’는 예측 대상이다.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19200"/>
          <a:ext cx="1127760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층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후보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허용 조건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역할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A · 경계형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BQ: 경계거리 × 단위거리당 잔여수명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EOL 경계를 미리 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경계에서 RUL=0 보장. quotient 추세를 Ridge로 학습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B · 비경계형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Direct affine: causal X→RUL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known_boundary=False (Final)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RUL 기본 추세를 Ridge로 직접 학습. Final은 끄지 않음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bounded · dual-scale · history · transport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해당 contract flag + Val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prior를 제한적으로 수정·보정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Fallback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direct / persistence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 Val FAIL (Final)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prior-residual 경로를 사용하지 않음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25755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72B2"/>
                </a:solidFill>
                <a:latin typeface="Arial"/>
                <a:ea typeface="AppleGothic"/>
              </a:rPr>
              <a:t>차이  BQ는 margin=(현재 health−EOL 경계)을 먼저 곱해 끝점 0을 고정한다. Direct affine은 경계를 강제하지 않고 RUL을 바로 회귀한다.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562350"/>
          <a:ext cx="11277600" cy="1962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32702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실제 route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Prior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선택 executor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Sunwoda · RWTH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BQ latent-affine Ridge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bounded latent residual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BQ latent-affine Ridge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support-adaptive dual-scale 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· N-CMAPSS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Direct-RUL affine Ridge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latent-regime + multiscale history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HUST · MATR-b2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Direct-RUL affine+residual PP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validation-LOO output transport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FEMTO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v1_declared OFF (9-setting 아님)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neural safety 보관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5/42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PP-X 게이트 전체도 — 어디서 승인·거절되나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한 장으로 보는 분기. 왼쪽은 Prior 켤지, 오른쪽은 executor를 Val로 쓸지.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057400" cy="1143000"/>
          </a:xfrm>
          <a:prstGeom prst="rect">
            <a:avLst/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9906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Step 1 · C1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95400"/>
            <a:ext cx="190500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경계·후보·fallback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미리 선언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7000" y="914400"/>
            <a:ext cx="2057400" cy="11430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9906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Step 2 · C1 Prior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295400"/>
            <a:ext cx="190500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select_ppx_route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BQ 또는 affine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0" y="914400"/>
            <a:ext cx="2057400" cy="1143000"/>
          </a:xfrm>
          <a:prstGeom prst="rect">
            <a:avLst/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3000" y="9906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Step 3 · C2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0" y="1295400"/>
            <a:ext cx="190500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prior + bounded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residual 학습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914400"/>
            <a:ext cx="2057400" cy="1143000"/>
          </a:xfrm>
          <a:prstGeom prst="rect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62800" y="9906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9F00"/>
                </a:solidFill>
                <a:latin typeface="Arial"/>
                <a:ea typeface="AppleGothic"/>
              </a:rPr>
              <a:t>Step 4 · C3 Approve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2800" y="1295400"/>
            <a:ext cx="190500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Executor gate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Val 2%·60%·1.10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96400" y="914400"/>
            <a:ext cx="2057400" cy="1143000"/>
          </a:xfrm>
          <a:prstGeom prst="rect">
            <a:avLst/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9906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Step 5 · Freeze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295400"/>
            <a:ext cx="190500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C3 이후 실행 규칙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route or fallback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14600" y="1333500"/>
            <a:ext cx="152400" cy="2667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4724400" y="1333500"/>
            <a:ext cx="152400" cy="2667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6934200" y="1333500"/>
            <a:ext cx="152400" cy="2667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9144000" y="1333500"/>
            <a:ext cx="152400" cy="2667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381250"/>
            <a:ext cx="5524500" cy="190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2495550"/>
            <a:ext cx="521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Step 2 · Final은 Prior를 끄지 않음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2819400"/>
            <a:ext cx="52197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경계 있음 → BQ (ON)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경계 없음 → affine (ON)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OOF / group / mode는 계산하지 않음.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neural_safety는 v1_declared 보관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(DS03 · FEMTO만).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0300" y="2381250"/>
            <a:ext cx="5524500" cy="190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2700" y="2495550"/>
            <a:ext cx="521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Step 4 · C3 Executor gate에서 거절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2700" y="2819400"/>
            <a:ext cx="52197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Prior는 ON이었지만 Val 미달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→ Direct fallback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미달 조건 (하나라도):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Gain &lt; 2%  ·  Unit wins &lt; 60%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Worst ratio &gt; 1.10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112776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승인되는 유일한 길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Contract 선언 → Prior ON → residual fit → Val 세 조건 PASS → route 1개 고정.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test label로는 route를 바꾸지 않는다.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476875"/>
            <a:ext cx="112776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암기  Prior gate = BQ vs affine  ·  Executor gate = 어떤 PP  ·  Val FAIL → fallback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6/42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Prior gate — known_boundary가 가르는 분기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select_ppx_route.  고장 시점≠고장 조건.  여기서 Prior ON/OFF만 결정한다.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91000" y="838200"/>
            <a:ext cx="3810000" cy="3810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86250" y="895350"/>
            <a:ext cx="3619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AppleGothic"/>
              </a:rPr>
              <a:t>known_boundary 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28750"/>
            <a:ext cx="5334000" cy="30480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1543050"/>
            <a:ext cx="5029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TRUE → boundary_pp  ·  BQ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905000"/>
            <a:ext cx="5029200" cy="238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의미  고장 조건(경계)을 안다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예) capacity≤80%, crack 33 mm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≠ “몇 사이클 뒤 고장”을 아는 것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검사  OOF / group / mode 없음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결과  prior_weight=1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다음  Step 3 · C2 fit → Step 4 · C3 executor gate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28750"/>
            <a:ext cx="5334000" cy="3048000"/>
          </a:xfrm>
          <a:prstGeom prst="rect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200" y="1543050"/>
            <a:ext cx="5029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FALSE → affine  ·  Prior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1905000"/>
            <a:ext cx="5029200" cy="238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Final은 사다리를 돌리지 않음.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경계가 없으면 affine prior를 켠다.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OOF regret / group 수 / mode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stability는 계산하지 않음.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그 검사는 v1_declared 보관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(DS03 · FEMTO 역사 감사만).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625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차이 한 줄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경계 있음 = BQ.  경계 없음 = affine.  둘 다 Prior ON.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Final에서 Prior OFF는 없다. 거절은 Executor Val FAIL만.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7/42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C3 Executor gate — Val에서 승인·거절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select_paper_ppx.  Prior ON일 때만 진입.  Contract flag가 연 후보만 비교.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76300"/>
            <a:ext cx="11277600" cy="838200"/>
          </a:xfrm>
          <a:prstGeom prst="rect">
            <a:avLst/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952500"/>
            <a:ext cx="10972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후보 (contract가 연 것만)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192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prior-only  ·  unbounded  ·  bounded  ·  dual*  ·  transport*  ·  history*  ·  direct fallback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* dual/transport/history = 해당 flag True일 때만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85950"/>
            <a:ext cx="3810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세 조건 AND (전부 PASS여야 승인)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0750"/>
            <a:ext cx="3505200" cy="9525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450" y="2286000"/>
            <a:ext cx="3314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Gain ≥ 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2590800"/>
            <a:ext cx="33147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Val MSE가 fallback보다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상대 2% 이상 작음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1000" y="2190750"/>
            <a:ext cx="3505200" cy="9525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6250" y="2286000"/>
            <a:ext cx="3314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Unit wins ≥ 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6250" y="2590800"/>
            <a:ext cx="33147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물리 unit RMSE에서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fallback 대비 승률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4800" y="2190750"/>
            <a:ext cx="3505200" cy="9525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0050" y="2286000"/>
            <a:ext cx="3314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Worst ≤ 1.10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0050" y="2590800"/>
            <a:ext cx="33147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최악 unit RMSE 비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fallback 대비 ≤1.10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29000"/>
            <a:ext cx="5334000" cy="13335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35433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PASS → 승인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3886200"/>
            <a:ext cx="50292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통과 후보 중 Val loss 최소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(동점이면 더 단순한 executor)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→ 그 route 1개를 test 전에 동결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429000"/>
            <a:ext cx="5334000" cy="1333500"/>
          </a:xfrm>
          <a:prstGeom prst="rect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5433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FAIL → 거절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3886200"/>
            <a:ext cx="50292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어떤 prior-residual도 세 조건 미달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→ Direct / persistence fallback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(사전 contract에 적은 것)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72050"/>
            <a:ext cx="1127760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분기명  boundary_pp = BQ ON  ·  transferable_prior = affine ON  ·  neural_safety = v1_declared만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Final은 Prior를 끄지 않음  ·  Executor FAIL은 비교했지만 Val 위험 때문에 사전 fallback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8/42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분기 사전 — 이름 · 언제 ·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발표에서 나오는 route 이름을 이 표로만 맞춰 읽으면 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76300"/>
          <a:ext cx="112776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이름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언제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Prior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다음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boundary_pp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known_boundary=True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ON · BQ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 gate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transferable_prior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known_boundary=False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ON · affine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 gate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neural_safety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v1_declared만 (Final 아님)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바로 fallback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승인 executor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ON + Val 2/60/1.10 PASS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route freeze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Direct fallback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 Val FAIL (Final)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예측만, PP 경로 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810000"/>
            <a:ext cx="5524500" cy="1428750"/>
          </a:xfrm>
          <a:prstGeom prst="rect">
            <a:avLst/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3924300"/>
            <a:ext cx="521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C2가 하는 일 (게이트 사이)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267200"/>
            <a:ext cx="52197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Prior ON일 때만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ŷ ≈ prior + bounded residual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NN이 prior를 뒤집지 못하게 수정폭 제한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300" y="3810000"/>
            <a:ext cx="5524500" cy="142875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2700" y="3924300"/>
            <a:ext cx="521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2"/>
                </a:solidFill>
                <a:latin typeface="Arial"/>
                <a:ea typeface="AppleGothic"/>
              </a:rPr>
              <a:t>두 함수 분리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2700" y="4267200"/>
            <a:ext cx="52197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select_ppx_route  = Prior 쓸지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select_paper_ppx = 어떤 executor인지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혼동하면 분기 설명이 꼬인다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13/42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게이트 복습 — 20초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7–10장을 한 문장으로. 상세 분기는 위 네 장.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776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1) Contract로 후보·fallback을 선언한다.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2) known_boundary면 BQ, 아니면 affine. Final은 둘 다 Prior ON.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3) prior+residual을 학습한다. OOF 사다리는 돌리지 않는다.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4) Val에서 Gain·Unit wins·Worst를 통과한 executor만 freeze.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Arial"/>
                <a:ea typeface="AppleGothic"/>
              </a:rPr>
              <a:t>5) Val 실패면 사전 fallback. test로 route를 고치지 않는다.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195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2B2"/>
                </a:solidFill>
                <a:latin typeface="Arial"/>
                <a:ea typeface="AppleGothic"/>
              </a:rPr>
              <a:t>known_boundary = 고장 조건(경계)을 안다 ≠ 고장 시점을 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14/42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발표용 30초 — 게이트만 말하면 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20분이면 7–10 + 주결과 + DS03. C1/C2/C3 서사는 게이트 안에 이미 들어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30초 스크립트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5400"/>
            <a:ext cx="112776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PP-X Final은 Prior를 경계로만 고릅니다.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경계를 알면 BQ, 모르면 affine입니다. 둘 다 켭니다.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OOF regret이나 mode stability는 Final에서 계산하지 않습니다.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residual을 붙인 뒤, Val에서 2%·60%·1.10을 통과한 executor만 남깁니다.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여기서 실패하면 사전 fallback입니다.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3429000"/>
            <a:ext cx="1127760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619500"/>
          <a:ext cx="112776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/>
                <a:gridCol w="56388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구분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짧게 외울 한 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gate → (ON이면) Executor gate → Freeze / Fallback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20분 경로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기여 · 게이트 7–10 · 주결과 · 비교 1장 · DS03 · 한계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질문 대비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분기 이름은 10장 표. known_boundary=고장 조건.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15/42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방법 — 최종 PP-X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C1 contract → C2 prior-residual core → C3 unit approval → frozen execution / fallback</a:t>
            </a:r>
          </a:p>
        </p:txBody>
      </p:sp>
      <p:pic>
        <p:nvPicPr>
          <p:cNvPr id="6" name="Picture 5" descr="ppx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742950"/>
            <a:ext cx="7239000" cy="381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24750" y="819150"/>
          <a:ext cx="4267200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</a:tblGrid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기여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PP-X가 하는 일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C1 Declare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경계·unit·causal X·허용 prior·fallback 선언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C2 Learn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기본 경로 + bounded 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C3 Approve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validation 평균·unit wins·worst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24750" y="3314700"/>
          <a:ext cx="42672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승인 규칙 (val/source만)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조건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admissibility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known_boundary → BQ, 아니면 affine (Final)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 gain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validation RMSE 상대 2% 이상 개선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 wins ≥60% · worst ratio ≤1.10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실행 규칙 / 거절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승인 route 1개 고정, 아니면 사전 fallback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90500" y="4648200"/>
            <a:ext cx="723900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모든 데이터셋에서 같은 optional module을 켜지 않는다. 공통점은 prior와 residual의 역할을 분리하고, contract가 허용한 executor만 validation에서 승인한다.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route가 승인되지 않으면 해당 contract에 미리 적은 direct·persistence fallback 또는 abstention으로 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" y="5715000"/>
            <a:ext cx="11525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버전 번호 혼동을 피하기 위해 논문과 본 발표에서는 ‘PP-X Algorithm 1’로만 표기한다.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9/42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PP-X Algorithm 1 — C1~C3 + 실행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Declare → Learn → Approve → Freeze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47750"/>
          <a:ext cx="112776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단계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이름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① C1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Typed contract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boundary · progression · history · regime · support · 허용 prior · fallback 선언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② 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Prior-residual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기본 경로 고정 + bounded residual 학습 (과도한 수정 차단)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③ C3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 approval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validation gain ≥2% · unit wins ≥60% · worst ratio ≤1.10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④ 실행 규칙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Frozen output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승인 executor 1개 고정, 또는 사전 fallback. test에서 route 불변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7675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논문 메인 = PP-X 선택 알고리즘. CCMR은 trajectory risk-aware executor 사례일 뿐, 12개 과거 route가 하나의 동일 NN이라는 뜻은 아니다.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48250"/>
            <a:ext cx="112776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동결  protocols/PPX_PAPER_METHOD_V1_FROZEN_PROTOCOL.md  ·  구현  paper_ppx.py  ·  선택 함수는 test outcome 인자를 받지 않음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17/42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외삽 구간을 어떻게 정하는가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학습이 본 건강 범위보다 더 진행된 관측만 점수로 친다</a:t>
            </a:r>
          </a:p>
        </p:txBody>
      </p:sp>
      <p:pic>
        <p:nvPicPr>
          <p:cNvPr id="6" name="Picture 5" descr="extrapolation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19150"/>
            <a:ext cx="6858000" cy="33337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4250" y="838200"/>
          <a:ext cx="44005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275"/>
                <a:gridCol w="2200275"/>
              </a:tblGrid>
              <a:tr h="41671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절차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경계, 유닛, 시간, 입력, 외삽 좌표를 먼저 고정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학습·검증·시험에 같은 유닛을 넣지 않음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학습에는 본 적 있는 건강 구간만 사용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검증·시험에는 그 범위 밖 관측만 남김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정규화 통계는 학습 분할에서만 계산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모델과 executor는 검증에서만 선택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67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고정한 시험 분할은 한 번만 예측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42900" y="4305300"/>
            <a:ext cx="11430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세로선은 학습에서 관측한 최저 건강이다. 그보다 더 나빠진 구간(오른쪽)만 검증·시험 점수에 넣는다.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같은 유닛의 미래 값, 최종 수명, 시험 궤적에서 만든 통계는 입력에 쓰지 않는다. 이 조건을 어기면 내삽 평가가 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5353050"/>
            <a:ext cx="11430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자르는 규칙은 같다. 외삽 geometry는 셋마다 다르므로 다음 장에서 1D와 다차원을 구분해 적는다.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11/42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외삽을 숫자로 확인하는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1D 열화좌표 기준이다. 전체 feature-space hull 밖이라고 말하지 않는다.</a:t>
            </a:r>
          </a:p>
        </p:txBody>
      </p:sp>
      <p:pic>
        <p:nvPicPr>
          <p:cNvPr id="6" name="Picture 5" descr="hull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781050"/>
            <a:ext cx="4953000" cy="381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238750" y="781050"/>
          <a:ext cx="6572248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062"/>
                <a:gridCol w="1643062"/>
                <a:gridCol w="1643062"/>
                <a:gridCol w="1643062"/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셋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1D Hull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거리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성격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선우다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4.42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셀 · 늦은 건강. 매우 명확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아헨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2.87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셀 · 늦은 건강. 매우 명확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건강 support 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미시간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3.43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셀 · 늦은 건강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실험셀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셀 · 건강 tail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화중 배터리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1.61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유닛 · 충전법/말기. 1D 기준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알루미늄 균열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시편 · 균열 tail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배치2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100% · PCA2 0% · PCA3 99.2%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항공기 엔진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100% · PCA2 0% · PCA3 83.6% · 조건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0500" y="4743450"/>
            <a:ext cx="118110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오늘 그림에는 1D ordered-coordinate 기준의 엄격한 외삽만 남긴다. XJTU·FEMTO·NASA milling은 도메인/재료 transfer라 이 표에 없다.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1D Hull-out 100%는 ‘선언한 건강·균열·조건 축’ 밖이지, 전체 특징공간 convex hull 밖이 아니다. 배치2와 엔진은 PCA 2D에서 0%다.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엔진은 거리 0.23 SD·Target-out 0%라 먼 수명 외삽이 아니라 운전조건(regime) 외삽이다.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12/42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프로토콜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점수는 이 범위 안에서만 읽는다  ·  적합도는 허가증이지 성적표가 아니다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52500"/>
          <a:ext cx="11277600" cy="238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규칙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의미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깨지면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unit-disjoint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train / val / test 셀이 겹치지 않음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같은 유닛 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hull-out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선언한 1D 열화좌표에서 test가 train 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내삽으로 바뀜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게이트·보정을 val에서만 고름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test로 튜닝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Pass / Weak / Fail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운행 허가. Fail이면 예측을 옮기지 않음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억지 점수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619500"/>
          <a:ext cx="5524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/>
                <a:gridCol w="276225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In scope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예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late-tail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 · RWTH · MICH · MATR2019 · NASA · Virkler · HUST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+ 다차원 설명 필요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MATRb2 · N-CMAPSS (PCA2는 0%)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train/val · group-LOO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0300" y="3619500"/>
          <a:ext cx="5524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/>
                <a:gridCol w="276225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오늘 표에 없음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이유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전체 feature hull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100% ≠ 다차원 hull 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도메인 / 재료 transfer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조건·끝점·재질 이동은 다른 종류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C-MAPSS FD002/004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조건 hull은 강하나 이번 주표 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13/42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주 결과 — 최종 PP-X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1D 열화좌표 기준의 엄격한 외삽만.  retrospective development 결과  ·  PAE 없음</a:t>
            </a:r>
          </a:p>
        </p:txBody>
      </p:sp>
      <p:pic>
        <p:nvPicPr>
          <p:cNvPr id="6" name="Picture 5" descr="ppx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1050"/>
            <a:ext cx="6477000" cy="37147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838200"/>
          <a:ext cx="4876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셋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Executor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화중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transport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선우다 상용셀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BQ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항공기 엔진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multiscale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알루미늄 균열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gated 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아헨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배치2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decay+transport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미시간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실험셀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multiscale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0.584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affine latent-regime + Val calibration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42900" y="4648200"/>
            <a:ext cx="3810000" cy="16002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" y="4648200"/>
            <a:ext cx="76200" cy="16002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" y="4743450"/>
            <a:ext cx="3429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2"/>
                </a:solidFill>
                <a:latin typeface="Arial"/>
                <a:ea typeface="AppleGothic"/>
              </a:rPr>
              <a:t>Li 배터리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4991100"/>
            <a:ext cx="3429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화중·선우다·아헨·미시간 리튬셀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MIT 수명 벤치 (2019 / 배치2)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NASA 실험용 18650  (로켓 아님)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5300" y="4648200"/>
            <a:ext cx="3619500" cy="1600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5300" y="4648200"/>
            <a:ext cx="76200" cy="1600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5800" y="4743450"/>
            <a:ext cx="32385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균열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800" y="4991100"/>
            <a:ext cx="32385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알루미늄 판에 금이 감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항공기 재료 피로실험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배터리 아님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648200"/>
            <a:ext cx="3771900" cy="16002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200" y="4648200"/>
            <a:ext cx="76200" cy="160020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7700" y="4743450"/>
            <a:ext cx="3390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9F00"/>
                </a:solidFill>
                <a:latin typeface="Arial"/>
                <a:ea typeface="AppleGothic"/>
              </a:rPr>
              <a:t>엔진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700" y="4991100"/>
            <a:ext cx="33909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항공기 엔진 시뮬레이터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처음 보는 비행조건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실제 비행기 데이터가 아님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14/42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dual-scale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executor 하나  ·  모든 데이터에 켜는 기본값이 아니다</a:t>
            </a:r>
          </a:p>
        </p:txBody>
      </p:sp>
      <p:pic>
        <p:nvPicPr>
          <p:cNvPr id="6" name="Picture 5" descr="abla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81050"/>
            <a:ext cx="11734800" cy="409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53000"/>
            <a:ext cx="55245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(a) 결론  고정 bound는 Sun·RWTH에서는 높지만 MICH를 0.468에 묶는다. dual-scale을 켠 뒤에야 MICH가 0.751이 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953000"/>
            <a:ext cx="54483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(b) 결론  평균을 조금 낮추고 최저 점수를 올린 선택이다. 데이터별 최고점을 모은 모델이 아니다.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15/42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구성요소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켠 모델 − matched 제거 arm  ·  ΔR²</a:t>
            </a:r>
          </a:p>
        </p:txBody>
      </p:sp>
      <p:pic>
        <p:nvPicPr>
          <p:cNvPr id="6" name="Picture 5" descr="ablation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38200"/>
            <a:ext cx="7239000" cy="381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15250" y="838200"/>
          <a:ext cx="409575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50"/>
                <a:gridCol w="1365250"/>
                <a:gridCol w="1365250"/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기능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대표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ΔR²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Residual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+0.658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+3.811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Frozen affine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bound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+0.221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−0.291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+0.283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Rate hist.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RWTH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+1.256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3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Transport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+0.187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42900" y="4953000"/>
            <a:ext cx="72390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결론  residual은 세 배터리에서 모두 이득이다. 고정 bound와 full history는 MICH에서 마이너스다. 그래서 모듈을 쌓지 않고, 근거 있는 executor만 켠다.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16/42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대조군 ·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(a) matched 6-arm  ·  (b) causal history</a:t>
            </a:r>
          </a:p>
        </p:txBody>
      </p:sp>
      <p:pic>
        <p:nvPicPr>
          <p:cNvPr id="6" name="Picture 5" descr="ablation_a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838200"/>
            <a:ext cx="6000750" cy="3810000"/>
          </a:xfrm>
          <a:prstGeom prst="rect">
            <a:avLst/>
          </a:prstGeom>
        </p:spPr>
      </p:pic>
      <p:pic>
        <p:nvPicPr>
          <p:cNvPr id="7" name="Picture 6" descr="ablation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838200"/>
            <a:ext cx="5715000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762500"/>
            <a:ext cx="112395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(a) 결론  Affine만, 또는 그냥 NN만으로는 부족하다. 동결 affine 위에 제한 residual을 올린 조합이 세 셋에서 가장 안정하다.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(b) 결론  속도 이력은 Sun·RWTH에 필요하고, MICH에서는 단순한 margin history가 더 높다(0.715 vs 0.468). 이력을 전역 기본값으로 두지 않는다.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17/42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transport ·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optional executor는 항상 켜지 않는다</a:t>
            </a:r>
          </a:p>
        </p:txBody>
      </p:sp>
      <p:pic>
        <p:nvPicPr>
          <p:cNvPr id="6" name="Picture 5" descr="ablation_ma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52500"/>
            <a:ext cx="4762500" cy="4000500"/>
          </a:xfrm>
          <a:prstGeom prst="rect">
            <a:avLst/>
          </a:prstGeom>
        </p:spPr>
      </p:pic>
      <p:pic>
        <p:nvPicPr>
          <p:cNvPr id="7" name="Picture 6" descr="stats_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952500"/>
            <a:ext cx="6477000" cy="381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1000" y="4933950"/>
            <a:ext cx="1143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(a) 결론  MATRb2에서 transport가 주효과(+0.187)다. decay만으로는 +0.002다. 둘을 같이 켜야 0.862다.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(b) 결론  gate는 성능을 만드는 장치가 아니라 거절 장치다. 13곳 중 3곳만 개선, 10곳은 유지, 악화 0. seed는 5/5일 때만 승인한다.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18/42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데이터셋별 executor 유의성 — 왜 gate가 필요한가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칸 = ΔR² / BH q  ·  파랑=유의 개선  ·  주황=유의 악화  ·  회색=미확증  ·  —=contract 비적용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952500"/>
            <a:ext cx="1676400" cy="400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950" y="1038225"/>
            <a:ext cx="15621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ppleGothic"/>
              </a:rPr>
              <a:t>데이터셋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200" y="952500"/>
            <a:ext cx="1981200" cy="400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8825" y="1038225"/>
            <a:ext cx="18859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ppleGothic"/>
              </a:rPr>
              <a:t>Bounded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2400" y="952500"/>
            <a:ext cx="1981200" cy="400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10025" y="1038225"/>
            <a:ext cx="18859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ppleGothic"/>
              </a:rPr>
              <a:t>Dual-scale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952500"/>
            <a:ext cx="1981200" cy="400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1225" y="1038225"/>
            <a:ext cx="18859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ppleGothic"/>
              </a:rPr>
              <a:t>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4800" y="952500"/>
            <a:ext cx="1981200" cy="400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2425" y="1038225"/>
            <a:ext cx="18859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ppleGothic"/>
              </a:rPr>
              <a:t>Dist. decay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0" y="952500"/>
            <a:ext cx="1981200" cy="400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53625" y="1038225"/>
            <a:ext cx="18859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ppleGothic"/>
              </a:rPr>
              <a:t>Transport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4800" y="1352550"/>
            <a:ext cx="16764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1000" y="1495425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Arial"/>
                <a:ea typeface="AppleGothic"/>
              </a:rPr>
              <a:t>Sunwoda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1200" y="1352550"/>
            <a:ext cx="1981200" cy="51435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28825" y="14287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72B2"/>
                </a:solidFill>
                <a:latin typeface="Arial"/>
                <a:ea typeface="AppleGothic"/>
              </a:rPr>
              <a:t>+.221</a:t>
            </a:r>
          </a:p>
          <a:p>
            <a:pPr algn="ctr"/>
            <a:r>
              <a:rPr sz="1000" b="1">
                <a:solidFill>
                  <a:srgbClr val="0072B2"/>
                </a:solidFill>
                <a:latin typeface="Arial"/>
                <a:ea typeface="AppleGothic"/>
              </a:rPr>
              <a:t>q=.033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2400" y="1352550"/>
            <a:ext cx="1981200" cy="514350"/>
          </a:xfrm>
          <a:prstGeom prst="rect">
            <a:avLst/>
          </a:prstGeom>
          <a:solidFill>
            <a:srgbClr val="F5F5F5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0025" y="14287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−.005</a:t>
            </a:r>
          </a:p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q=.758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352550"/>
            <a:ext cx="1981200" cy="51435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225" y="14287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72B2"/>
                </a:solidFill>
                <a:latin typeface="Arial"/>
                <a:ea typeface="AppleGothic"/>
              </a:rPr>
              <a:t>+.350</a:t>
            </a:r>
          </a:p>
          <a:p>
            <a:pPr algn="ctr"/>
            <a:r>
              <a:rPr sz="1000" b="1">
                <a:solidFill>
                  <a:srgbClr val="0072B2"/>
                </a:solidFill>
                <a:latin typeface="Arial"/>
                <a:ea typeface="AppleGothic"/>
              </a:rPr>
              <a:t>q=.020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4800" y="135255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2425" y="14287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06000" y="135255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53625" y="14287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4800" y="1866900"/>
            <a:ext cx="1676400" cy="514350"/>
          </a:xfrm>
          <a:prstGeom prst="rect">
            <a:avLst/>
          </a:prstGeom>
          <a:solidFill>
            <a:srgbClr val="F5F5F5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000" y="2009775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Arial"/>
                <a:ea typeface="AppleGothic"/>
              </a:rPr>
              <a:t>RWTH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1200" y="1866900"/>
            <a:ext cx="1981200" cy="514350"/>
          </a:xfrm>
          <a:prstGeom prst="rect">
            <a:avLst/>
          </a:prstGeom>
          <a:solidFill>
            <a:srgbClr val="F5F5F5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28825" y="194310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+.090</a:t>
            </a:r>
          </a:p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q=.156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62400" y="1866900"/>
            <a:ext cx="1981200" cy="514350"/>
          </a:xfrm>
          <a:prstGeom prst="rect">
            <a:avLst/>
          </a:prstGeom>
          <a:solidFill>
            <a:srgbClr val="FDF4E3"/>
          </a:solidFill>
          <a:ln w="15875">
            <a:solidFill>
              <a:srgbClr val="9B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10025" y="194310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B1C1C"/>
                </a:solidFill>
                <a:latin typeface="Arial"/>
                <a:ea typeface="AppleGothic"/>
              </a:rPr>
              <a:t>−.037</a:t>
            </a:r>
          </a:p>
          <a:p>
            <a:pPr algn="ctr"/>
            <a:r>
              <a:rPr sz="1000" b="1">
                <a:solidFill>
                  <a:srgbClr val="9B1C1C"/>
                </a:solidFill>
                <a:latin typeface="Arial"/>
                <a:ea typeface="AppleGothic"/>
              </a:rPr>
              <a:t>q=.022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1866900"/>
            <a:ext cx="1981200" cy="51435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91225" y="194310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72B2"/>
                </a:solidFill>
                <a:latin typeface="Arial"/>
                <a:ea typeface="AppleGothic"/>
              </a:rPr>
              <a:t>+1.256</a:t>
            </a:r>
          </a:p>
          <a:p>
            <a:pPr algn="ctr"/>
            <a:r>
              <a:rPr sz="1000" b="1">
                <a:solidFill>
                  <a:srgbClr val="0072B2"/>
                </a:solidFill>
                <a:latin typeface="Arial"/>
                <a:ea typeface="AppleGothic"/>
              </a:rPr>
              <a:t>q=.022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24800" y="186690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2425" y="194310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06000" y="186690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53625" y="194310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4800" y="2381250"/>
            <a:ext cx="16764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1000" y="2524125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Arial"/>
                <a:ea typeface="AppleGothic"/>
              </a:rPr>
              <a:t>MICH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1200" y="2381250"/>
            <a:ext cx="1981200" cy="514350"/>
          </a:xfrm>
          <a:prstGeom prst="rect">
            <a:avLst/>
          </a:prstGeom>
          <a:solidFill>
            <a:srgbClr val="FDF4E3"/>
          </a:solidFill>
          <a:ln w="15875">
            <a:solidFill>
              <a:srgbClr val="9B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28825" y="24574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B1C1C"/>
                </a:solidFill>
                <a:latin typeface="Arial"/>
                <a:ea typeface="AppleGothic"/>
              </a:rPr>
              <a:t>−.291</a:t>
            </a:r>
          </a:p>
          <a:p>
            <a:pPr algn="ctr"/>
            <a:r>
              <a:rPr sz="1000" b="1">
                <a:solidFill>
                  <a:srgbClr val="9B1C1C"/>
                </a:solidFill>
                <a:latin typeface="Arial"/>
                <a:ea typeface="AppleGothic"/>
              </a:rPr>
              <a:t>q=.033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62400" y="2381250"/>
            <a:ext cx="1981200" cy="51435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10025" y="24574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72B2"/>
                </a:solidFill>
                <a:latin typeface="Arial"/>
                <a:ea typeface="AppleGothic"/>
              </a:rPr>
              <a:t>+.283</a:t>
            </a:r>
          </a:p>
          <a:p>
            <a:pPr algn="ctr"/>
            <a:r>
              <a:rPr sz="1000" b="1">
                <a:solidFill>
                  <a:srgbClr val="0072B2"/>
                </a:solidFill>
                <a:latin typeface="Arial"/>
                <a:ea typeface="AppleGothic"/>
              </a:rPr>
              <a:t>q=.033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381250"/>
            <a:ext cx="1981200" cy="514350"/>
          </a:xfrm>
          <a:prstGeom prst="rect">
            <a:avLst/>
          </a:prstGeom>
          <a:solidFill>
            <a:srgbClr val="FDF4E3"/>
          </a:solidFill>
          <a:ln w="15875">
            <a:solidFill>
              <a:srgbClr val="9B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225" y="24574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B1C1C"/>
                </a:solidFill>
                <a:latin typeface="Arial"/>
                <a:ea typeface="AppleGothic"/>
              </a:rPr>
              <a:t>−.204</a:t>
            </a:r>
          </a:p>
          <a:p>
            <a:pPr algn="ctr"/>
            <a:r>
              <a:rPr sz="1000" b="1">
                <a:solidFill>
                  <a:srgbClr val="9B1C1C"/>
                </a:solidFill>
                <a:latin typeface="Arial"/>
                <a:ea typeface="AppleGothic"/>
              </a:rPr>
              <a:t>q=.042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24800" y="238125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72425" y="24574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06000" y="238125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53625" y="24574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4800" y="2895600"/>
            <a:ext cx="1676400" cy="514350"/>
          </a:xfrm>
          <a:prstGeom prst="rect">
            <a:avLst/>
          </a:prstGeom>
          <a:solidFill>
            <a:srgbClr val="F5F5F5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1000" y="3038475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Arial"/>
                <a:ea typeface="AppleGothic"/>
              </a:rPr>
              <a:t>NASA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81200" y="289560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28825" y="297180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62400" y="289560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10025" y="297180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0" y="2895600"/>
            <a:ext cx="1981200" cy="514350"/>
          </a:xfrm>
          <a:prstGeom prst="rect">
            <a:avLst/>
          </a:prstGeom>
          <a:solidFill>
            <a:srgbClr val="F5F5F5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91225" y="297180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+.012</a:t>
            </a:r>
          </a:p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q=.758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24800" y="289560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72425" y="297180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06000" y="289560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53625" y="297180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4800" y="3409950"/>
            <a:ext cx="16764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1000" y="3552825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Arial"/>
                <a:ea typeface="AppleGothic"/>
              </a:rPr>
              <a:t>N-CMAPSS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81200" y="340995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28825" y="34861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962400" y="340995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10025" y="34861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409950"/>
            <a:ext cx="1981200" cy="514350"/>
          </a:xfrm>
          <a:prstGeom prst="rect">
            <a:avLst/>
          </a:prstGeom>
          <a:solidFill>
            <a:srgbClr val="F5F5F5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225" y="34861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+.009</a:t>
            </a:r>
          </a:p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q=.284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24800" y="340995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72425" y="34861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06000" y="340995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53625" y="34861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4800" y="3924300"/>
            <a:ext cx="1676400" cy="514350"/>
          </a:xfrm>
          <a:prstGeom prst="rect">
            <a:avLst/>
          </a:prstGeom>
          <a:solidFill>
            <a:srgbClr val="F5F5F5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1000" y="4067175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Arial"/>
                <a:ea typeface="AppleGothic"/>
              </a:rPr>
              <a:t>MATR b2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81200" y="392430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28825" y="400050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962400" y="392430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10025" y="400050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0" y="392430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91225" y="400050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924800" y="3924300"/>
            <a:ext cx="1981200" cy="514350"/>
          </a:xfrm>
          <a:prstGeom prst="rect">
            <a:avLst/>
          </a:prstGeom>
          <a:solidFill>
            <a:srgbClr val="F5F5F5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72425" y="400050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+.002</a:t>
            </a:r>
          </a:p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q=.277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06000" y="3924300"/>
            <a:ext cx="1981200" cy="51435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53625" y="400050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72B2"/>
                </a:solidFill>
                <a:latin typeface="Arial"/>
                <a:ea typeface="AppleGothic"/>
              </a:rPr>
              <a:t>+.187</a:t>
            </a:r>
          </a:p>
          <a:p>
            <a:pPr algn="ctr"/>
            <a:r>
              <a:rPr sz="1000" b="1">
                <a:solidFill>
                  <a:srgbClr val="0072B2"/>
                </a:solidFill>
                <a:latin typeface="Arial"/>
                <a:ea typeface="AppleGothic"/>
              </a:rPr>
              <a:t>q=.020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04800" y="4438650"/>
            <a:ext cx="16764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81000" y="4581525"/>
            <a:ext cx="152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Arial"/>
                <a:ea typeface="AppleGothic"/>
              </a:rPr>
              <a:t>HUST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81200" y="443865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28825" y="45148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962400" y="443865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10025" y="45148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0" y="443865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91225" y="45148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924800" y="4438650"/>
            <a:ext cx="1981200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972425" y="45148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906000" y="4438650"/>
            <a:ext cx="1981200" cy="51435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953625" y="4514850"/>
            <a:ext cx="188595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72B2"/>
                </a:solidFill>
                <a:latin typeface="Arial"/>
                <a:ea typeface="AppleGothic"/>
              </a:rPr>
              <a:t>+.128</a:t>
            </a:r>
          </a:p>
          <a:p>
            <a:pPr algn="ctr"/>
            <a:r>
              <a:rPr sz="1000" b="1">
                <a:solidFill>
                  <a:srgbClr val="0072B2"/>
                </a:solidFill>
                <a:latin typeface="Arial"/>
                <a:ea typeface="AppleGothic"/>
              </a:rPr>
              <a:t>q=.003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04800" y="5105400"/>
            <a:ext cx="11582400" cy="70485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57200" y="5191125"/>
            <a:ext cx="112776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Arial"/>
                <a:ea typeface="AppleGothic"/>
              </a:rPr>
              <a:t>Gate 해석  같은 executor가 데이터셋에 따라 유의한 개선·악화를 모두 만든다 → 조건부 ON/OFF는 필요하다. 13-setting gate audit는 3개 개선·10개 유지·0개 악화였지만 통합 p-value가 없어, ‘현재 gate가 최적’이 아니라 ‘항상 ON은 부적절’까지 주장한다.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" y="586740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물리 unit · seeds 42–46 · bootstrap 50,000회 · exact sign-flip · 25비교 BH · retrospective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19/42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(a) heatmap  ·  (b) PP-X vs TabPFN vs others</a:t>
            </a:r>
          </a:p>
        </p:txBody>
      </p:sp>
      <p:pic>
        <p:nvPicPr>
          <p:cNvPr id="6" name="Picture 5" descr="competitor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85800"/>
            <a:ext cx="118872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00" y="5791200"/>
            <a:ext cx="1143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1 PP-X Final 0.81 · 2 GroupDRO 0.36 · 3 V-REx 0.35.  순위=9곳 평균 R².  강건=9곳에서 양수(9/9, 7/9, 7/9).  FT-Transformer도 동일예산으로 표시.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20/42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무엇을 검정했는가  ·  파랑 = p&lt;0.05  ·  주황 = 유의 못 함</a:t>
            </a:r>
          </a:p>
        </p:txBody>
      </p:sp>
      <p:pic>
        <p:nvPicPr>
          <p:cNvPr id="6" name="Picture 5" descr="stats_wilcox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81050"/>
            <a:ext cx="5410200" cy="32385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19750" y="781050"/>
          <a:ext cx="6191248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812"/>
                <a:gridCol w="1547812"/>
                <a:gridCol w="1547812"/>
                <a:gridCol w="1547812"/>
              </a:tblGrid>
              <a:tr h="46264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①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검정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질문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결과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Wilcoxon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Sun·RWTH·MICH 25 unit RMSE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Direct 17/25 p=.003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Wilcoxon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soft / affine 대비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24/25 · 25/25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Wilcoxon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trainable / unbounded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p=.071 · .578  못 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 wins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아홉 셋 물리 유닛 77개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60/77 이김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Sign 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아홉 셋 모두 우세인가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9/9  양측 p=.0039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6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Bound audit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residual이 이론 bound를 넘나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 / 17,645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66700" y="4114800"/>
            <a:ext cx="2857500" cy="19050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4191000"/>
            <a:ext cx="2628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W  Wilcoxon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419600"/>
            <a:ext cx="26289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쌍을 이룬 unit RMSE.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H0: 중앙 차이 = 0.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파랑만 ‘이겼다’고 말함.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주황은 이긴 칸이 있어도 유의 아님.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8500" y="4114800"/>
            <a:ext cx="2857500" cy="1905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2800" y="4191000"/>
            <a:ext cx="2628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S  Seed binomial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2800" y="4419600"/>
            <a:ext cx="26289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5 seed가 affine을 골랐는가.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H0: 확률 ≤ 0.5.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5/5만 α=0.05 통과.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물리 반복이 아님.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300" y="4114800"/>
            <a:ext cx="2857500" cy="19050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600" y="4191000"/>
            <a:ext cx="2628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D  Domain 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4419600"/>
            <a:ext cx="26289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1D 엄격한 외삽 9곳.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9/9 양측 exact p=.0039.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계층 bootstrap 95% CI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log-RMSE [0.17, 0.67].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2100" y="4114800"/>
            <a:ext cx="2628900" cy="1905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6400" y="4191000"/>
            <a:ext cx="24003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B  Bound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400" y="4419600"/>
            <a:ext cx="24003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가설검정이 아니라 제약 감사.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|ŷ−affine| ≤ margin·B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17,645점 위반 0.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21/42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안정성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유닛 단위에서 개선이 한쪽으로 몰리지 않았는지 확인한다</a:t>
            </a:r>
          </a:p>
        </p:txBody>
      </p:sp>
      <p:pic>
        <p:nvPicPr>
          <p:cNvPr id="6" name="Picture 5" descr="robustnes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0"/>
            <a:ext cx="1143000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457700"/>
            <a:ext cx="5524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(a) 결론  최종 executor 교정 후 유닛 log-RMSE 비는 평균 0.41, 계층 bootstrap 95% CI [0.17, 0.67]. 기하평균 RMSE 감소 33.8%. BH 보정 개별 유의는 선우다·배치2다.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457700"/>
            <a:ext cx="54483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(b) 결론  MICH 시험 8유닛의 개별 R²가 모두 양수다(0.50–0.96). 합친 점수 0.751은 한 유닛에 몰린 값이 아니므로 대표값으로 읽어도 된다. 이 그림은 검정이 아니라 분포 확인이다.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95950"/>
            <a:ext cx="11277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정리  유닛 안에서는 근거가 있다. 데이터 종류가 세 개뿐이라 분야 전체 유의는 말하지 않는다.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22/42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Gate 정책 검증 — Always-on / Always-off와 직접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12 datasets · 98 physical units · frozen 2% / 60% / 1.10 · dataset→unit 계층 bootstrap 100,000회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" y="914400"/>
          <a:ext cx="5334000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1333500"/>
                <a:gridCol w="1333500"/>
                <a:gridCol w="13335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정책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평균 log-RMSE 효과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손실 domain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선택 정확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Always-off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6/12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Always-on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+0.082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6/12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Frozen gate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+0.041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8/12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Test oracle*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+0.269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12/12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0" y="914400"/>
            <a:ext cx="5791200" cy="12573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15050" y="1028700"/>
            <a:ext cx="54483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Frozen gate − Always-on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5050" y="1371600"/>
            <a:ext cx="54483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효과 차이 −0.041  ·  domain 4승 / 2패 / 6동률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exact sign-flip p=.969  ·  계층 CI [−.307, +.140]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400300"/>
            <a:ext cx="5791200" cy="12573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15050" y="2514600"/>
            <a:ext cx="54483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Frozen gate − Always-off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5050" y="2857500"/>
            <a:ext cx="54483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효과 차이 +0.041  ·  domain 4승 / 2패 / 6동률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exact sign-flip p=.719  ·  계층 CI [−.294, +.404]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3962400"/>
            <a:ext cx="113919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B1C1C"/>
                </a:solidFill>
                <a:latin typeface="Arial"/>
                <a:ea typeface="AppleGothic"/>
              </a:rPr>
              <a:t>선택 오류  False accept 2 · False reject 2  |  * oracle은 test를 본 비배포 상한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4400550"/>
            <a:ext cx="11391900" cy="1066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350" y="4533900"/>
            <a:ext cx="11049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Arial"/>
                <a:ea typeface="AppleGothic"/>
              </a:rPr>
              <a:t>거절 조건부 감사  benchmark 교집합 5곳 중 4곳에서 거절이 맞았다. 고정 8-model panel의 22/40은 R²&lt;0, 3/5 설정은 과반 모델이 붕괴했다. Fallback 중앙 순위는 4/9.</a:t>
            </a:r>
          </a:p>
          <a:p>
            <a:pPr algn="ctr"/>
            <a:r>
              <a:rPr sz="1100" b="1">
                <a:solidFill>
                  <a:srgbClr val="222222"/>
                </a:solidFill>
                <a:latin typeface="Arial"/>
                <a:ea typeface="AppleGothic"/>
              </a:rPr>
              <a:t>판정  Gate는 손실 노출을 줄이는 안전장치이나 완벽하지 않다. Sunwoda false reject와 HUST fallback 8/9를 함께 공개하며, ‘항상 안전·항상 최선·다른 모델 모두 붕괴’는 주장하지 않는다.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3880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  <a:ea typeface="AppleGothic"/>
              </a:rPr>
              <a:t>Stage-1 prior admissibility는 true로 고정한 Stage-2 단독 감사 · retrospective common-backbone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23/42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공정 비교 — 9 settings × 8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각 모델 validation 후보 30개  ·  search seed 42  ·  refit seeds 42–46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" y="819150"/>
          <a:ext cx="1150620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1240"/>
                <a:gridCol w="2301240"/>
                <a:gridCol w="2301240"/>
                <a:gridCol w="2301240"/>
                <a:gridCol w="2301240"/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Setting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 Final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최강 30-candidate baseline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Baseline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ΔR²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GroupDRO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Virkler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FT-Transformer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−.002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0.584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Engression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0.583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Sunwoda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linear-tail RBF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0.838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+.102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RWTH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linear-tail RBF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0.732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+.146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0.751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monotone NN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−0.686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+1.437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FT-Transformer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0.342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MATR-b2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plain MLP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0.813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+.049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N-CMAPSS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Engression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42900" y="4724400"/>
            <a:ext cx="11506200" cy="8763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5300" y="4876800"/>
            <a:ext cx="11201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결론  PP-X Final 8/9 우세  ·  exact dataset sign test p=.0391  ·  3,360 training jobs</a:t>
            </a:r>
          </a:p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예외  Virkler FT가 +.002  ·  NASA 사실상 동률  ·  PP-X는 typed executor라 하나의 공통 hyperparameter grid로 재개발하지 않음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24/42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Prospective — N-CMAPSS DS03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protocol → raw hash → selection artifact를 test Y 공개 전에 각각 GitHub 동결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0050" y="857250"/>
          <a:ext cx="542925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809750"/>
                <a:gridCol w="1809750"/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Validation route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MSE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판정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direct fallback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37.639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basic prior-residual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85.774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거절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multiscale prior-residual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95.858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거절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34100" y="857250"/>
          <a:ext cx="561975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250"/>
                <a:gridCol w="1873250"/>
                <a:gridCol w="1873250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Prospective test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판정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Engression 30c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최고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FT-Transformer 30c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0.899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PP-X selected fallback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양수·비우월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basic / multiscale PP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0.832 / 0.869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선택보다 열세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00050" y="3733800"/>
            <a:ext cx="5429250" cy="15240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2450" y="3905250"/>
            <a:ext cx="51244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72B2"/>
                </a:solidFill>
                <a:latin typeface="Arial"/>
                <a:ea typeface="AppleGothic"/>
              </a:rPr>
              <a:t>PASS  미래 route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343400"/>
            <a:ext cx="512445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gate가 prior 두 개를 거절했고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실제 test-best PP-X route 선택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4100" y="3733800"/>
            <a:ext cx="5619750" cy="15240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500" y="3905250"/>
            <a:ext cx="53149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69F00"/>
                </a:solidFill>
                <a:latin typeface="Arial"/>
                <a:ea typeface="AppleGothic"/>
              </a:rPr>
              <a:t>FAIL  predictive superiority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4343400"/>
            <a:ext cx="531495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Engression 대비 ΔR² −.0195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unit wins 1/6 · worst ratio 1.989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50" y="5562600"/>
            <a:ext cx="113538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66666"/>
                </a:solidFill>
                <a:latin typeface="Arial"/>
                <a:ea typeface="AppleGothic"/>
              </a:rPr>
              <a:t>정직한 결론  prospective route-selection success, predictive superiority not confirmed  ·  DS03는 within-family 검증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27/42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실패 · 경계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오늘 표는 1D 엄격한 외삽만.  같은 100%라도 geometry는 다르다.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47750"/>
          <a:ext cx="11277600" cy="2190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셋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경계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읽는 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 (base)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-1.522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관계 이동 · 보정 꺼짐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 켠 뒤 0.751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MATR2019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0.466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건강 tail은 맞음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주표에 남기되 약점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N-CMAPSS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0.937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100% · PCA2 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조건 외삽. 먼 RUL tail 아님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0.862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100% · PCA2 0% · PCA3 99.2%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다차원 geometry를 같이 적음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619500"/>
          <a:ext cx="5524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/>
                <a:gridCol w="276225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Claim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Detail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최종 PP-X = 공통 core + validation-approved executor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Scope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unit-disjoint · hull-out · val-only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Not default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 · transport · full history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Venue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분야 Q1–Q2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86500" y="3619500"/>
          <a:ext cx="54483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150"/>
                <a:gridCol w="272415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Not claimed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Detail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Zn / 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사후 개발 — untouched 확증 아님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도메인 transfer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오늘 외삽 정의에 넣지 않음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PAE 주표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오늘 점수와 섞지 않음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Universal SOTA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모든 OOD 1등 아님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29/42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끝난 고호트 — PP-X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잘된 셋만 PP-X.  MATR 두 곳은 기존 PP-X artifact  ·  Misata는 방금 같은 split으로 재실행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76300"/>
          <a:ext cx="112776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고호트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 경로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 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판정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 2019-01-24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affine latent-regime + Val output calibration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양수. calibration 전 0.257에서 개선. 주표와 동일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 batch2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regime transport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0.862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양수. 봉인 0.471/0.523에서 개선. 주표와 동일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Misata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core · val이 unbounded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0.829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양수. MLP 0.854. 우월 확증은 여전히 실패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76750"/>
            <a:ext cx="112776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Misata 새 실행  seed 42–46 ensemble 0.829 (개별 0.816–0.829). executor는 validation에서 bounded가 2%를 못 넘겨 unbounded. 기존 locked MLP와 같은 1298행.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Oxford·MATWI·팬·XJTU는 실패 고호트라 PP-X로 다시 돌리지 않았다.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30/42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PP-X 구조 검증 — CCMR v2.2 executor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trajectory-domain bank + small-cohort route  ·  논문 메인 명칭은 PP-X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38200"/>
            <a:ext cx="3619500" cy="19050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" y="9906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PP-X trajectory executor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13335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CCMR v2.2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predictor v2.0 bank 유지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val unit 3–9 → small_crossfit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그 외 → stable / cautious /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838200"/>
            <a:ext cx="3619500" cy="1905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7700" y="9906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개발 5고호트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13335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false accept 0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max raw regret 0%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SIT LFP만 엄격 개선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geo RMSE ratio 0.9986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838200"/>
            <a:ext cx="3619500" cy="19050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7700" y="9906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거절 후보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7700" y="13335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CCMR v2.3 AC-CRPE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안전(false accept 0)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그러나 GM RMSE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v2.2 대비 ≈0.0002% 악화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52750"/>
            <a:ext cx="112776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PP-X 증거  소표본 route와 exact fallback이 선택적 prior 사용의 안전성을 지지. MultiStage에서 안정성 우위.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주장 불가  PP-X가 보편적 SOTA / Alloy 정확도에서 Engression을 이겼다 / Alloy를 보고 재튜닝했다.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00500"/>
            <a:ext cx="112776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B1C1C"/>
                </a:solidFill>
                <a:latin typeface="Arial"/>
                <a:ea typeface="AppleGothic"/>
              </a:rPr>
              <a:t>Alloy A · MultiStage는 봉인 holdout이다. 점수를 보고 구조를 다시 맞추지 않는다. 아래 ablation·벤치마크는 retrospective evidence다.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57750"/>
            <a:ext cx="112776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근거  CCMR_V22_SMALL_COHORT_RESULTS_KO.md  ·  CCMR_V23_AC_CRPE_RESULTS_KO.md  ·  results/ccmr_model_ablation_stats_benchmark_v1/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31/42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CCMR v2.0 → v2.2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개발 5고호트  ·  paired RMSE gain + bootstrap CI</a:t>
            </a:r>
          </a:p>
        </p:txBody>
      </p:sp>
      <p:pic>
        <p:nvPicPr>
          <p:cNvPr id="6" name="Picture 5" descr="ccmr_v22_dev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781050"/>
            <a:ext cx="7239000" cy="37147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96200" y="876300"/>
          <a:ext cx="400050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/>
                <a:gridCol w="2000250"/>
              </a:tblGrid>
              <a:tr h="349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통계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값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GM RMSE ratio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mean RMSE gain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+0.14%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strict better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 /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non-worse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 / 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false accept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max regret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sign-flip 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boot CI95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[0, 0.42]%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762500"/>
            <a:ext cx="112776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SIT LFP에서만 pooled improvement 0→0.7% (small_crossfit_bank). 나머지 4곳은 non-worse.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 paired sign-flip은 표본 5로 유의하지 않다. 승격 근거는 엄격 악화 없음 + false accept 0이다.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32/42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dynamics bank experts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단일 expert는 약하다. bank + selection이 프로토콜이다.</a:t>
            </a:r>
          </a:p>
        </p:txBody>
      </p:sp>
      <p:pic>
        <p:nvPicPr>
          <p:cNvPr id="6" name="Picture 5" descr="ccmr_expert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57250"/>
            <a:ext cx="11239500" cy="381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530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단일 dynamics expert의 mean pooled gain은 음수인 구간이 많다. 그래서 PP-X의 CCMR executor는 expert를 전역 기본값으로 두지 않고,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validation에서 고른 bank / small-cohort route / exact fallback으로 위험을 가른다.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33/42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벤치마크 — 두 성공 holdout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경쟁군 + CCMR v2.2 overlay  ·  Alloy/MultiStage는 구조 재튜닝에 쓰지 않음</a:t>
            </a:r>
          </a:p>
        </p:txBody>
      </p:sp>
      <p:pic>
        <p:nvPicPr>
          <p:cNvPr id="6" name="Picture 5" descr="ccmr_holdout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742950"/>
            <a:ext cx="11811000" cy="409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530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Alloy  정확도 1위는 Engression (R²≈0.991). CCMR v2.2는 R²≈0.771, regret 0.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MultiStage  CCMR v2.2가 R²≈0.989·regret 0. Engression은 R²≈0.979지만 max regret ≈205%.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34/42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주장 경계 — 정확도 vs 안정성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한 고호트 승리가 전역 SOTA가 아니다</a:t>
            </a:r>
          </a:p>
        </p:txBody>
      </p:sp>
      <p:pic>
        <p:nvPicPr>
          <p:cNvPr id="6" name="Picture 5" descr="ccmr_claim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857250"/>
            <a:ext cx="1104900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62500"/>
            <a:ext cx="112776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Alloy에서는 Engression이 정확도에서 앞선다. MultiStage에서는 Engression의 유닛 regret이 폭발하고 CCMR executor가 안전하다.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PP-X의 핵심은 “모든 holdout 1등”이 아니라, 근거 없는 prior를 거절하고 외삽 위험을 제한하는 것이다.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35/42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거절 — CCMR v2.3 AC-CRPE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강한 no-prior portfolio + contract residual  ·  엄격 RMSE 개선 실패</a:t>
            </a:r>
          </a:p>
        </p:txBody>
      </p:sp>
      <p:pic>
        <p:nvPicPr>
          <p:cNvPr id="6" name="Picture 5" descr="ccmr_v23_reject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781050"/>
            <a:ext cx="7239000" cy="37147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96200" y="876300"/>
          <a:ext cx="400050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/>
                <a:gridCol w="2000250"/>
              </a:tblGrid>
              <a:tr h="349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최종 v10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값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GM vs v2.2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1.000002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Δ GM RMSE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−0.0002%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non-worse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4 /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false accept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max regret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fallback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exact OK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promoted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holdout replay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미실행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762500"/>
            <a:ext cx="112776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강한 Engression anchor는 development에서 regret을 키웠고, nested v2.2 safety로 수렴했다.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최종은 안전하지만 v2.2 대비 엄격 평균 RMSE 개선이 없어 거절. Alloy를 보고 재튜닝하지 않았다.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36/42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다음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지도는 루트 장에 있다.  여기서는 앞으로만 말한다.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47750"/>
            <a:ext cx="3619500" cy="34290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47750"/>
            <a:ext cx="76200" cy="3429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24150" y="1200150"/>
            <a:ext cx="1123950" cy="228600"/>
          </a:xfrm>
          <a:prstGeom prst="roundRect">
            <a:avLst>
              <a:gd name="adj" fmla="val 12000"/>
            </a:avLst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ppleGothic"/>
              </a:rPr>
              <a:t>지금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00150"/>
            <a:ext cx="1905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2B2"/>
                </a:solidFill>
                <a:latin typeface="Arial"/>
                <a:ea typeface="AppleGothic"/>
              </a:rPr>
              <a:t>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1925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식 없는 경로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00250"/>
            <a:ext cx="314325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contract-conditioned prior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validation-approved executor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근거 없으면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48000"/>
            <a:ext cx="31432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CCMR v2.2 구조 증거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v2.3 거절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10000"/>
            <a:ext cx="3143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2"/>
                </a:solidFill>
                <a:latin typeface="Arial"/>
                <a:ea typeface="AppleGothic"/>
              </a:rPr>
              <a:t>만능 SOTA 아님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6250" y="1047750"/>
            <a:ext cx="3619500" cy="34290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6250" y="1047750"/>
            <a:ext cx="76200" cy="342900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53200" y="1200150"/>
            <a:ext cx="1123950" cy="228600"/>
          </a:xfrm>
          <a:prstGeom prst="roundRect">
            <a:avLst>
              <a:gd name="adj" fmla="val 12000"/>
            </a:avLst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ppleGothic"/>
              </a:rPr>
              <a:t>다음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850" y="1200150"/>
            <a:ext cx="1905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69F00"/>
                </a:solidFill>
                <a:latin typeface="Arial"/>
                <a:ea typeface="AppleGothic"/>
              </a:rPr>
              <a:t>PAE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4850" y="161925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식 있는 경로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4850" y="2000250"/>
            <a:ext cx="314325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LLM·온톨로지·source gate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허용된 식만 실행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이득 없으면 PP-X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850" y="3810000"/>
            <a:ext cx="3143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9F00"/>
                </a:solidFill>
                <a:latin typeface="Arial"/>
                <a:ea typeface="AppleGothic"/>
              </a:rPr>
              <a:t>다음 논문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5300" y="1047750"/>
            <a:ext cx="3619500" cy="3429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5300" y="1047750"/>
            <a:ext cx="76200" cy="3429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82250" y="1200150"/>
            <a:ext cx="1123950" cy="2286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ppleGothic"/>
              </a:rPr>
              <a:t>박사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3900" y="1200150"/>
            <a:ext cx="2095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Arial"/>
                <a:ea typeface="AppleGothic"/>
              </a:rPr>
              <a:t>Assurance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3900" y="161925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두 경로 통합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3900" y="2000250"/>
            <a:ext cx="314325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믿기 / 보류 / 거절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허가증으로 운행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Fail이면 옮기지 않음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3900" y="3810000"/>
            <a:ext cx="3143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이후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62500"/>
            <a:ext cx="112776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밖을 지탱하는 것은 가정이다.  식이 없으면 PP-X.  executor는 근거 있을 때만 켠다.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37/42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후속 — PAE 컨셉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출처가 고정된 식을 컴파일하고, 적용 가능한지 검증한 뒤에만 실행한다.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010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PAE는 식 생성기가 아니다. 문헌 식 카드가 의미적으로 실행 가능하고, 검증에서 전이될 때만 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04900"/>
            <a:ext cx="3429000" cy="533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문제 서술  +  데이터 스키마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00500" y="1257300"/>
            <a:ext cx="266700" cy="20955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1500" y="1104900"/>
            <a:ext cx="3429000" cy="533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RAG   문헌 식 카드 · 인용만 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181100"/>
            <a:ext cx="3733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실행 권한 없음. 후보만 줄인다.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1695450"/>
            <a:ext cx="266700" cy="13335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885950"/>
            <a:ext cx="3429000" cy="112395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85950"/>
            <a:ext cx="76200" cy="112395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1962150"/>
            <a:ext cx="3048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2B2"/>
                </a:solidFill>
                <a:latin typeface="Arial"/>
                <a:ea typeface="AppleGothic"/>
              </a:rPr>
              <a:t>LLM 게이트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209800"/>
            <a:ext cx="304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카드 ID와 역할 결합만 제안.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식·상수·인용·고장경계를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만들지 못한다.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00500" y="2286000"/>
            <a:ext cx="266700" cy="20955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1500" y="1885950"/>
            <a:ext cx="3429000" cy="112395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1500" y="1885950"/>
            <a:ext cx="76200" cy="112395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962150"/>
            <a:ext cx="3048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9F00"/>
                </a:solidFill>
                <a:latin typeface="Arial"/>
                <a:ea typeface="AppleGothic"/>
              </a:rPr>
              <a:t>온톨로지 · 식 판별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09800"/>
            <a:ext cx="304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target · 메커니즘 · 역할 · 단위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경계 · 출처 · learnable slot.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하나라도 깨지면 실행 불가.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24800" y="2286000"/>
            <a:ext cx="266700" cy="20955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05800" y="1885950"/>
            <a:ext cx="3429000" cy="112395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05800" y="1885950"/>
            <a:ext cx="76200" cy="11239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96300" y="1962150"/>
            <a:ext cx="3048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Source 게이트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6300" y="2209800"/>
            <a:ext cx="304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검증 holdout에서 식 경로가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PP-X보다 나을 때만 통과.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안전 증명이 아니다.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943600" y="3067050"/>
            <a:ext cx="266700" cy="13335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52750" y="3238500"/>
            <a:ext cx="6286500" cy="3810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AppleGothic"/>
              </a:rPr>
              <a:t>식이 컴파일되고, 검증에서 이기는가?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00500" y="3619500"/>
            <a:ext cx="0" cy="15240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6000" y="3619500"/>
            <a:ext cx="0" cy="15240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191500" y="3619500"/>
            <a:ext cx="0" cy="15240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000500" y="3771900"/>
            <a:ext cx="419100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3848100" y="3771900"/>
            <a:ext cx="266700" cy="133350"/>
          </a:xfrm>
          <a:prstGeom prst="downArrow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own Arrow 32"/>
          <p:cNvSpPr/>
          <p:nvPr/>
        </p:nvSpPr>
        <p:spPr>
          <a:xfrm>
            <a:off x="5943600" y="3771900"/>
            <a:ext cx="266700" cy="133350"/>
          </a:xfrm>
          <a:prstGeom prst="downArrow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wn Arrow 33"/>
          <p:cNvSpPr/>
          <p:nvPr/>
        </p:nvSpPr>
        <p:spPr>
          <a:xfrm>
            <a:off x="8039100" y="3771900"/>
            <a:ext cx="266700" cy="13335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7500" y="3752850"/>
            <a:ext cx="85725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69F00"/>
                </a:solidFill>
                <a:latin typeface="Arial"/>
                <a:ea typeface="AppleGothic"/>
              </a:rPr>
              <a:t>YES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0" y="3752850"/>
            <a:ext cx="85725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2B2"/>
                </a:solidFill>
                <a:latin typeface="Arial"/>
                <a:ea typeface="AppleGothic"/>
              </a:rPr>
              <a:t>NO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9814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600" y="4057650"/>
            <a:ext cx="31242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PAE 실행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4305300"/>
            <a:ext cx="31242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허용 계수만 학습.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현재 상태 → 경계 적분. RUL=0.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1500" y="39814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33900" y="4057650"/>
            <a:ext cx="31242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PP-X로 되돌림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3900" y="4305300"/>
            <a:ext cx="31242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식 계약이 안 닫히거나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검증에서 이득이 없을 때.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05800" y="39814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4057650"/>
            <a:ext cx="31242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거절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4305300"/>
            <a:ext cx="31242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식도 없고 PP-X도 불안정하면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예측하지 않는다.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067300"/>
            <a:ext cx="11277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검사 항목   상태 · 고장 메커니즘 · 필수 변수 · 단위 · 경계 · 출처.   데이터셋 이름으로 경로를 고르지 않는다.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37210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자유 LLM 식 생성은 성공이 아니라 계약 위반이다. 다음 논문 경로이며 오늘 주표와 숫자를 섞지 않는다.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38/42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후속 — PAE 피저빌리티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게이트가 왜 필요한지, 식이 맞을 때와 경계만 있을 때를 갈라 본다.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1127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자료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넣은 식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게이트 읽기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PAE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알루미늄 균열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Paris + 49.8 mm 파단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식·경계·역할이 닫힘 → 실행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미시간 배터리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80% EOL 경계만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메커니즘 식 없음 → 되돌려야 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0.635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실험셀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용량 속도 quotient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셀마다 regime이 달라 계약 약함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0.492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0.741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429000"/>
          <a:ext cx="11277600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/>
                <a:gridCol w="5638800"/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이미 본 것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아직 아닌 것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식이 맞으면 PAE가 PP-X를 이김 (Virkler +0.081)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RAG·LLM·온톨로지를 주표에 넣지 않음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경계만 알면 PAE를 켜면 진다 (MICH · NASA)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source gate의 광범위 일반화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동일-split, 오늘 포트폴리오와 분리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LLM이 물리법칙을 발견한다는 주장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295900"/>
            <a:ext cx="112776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결론  식이 맞으면 PAE, 경계만 있으면 PP-X. 미시간 0.826은 raw-cycle 맞비교(주표 MICH 0.751).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3880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게이트는 성능을 올리는 부품이 아니라, 틀린 식을 실행하지 못하게 막는 장치다.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39/42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304800"/>
            <a:ext cx="11430000" cy="6248400"/>
          </a:xfrm>
          <a:prstGeom prst="rect">
            <a:avLst/>
          </a:prstGeom>
          <a:noFill/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905000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22222"/>
                </a:solidFill>
                <a:latin typeface="Arial"/>
                <a:ea typeface="AppleGothic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571750"/>
            <a:ext cx="10287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72B2"/>
                </a:solidFill>
                <a:latin typeface="Arial"/>
                <a:ea typeface="AppleGothic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429000"/>
            <a:ext cx="952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오늘: PP-X  ·  contract-conditioned prior + validation-approved executor + fallback</a:t>
            </a:r>
          </a:p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구조 증거: CCMR v2.2  ·  한계: 정확도≠안정성, prospective 확증은 남음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762500"/>
            <a:ext cx="10287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Arial"/>
                <a:ea typeface="AppleGothic"/>
              </a:rPr>
              <a:t>질문 받겠습니다.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533400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SPS Lab  ·  박사과정 박진서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보조 — 이게 무슨 데이터인가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백업. 본 발표는 Q&amp;A에서 끝낸다.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66700" y="838200"/>
          <a:ext cx="11658600" cy="514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  <a:gridCol w="388620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표기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물건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한 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화중과대 리튬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충전 방법(프로토콜)이 다른 셀. 중국 랩.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Sunwoda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선우다 상용 리튬셀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공장 셀. 학습에 안 넣은 다른 셀로 시험.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RWTH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아헨공대 리튬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독일 랩 셀. 역시 처음 보는 셀로 시험.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미시간대 리튬 배터리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건강↔수명 관계가 학습 때와 달라진 셀.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2019 수명 벤치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노트북/그리드용 셀. 고전 벤치마크.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배치 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같은 랩, 다른 생산 로트. 시험 9셀.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PCoE 실험용 18650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우주선/로켓이 아님. 용량 70%까지 남은 횟수.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Virkler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알루미늄 피로균열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판에 금이 얼마나 남았나. 배터리 아님.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N-CMAPSS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항공기 엔진 시뮬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NASA가 만든 디지털 터보팬. 실제 비행 기록 아님.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66700" y="6076950"/>
            <a:ext cx="1165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NASA가 두 개다.  위는 배터리 셀, 아래 엔진은 시뮬레이터.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41/42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보조 — 누구로 나누고, 뭘 보고, 뭘 맞추나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미지 = 학습 때 이름조차 안 본 셀/시편/엔진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0500" y="819150"/>
          <a:ext cx="11811000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2362200"/>
                <a:gridCol w="2362200"/>
                <a:gridCol w="2362200"/>
                <a:gridCol w="2362200"/>
              </a:tblGrid>
              <a:tr h="70757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셋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학습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검증 / 시험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보고 (X)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맞추는 것 (Y)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화중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충전법 1–6, 아직 건강한 구간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충전법 7–8 / 9–10, 용량이 더 떨어진 구간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지금까지의 용량·떨어지는 속도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수명까지 남은 사이클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선우다 · 아헨 · 미시간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다른 셀의 건강한 구간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처음 보는 셀의 말기 구간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지금 건강, 최근 속도, 고장까지 여유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수명까지 남은 사이클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2019 / 배치2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일부 셀의 건강한 구간 (배치2는 30셀)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나머지 셀의 말기 (배치2는 9+9셀)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지금까지의 용량 이력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수명까지 남은 사이클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실험셀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일부 셀, 용량이 아직 높은 구간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다른 셀, 용량이 학습 최저보다 낮은 구간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용량, 속도, 몇 번째 사이클인가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용량 70% 될 때까지 남은 횟수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알루미늄 균열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다른 시편의 짧은 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처음 보는 시편의 긴 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금 길이, 자라는 속도, 하중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쪼개질 때까지 남은 반복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757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항공기 엔진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본 적 있는 비행조건의 엔진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처음 보는 비행조건의 엔진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센서(조건으로 나눈 값), 운전모드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엔진이 버틸 남은 시간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0500" y="5886450"/>
            <a:ext cx="11811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같은 셀을 시간만 잘라 뒤를 맞추지 않는다.  시험 셀의 미래·최종 수명은 X에 넣지 않는다.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42/42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동일 coverage — 검정 기반 Selective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Noskov–Fishkov–Panov Algorithm 1 재현  ·  Gaussian NW + variance/density acceptance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19150"/>
            <a:ext cx="11277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질문  support 안의 안전한 점만 고르는 방법이 strict extrapolation에서도 예측 범위와 정확도를 함께 유지하는가?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76350"/>
          <a:ext cx="6858000" cy="3105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62103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목표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실제 평균 coverage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 nRMSE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Selective NW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승리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0.272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1.279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8.7%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0.296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1.275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5/5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0.303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13.2%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0.305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1.266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5/5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20000" y="1276350"/>
            <a:ext cx="4114800" cy="13716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29550" y="1466850"/>
            <a:ext cx="3695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9F00"/>
                </a:solidFill>
                <a:latin typeface="Arial"/>
                <a:ea typeface="AppleGothic"/>
              </a:rPr>
              <a:t>Coverage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8600" y="1885950"/>
            <a:ext cx="365760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4/9 setting은 전부 거절</a:t>
            </a:r>
          </a:p>
          <a:p>
            <a:pPr algn="ctr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N-CMAPSS만 100% admissible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0" y="2876550"/>
            <a:ext cx="4114800" cy="150495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29550" y="3067050"/>
            <a:ext cx="3695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2B2"/>
                </a:solidFill>
                <a:latin typeface="Arial"/>
                <a:ea typeface="AppleGothic"/>
              </a:rPr>
              <a:t>동일 행 수에서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8600" y="348615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PP-X가 비교 가능한 5/5에서 우세</a:t>
            </a:r>
          </a:p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양측 exact p=.0625</a:t>
            </a:r>
          </a:p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(n=5의 최소 양측 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62500"/>
            <a:ext cx="11277600" cy="81915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750" y="4895850"/>
            <a:ext cx="1085850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ppleGothic"/>
              </a:rPr>
              <a:t>의미  Selective Regression은 support가 희박하면 예측을 버린다. PP-X는 지지된 prior-residual 경로로 외삽 coverage를 유지하면서, 같은 coverage에서도 accepted risk를 낮췄다.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10250"/>
            <a:ext cx="112776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9개 메인 setting · 동일 split · test label은 최종 risk 계산에만 사용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26/42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