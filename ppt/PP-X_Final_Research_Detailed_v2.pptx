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64" r:id="rId15"/>
    <p:sldId id="265" r:id="rId16"/>
    <p:sldId id="266" r:id="rId17"/>
    <p:sldId id="267" r:id="rId18"/>
    <p:sldId id="271" r:id="rId22"/>
    <p:sldId id="260" r:id="rId11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61" r:id="rId12"/>
    <p:sldId id="302" r:id="rId53"/>
    <p:sldId id="287" r:id="rId38"/>
    <p:sldId id="262" r:id="rId13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3" r:id="rId54"/>
    <p:sldId id="304" r:id="rId55"/>
    <p:sldId id="305" r:id="rId56"/>
    <p:sldId id="306" r:id="rId57"/>
    <p:sldId id="30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10.xml"/><Relationship Id="rId12" Type="http://schemas.openxmlformats.org/officeDocument/2006/relationships/slide" Target="slides/slide25.xml"/><Relationship Id="rId13" Type="http://schemas.openxmlformats.org/officeDocument/2006/relationships/slide" Target="slides/slide28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7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26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bounded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6950" y="819150"/>
            <a:ext cx="7658100" cy="5143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19350" y="914400"/>
            <a:ext cx="73533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AppleGothic"/>
              </a:rPr>
              <a:t>목표  ·  근거 수준에 맞는 강건한 외삽 프레임워크 구축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95450"/>
            <a:ext cx="2381250" cy="8191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0550" y="1790700"/>
            <a:ext cx="21145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사용 가능한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2076450"/>
            <a:ext cx="211455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관측 · 경계 · 도메인 지식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14650" y="1952625"/>
            <a:ext cx="514350" cy="2857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3638550" y="1562100"/>
            <a:ext cx="2857500" cy="1104900"/>
          </a:xfrm>
          <a:prstGeom prst="diamond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적용 가능한 후보식이
정당화되는가?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67300" y="2667000"/>
            <a:ext cx="0" cy="11430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47850" y="2781300"/>
            <a:ext cx="6438900" cy="0"/>
          </a:xfrm>
          <a:prstGeom prst="line">
            <a:avLst/>
          </a:prstGeom>
          <a:ln w="15875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own Arrow 14"/>
          <p:cNvSpPr/>
          <p:nvPr/>
        </p:nvSpPr>
        <p:spPr>
          <a:xfrm>
            <a:off x="1676400" y="2724150"/>
            <a:ext cx="342900" cy="3238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8115300" y="2724150"/>
            <a:ext cx="342900" cy="3238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955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67600" y="2647950"/>
            <a:ext cx="57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86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PP-X  |  식이 없거나 약할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weak prior + bounded residual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Validation evidence로 executor 승인 · 실패 시 fallback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81800" y="3105150"/>
            <a:ext cx="4953000" cy="1390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3250" y="3219450"/>
            <a:ext cx="46101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PAE  |  검증된 식이 있을 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10400" y="3600450"/>
            <a:ext cx="44958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validated equation + 제한 NN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source gate · 이득 없으면 PP-X로 복귀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27622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9086850" y="4552950"/>
            <a:ext cx="342900" cy="3048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266950" y="4914900"/>
            <a:ext cx="7658100" cy="5905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00300" y="5010150"/>
            <a:ext cx="739140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공통 Assurance  ·  믿기 / 보류 / 거절  →  두 경로를 하나의 외삽 프레임워크로 통합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현재 발표 범위: PP-X  ·  후속 확장: PAE + 통합 Assurance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약한 prior란 무엇인가 — C1에서 허용하는 믿음의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Prior와 executor를 분리해서 읽는다. contract가 prior 후보를 열고 validation이 executor를 승인한다.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약한 prior = 경계·방향·저복잡도 기본 추세.  ‘Affine’은 함수형, ‘latent/quotient’는 예측 대상이다.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19200"/>
          <a:ext cx="11277600" cy="2000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후보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허용 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역할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 · 경계형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BQ: 경계거리 × 단위거리당 잔여수명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EOL 경계를 미리 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경계에서 RUL=0 보장. quotient 추세를 Ridge로 학습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B · 비경계형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affine: causal X→RUL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known_boundary=False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RUL 기본 추세를 Ridge로 직접 학습. Final은 끄지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· dual-scale · history ·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해당 contract flag + Val PASS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prior를 제한적으로 수정·보정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/ persistence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Val FAIL (Final)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prior-residual 경로를 사용하지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575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차이  BQ는 margin=(현재 health−EOL 경계)을 먼저 곱해 끝점 0을 고정한다. Direct affine은 경계를 강제하지 않고 RUL을 바로 회귀한다.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3562350"/>
          <a:ext cx="11277600" cy="1962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32702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Prior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 · 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bounded latent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BQ latent-affine Ridge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support-adaptive dual-scale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· 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 Ridge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latent-regime + multiscale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 · 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Direct-RUL affine+residual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validation-LOO output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FEMTO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v1_declared OFF (9-setting 아님)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neural safety 보관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게이트 전체도 — 어디서 승인·거절되나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장으로 보는 분기. 왼쪽은 Prior 켤지, 오른쪽은 executor를 Val로 쓸지.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1 · C1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경계·후보·fallback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미리 선언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67000" y="914400"/>
            <a:ext cx="2057400" cy="1143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Step 2 · C1 Prior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select_ppx_route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BQ 또는 affine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768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3 · C2 Fit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prior + bounded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residual 학습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86600" y="914400"/>
            <a:ext cx="2057400" cy="1143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28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Step 4 · C3 Approve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28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 gate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2%·60%·1.10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6400" y="914400"/>
            <a:ext cx="2057400" cy="11430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72600" y="9906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Step 5 · Freeze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72600" y="1295400"/>
            <a:ext cx="1905000" cy="647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C3 이후 실행 규칙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 or fallback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5146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47244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69342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9144000" y="1333500"/>
            <a:ext cx="152400" cy="26670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Step 2 · Final은 Prior를 끄지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→ BQ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없음 → affine (ON)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/ group / mode는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neural_safety는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FEMTO만).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0300" y="2381250"/>
            <a:ext cx="5524500" cy="1905000"/>
          </a:xfrm>
          <a:prstGeom prst="rect">
            <a:avLst/>
          </a:prstGeom>
          <a:solidFill>
            <a:srgbClr val="FFFFFF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2700" y="2495550"/>
            <a:ext cx="5219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Step 4 · C3 Executor gate에서 거절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2700" y="2819400"/>
            <a:ext cx="5219700" cy="1333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Prior는 ON이었지만 Val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미달 조건 (하나라도):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Gain &lt; 2%  ·  Unit wins &lt; 60%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&gt; 1.10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5720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승인되는 유일한 길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Contract 선언 → Prior ON → residual fit → Val 세 조건 PASS → route 1개 고정.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label로는 route를 바꾸지 않는다.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76875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암기  Prior gate = BQ vs affine  ·  Executor gate = 어떤 PP  ·  Val FAIL → fallback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Prior gate — known_boundary가 가르는 분기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select_ppx_route.  고장 시점≠고장 조건.  여기서 Prior ON/OFF만 결정한다.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838200"/>
            <a:ext cx="38100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86250" y="895350"/>
            <a:ext cx="3619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known_boundary 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28750"/>
            <a:ext cx="5334000" cy="30480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TRUE → boundary_pp  ·  BQ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의미  고장 조건(경계)을 안다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예) capacity≤80%, crack 33 mm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≠ “몇 사이클 뒤 고장”을 아는 것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검사  OOF / group / mode 없음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결과  prior_weight=1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다음  Step 3 · C2 fit → Step 4 · C3 executor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428750"/>
            <a:ext cx="5334000" cy="30480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0" y="1543050"/>
            <a:ext cx="50292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FALSE → affine  ·  Prior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200" y="1905000"/>
            <a:ext cx="50292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Final은 사다리를 돌리지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경계가 없으면 affine prior를 켠다.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/ group 수 / mode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stability는 계산하지 않음.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그 검사는 v1_declared 보관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(DS03 · FEMTO 역사 감사만).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625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차이 한 줄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있음 = BQ.  경계 없음 = affine.  둘 다 Prior ON.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Final에서 Prior OFF는 없다. 거절은 Executor Val FAIL만.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C3 Executor gate — Val에서 승인·거절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select_paper_ppx.  Prior ON일 때만 진입.  Contract flag가 연 후보만 비교.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76300"/>
            <a:ext cx="11277600" cy="83820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952500"/>
            <a:ext cx="109728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후보 (contract가 연 것만)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19200"/>
            <a:ext cx="10972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prior-only  ·  unbounded  ·  bounded  ·  dual*  ·  transport*  ·  history*  ·  direct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* dual/transport/history = 해당 flag True일 때만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85950"/>
            <a:ext cx="3810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세 조건 AND (전부 PASS여야 승인)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4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Gain ≥ 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Val MSE가 fallback보다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상대 2% 이상 작음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62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Unit wins ≥ 60%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62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물리 unit RMSE에서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승률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4800" y="2190750"/>
            <a:ext cx="3505200" cy="952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20050" y="2286000"/>
            <a:ext cx="33147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Worst ≤ 1.10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0050" y="2590800"/>
            <a:ext cx="33147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최악 unit RMSE 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fallback 대비 ≤1.10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429000"/>
            <a:ext cx="5334000" cy="13335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PASS →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통과 후보 중 Val loss 최소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(동점이면 더 단순한 executor)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그 route 1개를 test 전에 동결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429000"/>
            <a:ext cx="5334000" cy="133350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354330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FAIL → 거절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3886200"/>
            <a:ext cx="5029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어떤 prior-residual도 세 조건 미달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→ Direct / persistence fallback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(사전 contract에 적은 것)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2050"/>
            <a:ext cx="1127760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분기명  boundary_pp = BQ ON  ·  transferable_prior = affine ON  ·  neural_safety = v1_declared만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Final은 Prior를 끄지 않음  ·  Executor FAIL은 비교했지만 Val 위험 때문에 사전 fallback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C1 contract → C2 prior-residual core → C3 unit approval → frozen execution /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C1 Declare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C2 Learn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기본 경로 + bounded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C3 Approve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평균·unit wins·worst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known_boundary → BQ, 아니면 affine (Final)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실행 규칙 / 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승인 route 1개 고정, 아니면 사전 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데이터셋별 executor 유의성 — 왜 gate가 필요한가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칸 = ΔR² / BH q  ·  파랑=유의 개선  ·  주황=유의 악화  ·  회색=미확증  ·  —=contract 비적용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952500"/>
            <a:ext cx="16764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950" y="1038225"/>
            <a:ext cx="15621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데이터셋</a:t>
            </a:r>
          </a:p>
        </p:txBody>
      </p:sp>
      <p:sp>
        <p:nvSpPr>
          <p:cNvPr id="8" name="Rectangle 7"/>
          <p:cNvSpPr/>
          <p:nvPr/>
        </p:nvSpPr>
        <p:spPr>
          <a:xfrm>
            <a:off x="19812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88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Bounded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24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100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Dual-scale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12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8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24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Dist. decay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06000" y="952500"/>
            <a:ext cx="1981200" cy="400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53625" y="1038225"/>
            <a:ext cx="188595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Transport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4800" y="13525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1000" y="14954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Sunwoda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812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288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+.221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62400" y="13525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00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−.005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3525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912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+.350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724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6000" y="13525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3625" y="14287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4800" y="18669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1000" y="20097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RWTH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1200" y="18669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288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+.090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q=.156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62400" y="186690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100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−.037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18669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12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+1.256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8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724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906000" y="18669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53625" y="19431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4800" y="23812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1000" y="25241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MICH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9812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288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−.291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62400" y="23812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100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+.283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q=.033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43600" y="2381250"/>
            <a:ext cx="1981200" cy="514350"/>
          </a:xfrm>
          <a:prstGeom prst="rect">
            <a:avLst/>
          </a:prstGeom>
          <a:solidFill>
            <a:srgbClr val="FDF4E3"/>
          </a:solidFill>
          <a:ln w="15875">
            <a:solidFill>
              <a:srgbClr val="9B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912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−.204</a:t>
            </a:r>
          </a:p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q=.042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248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724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906000" y="23812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953625" y="24574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4800" y="28956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1000" y="30384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NASA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9812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0288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624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100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43600" y="28956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912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+.012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q=.758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248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9724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906000" y="28956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53625" y="29718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04800" y="34099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1000" y="35528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N-CMAPSS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9812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0288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9624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0100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943600" y="340995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912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+.009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q=.284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248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9724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906000" y="34099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953625" y="34861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04800" y="3924300"/>
            <a:ext cx="16764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81000" y="406717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MATR b2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9812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288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624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100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43600" y="392430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9912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924800" y="3924300"/>
            <a:ext cx="1981200" cy="514350"/>
          </a:xfrm>
          <a:prstGeom prst="rect">
            <a:avLst/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9724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+.002</a:t>
            </a:r>
          </a:p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q=.277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06000" y="392430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53625" y="400050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+.187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q=.020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04800" y="4438650"/>
            <a:ext cx="16764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81000" y="4581525"/>
            <a:ext cx="152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HUST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9812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0288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9624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0100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9436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912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924800" y="4438650"/>
            <a:ext cx="1981200" cy="514350"/>
          </a:xfrm>
          <a:prstGeom prst="rect">
            <a:avLst/>
          </a:prstGeom>
          <a:solidFill>
            <a:srgbClr val="FFFFFF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724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—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906000" y="4438650"/>
            <a:ext cx="1981200" cy="5143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953625" y="4514850"/>
            <a:ext cx="1885950" cy="361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+.128</a:t>
            </a:r>
          </a:p>
          <a:p>
            <a:pPr algn="ctr"/>
            <a:r>
              <a:rPr sz="1000" b="1">
                <a:solidFill>
                  <a:srgbClr val="0072B2"/>
                </a:solidFill>
                <a:latin typeface="Arial"/>
                <a:ea typeface="AppleGothic"/>
              </a:rPr>
              <a:t>q=.003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04800" y="5105400"/>
            <a:ext cx="11582400" cy="704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57200" y="5191125"/>
            <a:ext cx="112776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Gate 해석  같은 executor가 데이터셋에 따라 유의한 개선·악화를 모두 만든다 → 조건부 ON/OFF는 필요하다. 13-setting gate audit는 3개 개선·10개 유지·0개 악화였지만 통합 p-value가 없어, ‘현재 gate가 최적’이 아니라 ‘항상 ON은 부적절’까지 주장한다.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57200" y="58674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물리 unit · seeds 42–46 · bootstrap 50,000회 · exact sign-flip · 25비교 BH · retrospective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Final 0.81 · 2 GroupDRO 0.36 · 3 V-REx 0.35.  순위=9곳 평균 R².  강건=9곳에서 양수(9/9, 7/9, 7/9).  FT-Transformer도 동일예산으로 표시.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Gate 정책 검증 — Always-on / Always-off와 직접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 datasets · 98 physical units · frozen 2% / 60% / 1.10 · dataset→unit 계층 bootstrap 100,000회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914400"/>
          <a:ext cx="53340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  <a:gridCol w="133350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평균 log-RMSE 효과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손실 domain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선택 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Always-on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+0.082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gate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+0.041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943600" y="9144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15050" y="10287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Frozen gate − Always-on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5050" y="13716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−0.041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p=.969  ·  계층 CI [−.307, +.140]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400300"/>
            <a:ext cx="5791200" cy="1257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15050" y="2514600"/>
            <a:ext cx="54483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Frozen gate − Always-off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15050" y="2857500"/>
            <a:ext cx="54483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효과 차이 +0.041  ·  domain 4승 / 2패 / 6동률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exact sign-flip p=.719  ·  계층 CI [−.294, +.404]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" y="3962400"/>
            <a:ext cx="113919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선택 오류  False accept 2 · False reject 2  |  * oracle은 test를 본 비배포 상한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" y="4400550"/>
            <a:ext cx="11391900" cy="10668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350" y="4533900"/>
            <a:ext cx="1104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거절 조건부 감사  benchmark 교집합 5곳 중 4곳에서 거절이 맞았다. 고정 8-model panel의 22/40은 R²&lt;0, 3/5 설정은 과반 모델이 붕괴했다. Fallback 중앙 순위는 4/9.</a:t>
            </a:r>
          </a:p>
          <a:p>
            <a:pPr algn="ctr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판정  Gate는 손실 노출을 줄이는 안전장치이나 완벽하지 않다. Sunwoda false reject와 HUST fallback 8/9를 함께 공개하며, ‘항상 안전·항상 최선·다른 모델 모두 붕괴’는 주장하지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Stage-1 prior admissibility는 true로 고정한 Stage-2 단독 감사 · retrospective common-backbone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Final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3542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54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54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286250"/>
            <a:ext cx="112776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관측  PP-X만 9/9 양의 R² · 비교군 대비 SD가 작음 · Engression 대비 MAD .061 vs .280 (paired exact p=.0391).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참고  8개 모델 동시 Holm 보정은 비유의. 성공률·최악값·unit log-RMSE와 함께 해석한다.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048250"/>
            <a:ext cx="112776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기여  높은 평균 정확도만이 아니라, prior/executor 전역 오적용을 피하면서 도메인 간 실패와 편차를 줄였다.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affine latent-regime + Val output calibration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calibration 전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38/42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41/42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42/42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통계검정 지도 — 질문마다 검정이 다르다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내부 구조·외부 경쟁력·component·붕괴 안정성을 하나의 p값으로 섞지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714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비교 대상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표본 단위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구조가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matched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 · 77 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 + hierarchical bootstrap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· p=.0039 · RMSE −33.8%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강한 ML보다 경쟁력 있나?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vs 동일예산 최강 baseline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two-sided exact sign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8/9 · p=.0391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각 module이 필요한가?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component on vs off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physical units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sign/boot + 24개 BH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개선·일부 악화 유의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외삽이 덜 무너지나?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9모델의 setting별 R² 분포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 settings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MAD permutation + SD bootstrap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관찰상 우수; Holm 후 전역 비유의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Seed가 더 안정적인가?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5-seed refits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optimizer seeds 5개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exact sign/기술통계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p&lt;.05 확증 불가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1143000" y="5000625"/>
            <a:ext cx="9906000" cy="6858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33500" y="5124450"/>
            <a:ext cx="95250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핵심 주장: 현재 9개 retrospective 외삽 setting에서 PP-X는 prior 없는 direct보다 평균 오차가 작고, 강한 동일예산 비교군보다 8/9에서 높으며, 심한 음의 R² 붕괴가 덜 관찰됐다.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43/47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1 — prior–residual 구조의 평균 효과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FT-Transformer 비교가 아니다. 같은 데이터·split에서 prior 구조를 제거한 내부 대조군과 비교한다.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52500"/>
            <a:ext cx="3333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1123950"/>
            <a:ext cx="2952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비교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19250"/>
            <a:ext cx="2876550" cy="1428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 Final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vs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matched direct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같은 입력·split의 direct 예측 모델에서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BQ/affine prior-residual 구조만 제거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4250"/>
            <a:ext cx="2876550" cy="876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묻는 질문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“일반 direct 예측보다</a:t>
            </a:r>
          </a:p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prior 구조가 실제로 도움 되는가?”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95750" y="952500"/>
            <a:ext cx="3619500" cy="3905250"/>
          </a:xfrm>
          <a:prstGeom prst="rect">
            <a:avLst/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112395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계층 bootstrap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300" y="1619250"/>
            <a:ext cx="3200400" cy="2381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① 각 물리 unit의 RMSE 비교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② 데이터셋을 동일 확률로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③ 선택된 데이터셋 안에서 unit 재표집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④ 반복마다 log-RMSE 이득 계산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→ 큰 데이터셋이 결론을 독점하지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5300" y="4210050"/>
            <a:ext cx="32004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9 settings · 77 physical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0050" y="952500"/>
            <a:ext cx="3714750" cy="39052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0550" y="1123950"/>
            <a:ext cx="33337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결과와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0550" y="1638300"/>
            <a:ext cx="333375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9 / 9 우세  ·  p=.0039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34375" y="2381250"/>
            <a:ext cx="3076575" cy="0"/>
          </a:xfrm>
          <a:prstGeom prst="line">
            <a:avLst/>
          </a:prstGeom>
          <a:ln w="15875">
            <a:solidFill>
              <a:srgbClr val="0072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10550" y="2571750"/>
            <a:ext cx="3333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072B2"/>
                </a:solidFill>
                <a:latin typeface="Arial"/>
                <a:ea typeface="AppleGothic"/>
              </a:rPr>
              <a:t>평균 RMSE 33.8% 감소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0550" y="3124200"/>
            <a:ext cx="333375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95% CI: 15.8%–48.6%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0550" y="3752850"/>
            <a:ext cx="33337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log CI [.172,.665]를</a:t>
            </a:r>
          </a:p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사람이 읽기 쉬운 RMSE 감소율로 환산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" y="5143500"/>
            <a:ext cx="11144250" cy="476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말할 수 있음: 현재 평가 범위에서 prior–residual 구조의 평균 오차 감소가 0보다 크다. 말할 수 없음: 모든 MLP·Transformer보다 항상 우수하다.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44/47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2 — 동일예산 강력 baseline과의 외부 경쟁력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setting에서 30개 후보를 탐색한 가장 강한 baseline과 PP-X Final을 비교한다.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동일예산 최강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차이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 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RBF 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MLP 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−.686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.583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~0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04875" y="4810125"/>
            <a:ext cx="4762500" cy="809625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8 / 9 우세 · two-sided exact p=.0391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7000" y="4810125"/>
            <a:ext cx="4762500" cy="809625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19875" y="4933950"/>
            <a:ext cx="447675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Virkler에서는 FT-Transformer가 +.002 우세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5857875"/>
            <a:ext cx="110490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이 검정은 prior 구조의 내부 효과가 아니라, 동일한 탐색 예산 아래 외부 모델과의 경쟁력을 묻는다.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45/47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3 — component on/off와 Final route의 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강제 on/off ablation을 물리 unit 단위로 비교하고 24개 동시검정에 BH 보정을 적용했다.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04875"/>
          <a:ext cx="11277600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/>
                <a:gridCol w="1879600"/>
                <a:gridCol w="1879600"/>
                <a:gridCol w="1879600"/>
                <a:gridCol w="1879600"/>
                <a:gridCol w="1879600"/>
              </a:tblGrid>
              <a:tr h="359833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Component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OFF → ON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BH q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Ablation 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Final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.281 → .939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.659 → .878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nonlinear 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−3.343 → .468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.468 →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.878 → .842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.0208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fixed 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.759 → .468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.0313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유의하게 악화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OFF · dual 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59833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.829 → 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.0029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5983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.675 → 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66750" y="4572000"/>
            <a:ext cx="10858500" cy="8191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4695825"/>
            <a:ext cx="10477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실험과 실제 결과가 매칭됨: MICH는 dual-scale을 켰고, RWTH는 dual-scale을 끄고 fixed bound를 유지했다. 음성 ablation은 모델 실패가 아니라 잘못된 전역 적용을 막는 근거다.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5762625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BH 보정 목적: 24개 비교 중 우연히 유의한 결과가 생기는 허위발견률을 통제.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46/47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검정 4 — ‘외삽이 덜 무너진다’의 근거와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성능 평균뿐 아니라 setting 간 편차·최악 점수·음의 R² 발생을 함께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695325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0650"/>
                <a:gridCol w="1390650"/>
                <a:gridCol w="1390650"/>
                <a:gridCol w="1390650"/>
                <a:gridCol w="13906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.011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.998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10500" y="914400"/>
            <a:ext cx="3905250" cy="142875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10668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관찰된 붕괴 완화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4668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작은 SD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가장 높은 최악 R²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유일한 9/9 양의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0500" y="2628900"/>
            <a:ext cx="3905250" cy="1428750"/>
          </a:xfrm>
          <a:prstGeom prst="rect">
            <a:avLst/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781300"/>
            <a:ext cx="35242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통계적 경계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181350"/>
            <a:ext cx="352425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Engression 대비 MAD p=.0391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8모델 Holm 보정 q=.2734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→ 전 모델 대비 확증은 아님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4524375"/>
            <a:ext cx="11049000" cy="876300"/>
          </a:xfrm>
          <a:prstGeom prst="rect">
            <a:avLst/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" y="4657725"/>
            <a:ext cx="10572750" cy="590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허용 주장: “현재 9개 retrospective 외삽 setting에서 PP-X는 심한 성능 붕괴가 덜 관찰됐다.”</a:t>
            </a:r>
          </a:p>
          <a:p>
            <a:pPr algn="ctr"/>
            <a:r>
              <a:rPr sz="1250" b="1">
                <a:solidFill>
                  <a:srgbClr val="222222"/>
                </a:solidFill>
                <a:latin typeface="Arial"/>
                <a:ea typeface="AppleGothic"/>
              </a:rPr>
              <a:t>금지 주장: “모든 미래 데이터와 모든 모델에 대해 안정성 우월이 통계적으로 확증됐다.”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" y="5810250"/>
            <a:ext cx="10858500" cy="333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>
                <a:solidFill>
                  <a:srgbClr val="666666"/>
                </a:solidFill>
                <a:latin typeface="Arial"/>
                <a:ea typeface="AppleGothic"/>
              </a:rPr>
              <a:t>5-seed는 optimizer 재학습 기술통계다. n=5 양측 exact 검정 최소 p=.0625이므로 독립적인 안정성 확증으로 쓰지 않는다.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58500" y="6419850"/>
            <a:ext cx="8382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666666"/>
                </a:solidFill>
                <a:latin typeface="Arial"/>
                <a:ea typeface="AppleGothic"/>
              </a:rPr>
              <a:t>47/47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