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ps_lab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91500" y="552450"/>
            <a:ext cx="3048000" cy="609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2000" y="2095500"/>
            <a:ext cx="10668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222222"/>
                </a:solidFill>
                <a:latin typeface="Arial"/>
                <a:ea typeface="AppleGothic"/>
              </a:rPr>
              <a:t>Prior-Adaptive Extrapolation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2552700"/>
            <a:ext cx="10668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for Robust Prediction Beyond Observed Support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2000" y="31432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666666"/>
                </a:solidFill>
                <a:latin typeface="Arial"/>
                <a:ea typeface="AppleGothic"/>
              </a:rPr>
              <a:t>관측된 support 밖에서의 강건 예측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3714750"/>
            <a:ext cx="10668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논문 메인 모델  ·  PP-X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2000" y="4476750"/>
            <a:ext cx="1066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Smart Production Systems Lab.  ·  박사과정 박진서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4953000"/>
            <a:ext cx="1066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2026.09.11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문제 · 연구 배경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밖에서는 데이터가 답을 정하지 못한다.  정당화되는 prior에 맞춰 고른다.</a:t>
            </a:r>
          </a:p>
        </p:txBody>
      </p:sp>
      <p:pic>
        <p:nvPicPr>
          <p:cNvPr id="6" name="Picture 5" descr="nn_vs_saar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0960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42900" y="4686300"/>
            <a:ext cx="6096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점선 왼쪽은 학습, 오른쪽은 그 밖. 제약 없는 NN은 열화 중에도 예측이 되살아난다.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29400" y="8191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E8E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81800" y="8953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왜 외삽인가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81800" y="11239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학습 분포 안에서는 잘 맞혀도, 관측되지 않은 영역에서는 성능이 급히 떨어질 수 있다. 열화·RUL·피로균열은 실제 시점이 학습 support 밖인 경우가 많아, 보간보다 밖에서의 예측이 중요하다.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29400" y="2190750"/>
            <a:ext cx="5219700" cy="12573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81800" y="22669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prior는 일정하지 않다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81800" y="2495550"/>
            <a:ext cx="49149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같은 데이터라도 prior가 바뀌면 밖으로 나가는 곡선이 달라진다. 어떤 문제는 방향·경계·추세만 알고, 어떤 문제는 식과 적용 조건까지 있다. 맞지 않는 prior를 강제하면 외삽이 나빠진다.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29400" y="3562350"/>
            <a:ext cx="5219700" cy="1466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81800" y="3638550"/>
            <a:ext cx="4914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출발점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81800" y="3886200"/>
            <a:ext cx="4914900" cy="1028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맞는 답이 하나가 아니다. 밖을 지탱하는 것은 데이터가 아니라 지금 정당화되는 prior다. prior가 많을수록 좋은 것이 아니라, 그 수준과 신뢰성에 맞춰 외삽 전략을 고른다. 다음 장에서 경로를 나눈다.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2/36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사전 조사 — 회귀 외삽은 추가 가정 없이는 식별되지 않는다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대표 방법은 서로 다른 구조·분포 가정을 둔다. PP-X만 prior를 쓰는 것은 아니다.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38200"/>
            <a:ext cx="112776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조사 결론  범용 회귀기가 데이터만으로 support 밖 함수를 정해 주지는 않는다.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86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제약 없는 NN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6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ReLU 네트워크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6858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286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마지막 선형 조각을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밖으로 연장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6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암묵적이라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tail 형태를 통제하기 어렵다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37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052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0072B2"/>
                </a:solidFill>
                <a:latin typeface="Arial"/>
                <a:ea typeface="AppleGothic"/>
              </a:rPr>
              <a:t>형상 제약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052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CMNN · monotone NN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5623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35052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증가/감소 방향을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구조로 강제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052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단조 방향이 맞다는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 prior가 필요하다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1030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8175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E69F00"/>
                </a:solidFill>
                <a:latin typeface="Arial"/>
                <a:ea typeface="AppleGothic"/>
              </a:rPr>
              <a:t>식·물리 제약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8175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EQL · PINN · Physics-ML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43890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/>
          <p:cNvSpPr txBox="1"/>
          <p:nvPr/>
        </p:nvSpPr>
        <p:spPr>
          <a:xfrm>
            <a:off x="638175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함수식·PDE·열화 법칙을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구조 또는 loss에 반영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175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식과 적용 조건이 맞는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도메인에서 강하다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086850" y="1352550"/>
            <a:ext cx="2647950" cy="2857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58300" y="1504950"/>
            <a:ext cx="2305050" cy="2476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222222"/>
                </a:solidFill>
                <a:latin typeface="Arial"/>
                <a:ea typeface="AppleGothic"/>
              </a:rPr>
              <a:t>통계적 외삽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58300" y="1885950"/>
            <a:ext cx="23050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Engression · Xtrapolation</a:t>
            </a:r>
          </a:p>
          <a:p>
            <a:pPr algn="ctr"/>
            <a:r>
              <a:rPr sz="1100" b="1">
                <a:solidFill>
                  <a:srgbClr val="666666"/>
                </a:solidFill>
                <a:latin typeface="Arial"/>
                <a:ea typeface="AppleGothic"/>
              </a:rPr>
              <a:t>· Progression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9315450" y="22479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9258300" y="2419350"/>
            <a:ext cx="2305050" cy="552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noise 위치·미분 경계·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tail dependence를 가정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258300" y="3295650"/>
            <a:ext cx="2305050" cy="609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가정이 약하면 band가 넓고</a:t>
            </a:r>
          </a:p>
          <a:p>
            <a:pPr algn="ctr"/>
            <a:r>
              <a:rPr sz="1200" b="0">
                <a:solidFill>
                  <a:srgbClr val="9B1C1C"/>
                </a:solidFill>
                <a:latin typeface="Arial"/>
                <a:ea typeface="AppleGothic"/>
              </a:rPr>
              <a:t>점예측은 식별되지 않는다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476750"/>
            <a:ext cx="11277600" cy="990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6750" y="4591050"/>
            <a:ext cx="1085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직접 인접 연구  EV(2024)·LBO(2025)는 boundary-focused validation을 이미 제안했다.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6750" y="4914900"/>
            <a:ext cx="10858500" cy="4191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남은 질문  이질적인 prior를 outcome-free contract로 제한하고, physical-unit 위험으로 executor와 exact fallback을 시험 전에 함께 고정할 수 있는가?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753100"/>
            <a:ext cx="11277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Xu 2021 · Runje 2023 · Raissi 2019 · Shen &amp; Meinshausen 2024 · Pfister &amp; Bühlmann 2026 · Yu et al. 2024 · García et al. 2025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3/36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기여 — 새 블록 하나보다 ‘가정을 실행하는 규칙’을 제안한다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개별 요소의 최초성이 아니라, 외삽 가정의 선언·학습·승인·거절을 하나의 검증 가능한 절차로 결합한다.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6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C1  Typed contract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6858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6286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 결과를 보기 전에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경계 · unit · causal X ·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허용 prior · fallback 선언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337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052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C2  Prior-residual core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5623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5052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동결된 저복잡도 tail 주변에서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source가 지지하는 nonlinear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residual만 제한적으로 학습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8175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C3  Unit-evidence approval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43890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38175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group-disjoint validation의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이득 · unit wins · worst risk로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executor 승인 또는 거절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086850" y="1123950"/>
            <a:ext cx="2647950" cy="29908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58300" y="1352550"/>
            <a:ext cx="230505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C4  Frozen execution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9315450" y="1828800"/>
            <a:ext cx="219075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9258300" y="2133600"/>
            <a:ext cx="2305050" cy="13144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route 하나를 test 전에 고정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근거가 없으면 exact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성공·실패 결과를 함께 보고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362450"/>
            <a:ext cx="11277600" cy="1143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6750" y="4495800"/>
            <a:ext cx="108585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AppleGothic"/>
              </a:rPr>
              <a:t>결합 방식  Contract C → 허용 후보 E(C) 제한 → prior-residual 후보 학습 → unit-risk 제약 아래 validation-best executor 선택 → frozen route / fallback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6750" y="4933950"/>
            <a:ext cx="10858500" cy="4000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FFFFFF"/>
                </a:solidFill>
                <a:latin typeface="Arial"/>
                <a:ea typeface="AppleGothic"/>
              </a:rPr>
              <a:t>차별점  prior+residual·validation·abstention을 나열한 것이 아니라, 앞 단계의 출력이 다음 단계의 허용 입력을 제한하는 하나의 실행 알고리즘으로 만든다.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5734050"/>
            <a:ext cx="11277600" cy="285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>
                <a:solidFill>
                  <a:srgbClr val="666666"/>
                </a:solidFill>
                <a:latin typeface="Arial"/>
                <a:ea typeface="AppleGothic"/>
              </a:rPr>
              <a:t>실증  9개 retrospective setting 중 동일예산 최강 비교모델 대비 8개 우세 · DS03에서는 prior 거절 성공, Engression보다 정확도 우월은 미확증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4/36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연구 루트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그래서 후보식이 정당화되는지에 따라 경로를 나눈다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050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관측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432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85775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경계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9600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810500" y="876300"/>
            <a:ext cx="2476500" cy="381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도메인 지식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9048750" y="1257300"/>
            <a:ext cx="0" cy="2286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3143250" y="1485900"/>
            <a:ext cx="59055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6096000" y="1485900"/>
            <a:ext cx="0" cy="1333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Down Arrow 13"/>
          <p:cNvSpPr/>
          <p:nvPr/>
        </p:nvSpPr>
        <p:spPr>
          <a:xfrm>
            <a:off x="5943600" y="160020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2952750" y="1752600"/>
            <a:ext cx="6286500" cy="4572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700" b="1">
                <a:solidFill>
                  <a:srgbClr val="FFFFFF"/>
                </a:solidFill>
                <a:latin typeface="Arial"/>
                <a:ea typeface="AppleGothic"/>
              </a:rPr>
              <a:t>후보식이 정당화되는가?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3238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8953500" y="22098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3238500" y="236220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Down Arrow 18"/>
          <p:cNvSpPr/>
          <p:nvPr/>
        </p:nvSpPr>
        <p:spPr>
          <a:xfrm>
            <a:off x="3086100" y="2362200"/>
            <a:ext cx="304800" cy="15240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Down Arrow 19"/>
          <p:cNvSpPr/>
          <p:nvPr/>
        </p:nvSpPr>
        <p:spPr>
          <a:xfrm>
            <a:off x="8801100" y="2362200"/>
            <a:ext cx="304800" cy="15240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382250" y="2171700"/>
            <a:ext cx="1143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6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66750" y="2590800"/>
            <a:ext cx="76200" cy="1905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343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이번 발표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33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3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equation-free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3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prior-residual core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+ evidence-selected executor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3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논문 동결 정의  ·  Algorithm 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381750" y="2590800"/>
            <a:ext cx="5143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81750" y="2590800"/>
            <a:ext cx="76200" cy="1905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10058400" y="2724150"/>
            <a:ext cx="12382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48450" y="2705100"/>
            <a:ext cx="3238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48450" y="3067050"/>
            <a:ext cx="45720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equation-aware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48450" y="33528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허용된 식 + 제한 NN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48450" y="365760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이득 없으면 PP-X로 되돌림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48450" y="4057650"/>
            <a:ext cx="4667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LLM · 온톨로지 · source gate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3238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8953500" y="4495800"/>
            <a:ext cx="0" cy="24765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/>
          <p:nvPr/>
        </p:nvCxnSpPr>
        <p:spPr>
          <a:xfrm>
            <a:off x="3238500" y="4743450"/>
            <a:ext cx="5715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Down Arrow 41"/>
          <p:cNvSpPr/>
          <p:nvPr/>
        </p:nvSpPr>
        <p:spPr>
          <a:xfrm>
            <a:off x="5943600" y="4743450"/>
            <a:ext cx="304800" cy="11430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2095500" y="4933950"/>
            <a:ext cx="8001000" cy="4191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Assurance    ·    믿기  /  보류  /  거절    →    박사논문에서 두 경로 통합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66750" y="5505450"/>
            <a:ext cx="1085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오늘은 왼쪽만 간다.  PAE와 Assurance는 지도에만 찍는다.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TextBox 4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5/36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방법 — 최종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작은 공통 prior-residual core + validation-approved executor + prespecified fallback</a:t>
            </a:r>
          </a:p>
        </p:txBody>
      </p:sp>
      <p:pic>
        <p:nvPicPr>
          <p:cNvPr id="6" name="Picture 5" descr="ppx_co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524750" y="819150"/>
          <a:ext cx="4267200" cy="2362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59055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단계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PP-X가 하는 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(a) contract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경계·unit·causal X·허용 prior·fallback 선언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(b) core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동결 affine/quotient tail + bounded nonlinear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9055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(c)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bound·history·transport 중 validation이 지지한 것만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524750" y="3314700"/>
          <a:ext cx="4267200" cy="1905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</a:tblGrid>
              <a:tr h="381000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승인 규칙 (val/source만)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조건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Prior admissibility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OOF regret·complete groups·regime coverage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 RMSE 상대 2% 이상 개선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risk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 ≥60% · worst ratio ≤1.10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8100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사전 지정 direct/persistence fallback 또는 abstention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190500" y="4648200"/>
            <a:ext cx="7239000" cy="838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모든 데이터셋에서 같은 optional module을 켜지 않는다. 공통점은 prior와 residual의 역할을 분리하고, contract가 허용한 executor만 validation에서 승인한다.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route가 승인되지 않으면 해당 contract에 미리 적은 direct·persistence fallback 또는 abstention으로 간다.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" y="5715000"/>
            <a:ext cx="11525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버전 번호 혼동을 피하기 위해 논문과 본 발표에서는 ‘PP-X Algorithm 1’로만 표기한다.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6/36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Algorithm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outcome-free contract → validation approval → frozen execution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096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① Typed contract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boundary · progression · history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regime · support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후보 executor 제한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337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4861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② Prior admissibility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861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complete source groups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OOF regret ≤ 0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mode stability ≥ .60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030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6270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③ Executor approval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6270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 gain ≥ 2%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≥ 60%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worst ratio ≤ 1.10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86850" y="1238250"/>
            <a:ext cx="2647950" cy="2667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9250" y="1390650"/>
            <a:ext cx="23431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④ Frozen output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9250" y="2000250"/>
            <a:ext cx="2343150" cy="1238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승인 executor 1개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또는 prespecified fallback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test에서 route 불변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051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8170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858250" y="2381250"/>
            <a:ext cx="2286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666666"/>
                </a:solidFill>
                <a:latin typeface="Arial"/>
                <a:ea typeface="AppleGothic"/>
              </a:rP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86250"/>
            <a:ext cx="11277600" cy="81915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7700" y="4457700"/>
            <a:ext cx="10896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FFFF"/>
                </a:solidFill>
                <a:latin typeface="Arial"/>
                <a:ea typeface="AppleGothic"/>
              </a:rPr>
              <a:t>논문 메인 = PP-X 선택 알고리즘  ·  CCMR은 trajectory risk-aware executor 사례  ·  12개 과거 route가 하나의 동일 NN이라는 뜻은 아님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391150"/>
            <a:ext cx="1127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666666"/>
                </a:solidFill>
                <a:latin typeface="Arial"/>
                <a:ea typeface="AppleGothic"/>
              </a:rPr>
              <a:t>동결  protocols/PPX_PAPER_METHOD_V1_FROZEN_PROTOCOL.md  ·  구현  paper_ppx.py  ·  선택 함수는 test outcome 인자를 받지 않음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7/36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 구간을 어떻게 정하는가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학습이 본 건강 범위보다 더 진행된 관측만 점수로 친다</a:t>
            </a:r>
          </a:p>
        </p:txBody>
      </p:sp>
      <p:pic>
        <p:nvPicPr>
          <p:cNvPr id="6" name="Picture 5" descr="extrapolation_c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19150"/>
            <a:ext cx="6858000" cy="3333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34250" y="838200"/>
          <a:ext cx="4400550" cy="3333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0275"/>
                <a:gridCol w="2200275"/>
              </a:tblGrid>
              <a:tr h="416718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절차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내용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경계, 유닛, 시간, 입력, 외삽 좌표를 먼저 고정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학습·검증·시험에 같은 유닛을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학습에는 본 적 있는 건강 구간만 사용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검증·시험에는 그 범위 밖 관측만 남김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정규화 통계는 학습 분할에서만 계산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6718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모델과 executor는 검증에서만 선택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672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고정한 시험 분할은 한 번만 예측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305300"/>
            <a:ext cx="11430000" cy="952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세로선은 학습에서 관측한 최저 건강이다. 그보다 더 나빠진 구간(오른쪽)만 검증·시험 점수에 넣는다.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같은 유닛의 미래 값, 최종 수명, 시험 궤적에서 만든 통계는 입력에 쓰지 않는다. 이 조건을 어기면 내삽 평가가 된다.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2900" y="5353050"/>
            <a:ext cx="11430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자르는 규칙은 같다. 외삽 geometry는 셋마다 다르므로 다음 장에서 1D와 다차원을 구분해 적는다.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8/36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외삽을 숫자로 확인하는 방법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기준이다. 전체 feature-space hull 밖이라고 말하지 않는다.</a:t>
            </a:r>
          </a:p>
        </p:txBody>
      </p:sp>
      <p:pic>
        <p:nvPicPr>
          <p:cNvPr id="6" name="Picture 5" descr="hull_dis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81050"/>
            <a:ext cx="4953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238750" y="781050"/>
          <a:ext cx="6572248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3062"/>
                <a:gridCol w="1643062"/>
                <a:gridCol w="1643062"/>
                <a:gridCol w="1643062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1D Hull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거리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성격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4.42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건강. 매우 명확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5.55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support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3.43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늦은 건강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2.01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셀 · 건강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유닛 · 충전법/말기. 1D 기준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1.62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미지 시편 · 균열 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100%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83.6% · 조건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90500" y="4743450"/>
            <a:ext cx="118110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오늘 그림에는 1D ordered-coordinate 기준의 엄격한 외삽만 남긴다. XJTU·FEMTO·NASA milling은 도메인/재료 transfer라 이 표에 없다.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1D Hull-out 100%는 ‘선언한 건강·균열·조건 축’ 밖이지, 전체 특징공간 convex hull 밖이 아니다. 배치2와 엔진은 PCA 2D에서 0%다.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엔진은 거리 0.23 SD·Target-out 0%라 먼 수명 외삽이 아니라 운전조건(regime) 외삽이다.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9/36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프로토콜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점수는 이 범위 안에서만 읽는다  ·  적합도는 허가증이지 성적표가 아니다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52500"/>
          <a:ext cx="11277600" cy="2381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200"/>
                <a:gridCol w="3759200"/>
                <a:gridCol w="3759200"/>
              </a:tblGrid>
              <a:tr h="476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규칙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의미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깨지면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 / val / test 셀이 겹치지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유닛 누수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hull-out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선언한 1D 열화좌표에서 test가 train 밖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내삽으로 바뀜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val-only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게이트·보정을 val에서만 고름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test로 튜닝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Pass / Weak / Fail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운행 허가. Fail이면 예측을 옮기지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억지 점수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In scope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예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late-tail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 · RWTH · MICH · MATR2019 · NASA · Virkler · 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+ 다차원 설명 필요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 · N-CMAPSS (PCA2는 0%)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executor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train/val · group-LOO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103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오늘 표에 없음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전체 feature hull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≠ 다차원 hull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/ 재료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조건·끝점·재질 이동은 다른 종류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C-MAPSS FD002/004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hull은 강하나 이번 주표 밖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10/36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 결과 — 최종 PP-X portfolio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1D 열화좌표 기준의 엄격한 외삽만.  retrospective development 결과  ·  PAE 없음</a:t>
            </a:r>
          </a:p>
        </p:txBody>
      </p:sp>
      <p:pic>
        <p:nvPicPr>
          <p:cNvPr id="6" name="Picture 5" descr="ppx_portfol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5750" y="781050"/>
            <a:ext cx="6477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858000" y="838200"/>
          <a:ext cx="4876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25600"/>
                <a:gridCol w="1625600"/>
                <a:gridCol w="1625600"/>
              </a:tblGrid>
              <a:tr h="36576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Executor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gated 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BQ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decay+transport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cal.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342900" y="4648200"/>
            <a:ext cx="3810000" cy="16002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2900" y="4648200"/>
            <a:ext cx="76200" cy="16002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3400" y="4743450"/>
            <a:ext cx="3429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Li 배터리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3400" y="4991100"/>
            <a:ext cx="34290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화중·선우다·아헨·미시간 리튬셀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MIT 수명 벤치 (2019 / 배치2)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NASA 실험용 18650  (로켓 아님)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5300" y="4648200"/>
            <a:ext cx="3619500" cy="16002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05300" y="4648200"/>
            <a:ext cx="76200" cy="16002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5800" y="474345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균열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5800" y="4991100"/>
            <a:ext cx="32385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알루미늄 판에 금이 감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재료 피로실험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배터리 아님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77200" y="4648200"/>
            <a:ext cx="3771900" cy="16002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77200" y="4648200"/>
            <a:ext cx="76200" cy="16002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67700" y="4743450"/>
            <a:ext cx="33909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엔진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67700" y="4991100"/>
            <a:ext cx="3390900" cy="1047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항공기 엔진 시뮬레이터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처음 보는 비행조건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실제 비행기 데이터가 아님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11/36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dual-scale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하나  ·  모든 데이터에 켜는 기본값이 아니다</a:t>
            </a:r>
          </a:p>
        </p:txBody>
      </p:sp>
      <p:pic>
        <p:nvPicPr>
          <p:cNvPr id="6" name="Picture 5" descr="ablation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117348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55245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고정 bound는 Sun·RWTH에서는 높지만 MICH를 0.468에 묶는다. dual-scale을 켠 뒤에야 MICH가 0.751이 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953000"/>
            <a:ext cx="54483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평균을 조금 낮추고 최저 점수를 올린 선택이다. 데이터별 최고점을 모은 모델이 아니다.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12/36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구성요소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켠 모델 − matched 제거 arm  ·  ΔR²</a:t>
            </a:r>
          </a:p>
        </p:txBody>
      </p:sp>
      <p:pic>
        <p:nvPicPr>
          <p:cNvPr id="6" name="Picture 5" descr="ablation_del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900" y="83820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715250" y="838200"/>
          <a:ext cx="409575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250"/>
                <a:gridCol w="1365250"/>
                <a:gridCol w="1365250"/>
              </a:tblGrid>
              <a:tr h="423333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기능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대표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+0.658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+3.811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affine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+0.221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Fixed bound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−0.291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+0.283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3333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Rate hist.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+1.256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3336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+0.187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42900" y="4953000"/>
            <a:ext cx="72390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결론  residual은 세 배터리에서 모두 이득이다. 고정 bound와 full history는 MICH에서 마이너스다. 그래서 모듈을 쌓지 않고, 근거 있는 executor만 켠다.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13/36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대조군 · history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matched 6-arm  ·  (b) causal history</a:t>
            </a:r>
          </a:p>
        </p:txBody>
      </p:sp>
      <p:pic>
        <p:nvPicPr>
          <p:cNvPr id="6" name="Picture 5" descr="ablation_arm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838200"/>
            <a:ext cx="6000750" cy="3810000"/>
          </a:xfrm>
          <a:prstGeom prst="rect">
            <a:avLst/>
          </a:prstGeom>
        </p:spPr>
      </p:pic>
      <p:pic>
        <p:nvPicPr>
          <p:cNvPr id="7" name="Picture 6" descr="abla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250" y="838200"/>
            <a:ext cx="5715000" cy="3619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57200" y="4762500"/>
            <a:ext cx="112395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Affine만, 또는 그냥 NN만으로는 부족하다. 동결 affine 위에 제한 residual을 올린 조합이 세 셋에서 가장 안정하다.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속도 이력은 Sun·RWTH에 필요하고, MICH에서는 단순한 margin history가 더 높다(0.715 vs 0.468). 이력을 전역 기본값으로 두지 않는다.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14/36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transport · gate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optional executor는 항상 켜지 않는다</a:t>
            </a:r>
          </a:p>
        </p:txBody>
      </p:sp>
      <p:pic>
        <p:nvPicPr>
          <p:cNvPr id="6" name="Picture 5" descr="ablation_mat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952500"/>
            <a:ext cx="4762500" cy="4000500"/>
          </a:xfrm>
          <a:prstGeom prst="rect">
            <a:avLst/>
          </a:prstGeom>
        </p:spPr>
      </p:pic>
      <p:pic>
        <p:nvPicPr>
          <p:cNvPr id="7" name="Picture 6" descr="stats_g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34000" y="952500"/>
            <a:ext cx="6477000" cy="38100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81000" y="4933950"/>
            <a:ext cx="11430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(a) 결론  MATRb2에서 transport가 주효과(+0.187)다. decay만으로는 +0.002다. 둘을 같이 켜야 0.862다.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(b) 결론  gate는 성능을 만드는 장치가 아니라 거절 장치다. 13곳 중 3곳만 개선, 10곳은 유지, 악화 0. seed는 5/5일 때만 승인한다.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15/36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종합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모듈을 쌓지 않는다.  검증에서 이득이 있는 executor만 켠다.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191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앞 네 장의 숫자를 한 규칙으로 읽는다. 최종 PP-X는 공통 core + 데이터마다 고른 executor다.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18110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77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072B2"/>
                </a:solidFill>
                <a:latin typeface="Arial"/>
                <a:ea typeface="AppleGothic"/>
              </a:rPr>
              <a:t>항상 켠다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77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core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77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동결 affine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+ 제한 residual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Affine만, 또는 NN만으로는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세 배터리에서 무너진다.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Residual ΔR²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Sun +0.66  ·  MICH +3.81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8625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86250" y="118110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7675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E69F00"/>
                </a:solidFill>
                <a:latin typeface="Arial"/>
                <a:ea typeface="AppleGothic"/>
              </a:rPr>
              <a:t>근거 있을 때만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7675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executor  ·  val-only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7675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 MICH만 (+0.28)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속도 이력  Sun · RWTH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transport  HUST · MATRb2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gate  13곳 중 3곳만 승인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악화 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300" y="118110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15300" y="118110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05800" y="1295400"/>
            <a:ext cx="32385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222222"/>
                </a:solidFill>
                <a:latin typeface="Arial"/>
                <a:ea typeface="AppleGothic"/>
              </a:rPr>
              <a:t>켜면 나빠진다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05800" y="1638300"/>
            <a:ext cx="32385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전역 기본값으로 두지 않음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5800" y="1924050"/>
            <a:ext cx="3238500" cy="2476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고정 bound → MICH −0.29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full rate history → MICH −0.25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dual-scale → Sun −0.005,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RWTH −0.036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/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평균을 조금 깎고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최저점을 살리는 선택은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데이터별 최고점 모음이 아니다.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800600"/>
            <a:ext cx="11277600" cy="6858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읽는 법    core는 고정한다.   executor는 검증 증거가 있을 때만 켠다.   실패하면 safety로 되돌린다.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558165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그래서 주표의 executor가 데이터마다 다르다.  한꺼번에 켠 공동 모델이 아니다.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16/36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비교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(a) heatmap  ·  (b) PP-X vs TabPFN vs others</a:t>
            </a:r>
          </a:p>
        </p:txBody>
      </p:sp>
      <p:pic>
        <p:nvPicPr>
          <p:cNvPr id="6" name="Picture 5" descr="competitor_ba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685800"/>
            <a:ext cx="11887200" cy="5029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81000" y="5791200"/>
            <a:ext cx="114300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1 PP-X 0.81 · 2 GroupDRO 0.36 · 3 V-REx 0.35.  순위=9곳 평균 R².  강건=9곳에서 양수(9/9, 7/9, 7/9).  MICH TabPFN=동일 202행, v3 CPU, ensemble −1.86.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17/36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통계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무엇을 검정했는가  ·  파랑 = p&lt;0.05  ·  주황 = 유의 못 함</a:t>
            </a:r>
          </a:p>
        </p:txBody>
      </p:sp>
      <p:pic>
        <p:nvPicPr>
          <p:cNvPr id="6" name="Picture 5" descr="stats_wilcox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" y="781050"/>
            <a:ext cx="5410200" cy="32385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619750" y="781050"/>
          <a:ext cx="6191248" cy="3238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47812"/>
                <a:gridCol w="1547812"/>
                <a:gridCol w="1547812"/>
                <a:gridCol w="1547812"/>
              </a:tblGrid>
              <a:tr h="462642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①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질문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결과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Sun·RWTH·MICH 25 unit RMSE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17/25 p=.003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soft / affine 대비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24/25 · 25/25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Wilcoxon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trainable / unbounded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p=.071 · .578  못 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 wins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물리 유닛 77개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60/77 이김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6264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 test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아홉 셋 모두 우세인가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9/9  양측 p=.0039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6264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Bound audit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residual이 이론 bound를 넘나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17,645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2667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10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W  Wilcoxon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10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쌍을 이룬 unit RMSE.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중앙 차이 = 0.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파랑만 ‘이겼다’고 말함.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주황은 이긴 칸이 있어도 유의 아님.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385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528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S  Seed binomial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528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 seed가 affine을 골랐는가.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H0: 확률 ≤ 0.5.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5/5만 α=0.05 통과.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물리 반복이 아님.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0300" y="4114800"/>
            <a:ext cx="2857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4600" y="4191000"/>
            <a:ext cx="26289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0072B2"/>
                </a:solidFill>
                <a:latin typeface="Arial"/>
                <a:ea typeface="AppleGothic"/>
              </a:rPr>
              <a:t>D  Domain sign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24600" y="4419600"/>
            <a:ext cx="26289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1D 엄격한 외삽 9곳.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9/9 양측 exact p=.0039.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계층 bootstrap 95% CI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log-RMSE [0.17, 0.67].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82100" y="4114800"/>
            <a:ext cx="26289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96400" y="4191000"/>
            <a:ext cx="24003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222222"/>
                </a:solidFill>
                <a:latin typeface="Arial"/>
                <a:ea typeface="AppleGothic"/>
              </a:rPr>
              <a:t>B  Bound audit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96400" y="4419600"/>
            <a:ext cx="2400300" cy="14763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가설검정이 아니라 제약 감사.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|ŷ−affine| ≤ margin·B</a:t>
            </a:r>
          </a:p>
          <a:p>
            <a:pPr algn="l"/>
            <a:r>
              <a:rPr sz="1100" b="0">
                <a:solidFill>
                  <a:srgbClr val="222222"/>
                </a:solidFill>
                <a:latin typeface="Arial"/>
                <a:ea typeface="AppleGothic"/>
              </a:rPr>
              <a:t>17,645점 위반 0.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18/36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유닛 단위에서 개선이 한쪽으로 몰리지 않았는지 확인한다</a:t>
            </a:r>
          </a:p>
        </p:txBody>
      </p:sp>
      <p:pic>
        <p:nvPicPr>
          <p:cNvPr id="6" name="Picture 5" descr="robustness_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762000"/>
            <a:ext cx="11430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457700"/>
            <a:ext cx="5524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(a) 결론  최종 executor 교정 후 유닛 log-RMSE 비는 평균 0.41, 계층 bootstrap 95% CI [0.17, 0.67]. 기하평균 RMSE 감소 33.8%. BH 보정 개별 유의는 선우다·배치2다.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6500" y="4457700"/>
            <a:ext cx="54483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(b) 결론  MICH 시험 8유닛의 개별 R²가 모두 양수다(0.50–0.96). 합친 점수 0.751은 한 유닛에 몰린 값이 아니므로 대표값으로 읽어도 된다. 이 그림은 검정이 아니라 분포 확인이다.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9595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정리  유닛 안에서는 근거가 있다. 데이터 종류가 세 개뿐이라 분야 전체 유의는 말하지 않는다.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19/36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정책 검증 — validation만으로는 부족하다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12-domain common-backbone retrospective audit  ·  oracle은 비배포 상한</a:t>
            </a:r>
          </a:p>
        </p:txBody>
      </p:sp>
      <p:pic>
        <p:nvPicPr>
          <p:cNvPr id="6" name="Picture 5" descr="ppx_policy_aud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" y="781050"/>
            <a:ext cx="7239000" cy="381000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5725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3500"/>
                <a:gridCol w="1333500"/>
                <a:gridCol w="1333500"/>
              </a:tblGrid>
              <a:tr h="523875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정책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정확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FA / FR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direct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Always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6 / 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 RMSE only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7/12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4 / 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Frozen PP-X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8/12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 /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23875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Test oracle*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12/12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 / 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696200" y="4171950"/>
            <a:ext cx="40005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9B1C1C"/>
                </a:solidFill>
                <a:latin typeface="Arial"/>
                <a:ea typeface="AppleGothic"/>
              </a:rPr>
              <a:t>* test oracle는 선택에 쓸 수 없는 성능 상한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857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validation RMSE gate만으로는 오탐 4개다. unit-risk를 넣어도 prior contract를 고정 승인하면 오탐 2개가 남는다.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따라서 contract가 admissible prior를 먼저 제한해야 한다. 이후 DS03 prospective에서 unsupported prior 거절이 실제 test-best PP-X route였다.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20/36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공정 비교 — 9 settings × 8 baselines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각 모델 validation 후보 30개  ·  search seed 42  ·  refit seeds 42–46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42900" y="819150"/>
          <a:ext cx="11506200" cy="3619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1240"/>
                <a:gridCol w="2301240"/>
                <a:gridCol w="2301240"/>
                <a:gridCol w="2301240"/>
                <a:gridCol w="2301240"/>
              </a:tblGrid>
              <a:tr h="361950"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Setting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최강 30-candidate 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Baseline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ΔR²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GroupDRO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0.955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−.002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0.583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0.838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+.102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0.878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linear-tail RBF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+.146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0.751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monotone NN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−0.686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+1.437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0.342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+.123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MATR-b2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plain MLP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0.813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+.049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6195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0.932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+.005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42900" y="4724400"/>
            <a:ext cx="11506200" cy="8763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95300" y="4876800"/>
            <a:ext cx="11201400" cy="514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결론  PP-X 8/9 우세  ·  exact dataset sign test p=.0391  ·  3,360 training jobs</a:t>
            </a:r>
          </a:p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예외  Virkler FT가 +.002  ·  NASA 사실상 동률  ·  PP-X는 typed executor라 하나의 공통 hyperparameter grid로 재개발하지 않음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21/36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Prospective — N-CMAPSS DS03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protocol → raw hash → selection artifact를 test Y 공개 전에 각각 GitHub 동결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00050" y="857250"/>
          <a:ext cx="54292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/>
                <a:gridCol w="1809750"/>
                <a:gridCol w="1809750"/>
              </a:tblGrid>
              <a:tr h="6191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Validation route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MSE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direct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37.639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prior-residual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85.774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6191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multiscale prior-residual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95.858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거절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134100" y="857250"/>
          <a:ext cx="5619750" cy="2476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3250"/>
                <a:gridCol w="1873250"/>
                <a:gridCol w="1873250"/>
              </a:tblGrid>
              <a:tr h="4953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Prospective test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Engression 30c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0.901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최고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FT-Transformer 30c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0.899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2위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PP-X selected fallback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양수·비우월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953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basic / multiscale PP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0.832 / 0.869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선택보다 열세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400050" y="3733800"/>
            <a:ext cx="5429250" cy="1524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52450" y="3905250"/>
            <a:ext cx="51244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PASS  미래 route 선택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2450" y="4343400"/>
            <a:ext cx="51244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gate가 prior 두 개를 거절했고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실제 test-best PP-X route 선택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34100" y="3733800"/>
            <a:ext cx="5619750" cy="1524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86500" y="3905250"/>
            <a:ext cx="531495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FAIL  predictive superiority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6500" y="4343400"/>
            <a:ext cx="531495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Engression 대비 ΔR² −.0195</a:t>
            </a:r>
          </a:p>
          <a:p>
            <a:pPr algn="ctr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unit wins 1/6 · worst ratio 1.989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50" y="5562600"/>
            <a:ext cx="11353800" cy="3238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666666"/>
                </a:solidFill>
                <a:latin typeface="Arial"/>
                <a:ea typeface="AppleGothic"/>
              </a:rPr>
              <a:t>정직한 결론  prospective route-selection success, predictive superiority not confirmed  ·  DS03는 within-family 검증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22/36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실패 · 경계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오늘 표는 1D 엄격한 외삽만.  같은 100%라도 geometry는 다르다.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047750"/>
          <a:ext cx="11277600" cy="21907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4381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경계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읽는 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 (base)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-1.522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관계 이동 · 보정 꺼짐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켠 뒤 0.751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MATR2019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건강 tail은 맞음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주표에 남기되 약점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0.937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조건 외삽. 먼 RUL tail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381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1D 100% · PCA2 0% · PCA3 99.2%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다차원 geometry를 같이 적음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619500"/>
          <a:ext cx="55245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/>
                <a:gridCol w="27622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Claim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Model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최종 PP-X = 공통 core + validation-approved executor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Scope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unit-disjoint · hull-out · val-only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Not default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dual-scale · transport · full history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Venue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분야 Q1–Q2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286500" y="3619500"/>
          <a:ext cx="5448300" cy="2095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4150"/>
                <a:gridCol w="272415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Not claimed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Detail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Zn / Na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사후 개발 — untouched 확증 아님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도메인 transfer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외삽 정의에 넣지 않음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PAE 주표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오늘 점수와 섞지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Universal SOTA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모든 OOD 1등 아님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23/36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끝난 고호트 — PP-X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잘된 셋만 PP-X.  MATR 두 곳은 기존 PP-X artifact  ·  Misata는 방금 같은 split으로 재실행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876300"/>
          <a:ext cx="11277600" cy="3429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400"/>
                <a:gridCol w="2819400"/>
                <a:gridCol w="2819400"/>
                <a:gridCol w="2819400"/>
              </a:tblGrid>
              <a:tr h="85725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고호트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경로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 R²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판정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2019-01-24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validation-calibrated latent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0.466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latent 0.257에서 개선. 주표와 동일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 batch2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regime transport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0.862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봉인 0.471/0.523에서 개선. 주표와 동일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85725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Misata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core · val이 unbounded 선택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0.829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양수. MLP 0.854. 우월 확증은 여전히 실패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4476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Misata 새 실행  seed 42–46 ensemble 0.829 (개별 0.816–0.829). executor는 validation에서 bounded가 2%를 못 넘겨 unbounded. 기존 locked MLP와 같은 1298행.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Oxford·MATWI·팬·XJTU는 실패 고호트라 PP-X로 다시 돌리지 않았다.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24/36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PP-X 구조 검증 — CCMR v2.2 executor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trajectory-domain bank + small-cohort route  ·  논문 메인 명칭은 PP-X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 trajectory executor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predictor v2.0 bank 유지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 unit 3–9 → small_crossfit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 외 → stable / cautious / fallback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5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개발 5고호트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false accept 0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max raw regret 0%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SIT LFP만 엄격 개선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geo RMSE ratio 0.9986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77200" y="838200"/>
            <a:ext cx="3619500" cy="1905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7700" y="990600"/>
            <a:ext cx="32385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거절 후보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7700" y="1333500"/>
            <a:ext cx="3238500" cy="1143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v2.3 AC-CRPE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안전(false accept 0)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그러나 GM RMSE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v2.2 대비 ≈0.0002% 악화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295275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PP-X 증거  소표본 route와 exact fallback이 선택적 prior 사용의 안전성을 지지. MultiStage에서 안정성 우위.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주장 불가  PP-X가 보편적 SOTA / Alloy 정확도에서 Engression을 이겼다 / Alloy를 보고 재튜닝했다.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000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9B1C1C"/>
                </a:solidFill>
                <a:latin typeface="Arial"/>
                <a:ea typeface="AppleGothic"/>
              </a:rPr>
              <a:t>Alloy A · MultiStage는 봉인 holdout이다. 점수를 보고 구조를 다시 맞추지 않는다. 아래 ablation·벤치마크는 retrospective evidence다.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5775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근거  CCMR_V22_SMALL_COHORT_RESULTS_KO.md  ·  CCMR_V23_AC_CRPE_RESULTS_KO.md  ·  results/ccmr_model_ablation_stats_benchmark_v1/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25/36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CCMR v2.0 → v2.2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개발 5고호트  ·  paired RMSE gain + bootstrap CI</a:t>
            </a:r>
          </a:p>
        </p:txBody>
      </p:sp>
      <p:pic>
        <p:nvPicPr>
          <p:cNvPr id="6" name="Picture 5" descr="ccmr_v22_dev_improv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통계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RMSE ratio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0.9986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mean RMSE gain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+0.14%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strict better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5 / 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sign-flip p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1.0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boot CI95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[0, 0.42]%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SIT LFP에서만 pooled improvement 0→0.7% (small_crossfit_bank). 나머지 4곳은 non-worse.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 paired sign-flip은 표본 5로 유의하지 않다. 승격 근거는 엄격 악화 없음 + false accept 0이다.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26/36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Ablation — dynamics bank experts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단일 expert는 약하다. bank + selection이 프로토콜이다.</a:t>
            </a:r>
          </a:p>
        </p:txBody>
      </p:sp>
      <p:pic>
        <p:nvPicPr>
          <p:cNvPr id="6" name="Picture 5" descr="ccmr_expert_abl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000" y="857250"/>
            <a:ext cx="11239500" cy="381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단일 dynamics expert의 mean pooled gain은 음수인 구간이 많다. 그래서 PP-X의 CCMR executor는 expert를 전역 기본값으로 두지 않고,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validation에서 고른 bank / small-cohort route / exact fallback으로 위험을 가른다.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27/36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벤치마크 — 두 성공 holdout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경쟁군 + CCMR v2.2 overlay  ·  Alloy/MultiStage는 구조 재튜닝에 쓰지 않음</a:t>
            </a:r>
          </a:p>
        </p:txBody>
      </p:sp>
      <p:pic>
        <p:nvPicPr>
          <p:cNvPr id="6" name="Picture 5" descr="ccmr_holdout_bench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500" y="742950"/>
            <a:ext cx="11811000" cy="40957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953000"/>
            <a:ext cx="112776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  정확도 1위는 Engression (R²≈0.991). CCMR v2.2는 R²≈0.771, regret 0.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MultiStage  CCMR v2.2가 R²≈0.989·regret 0. Engression은 R²≈0.979지만 max regret ≈205%.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28/36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주장 경계 — 정확도 vs 안정성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한 고호트 승리가 전역 SOTA가 아니다</a:t>
            </a:r>
          </a:p>
        </p:txBody>
      </p:sp>
      <p:pic>
        <p:nvPicPr>
          <p:cNvPr id="6" name="Picture 5" descr="ccmr_claim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1500" y="857250"/>
            <a:ext cx="11049000" cy="3619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Alloy에서는 Engression이 정확도에서 앞선다. MultiStage에서는 Engression의 유닛 regret이 폭발하고 CCMR executor가 안전하다.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PP-X의 핵심은 “모든 holdout 1등”이 아니라, 근거 없는 prior를 거절하고 외삽 위험을 제한하는 것이다.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29/36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거절 — CCMR v2.3 AC-CRPE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강한 no-prior portfolio + contract residual  ·  엄격 RMSE 개선 실패</a:t>
            </a:r>
          </a:p>
        </p:txBody>
      </p:sp>
      <p:pic>
        <p:nvPicPr>
          <p:cNvPr id="6" name="Picture 5" descr="ccmr_v23_rejection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700" y="781050"/>
            <a:ext cx="7239000" cy="3714750"/>
          </a:xfrm>
          <a:prstGeom prst="rect">
            <a:avLst/>
          </a:prstGeom>
        </p:spPr>
      </p:pic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696200" y="876300"/>
          <a:ext cx="4000500" cy="314325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250"/>
                <a:gridCol w="2000250"/>
              </a:tblGrid>
              <a:tr h="3492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최종 v10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값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GM vs v2.2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1.000002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Δ GM RMSE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−0.0002%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non-worse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4 / 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false accept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max regret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fallback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exact OK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promoted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NO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3492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holdout replay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9B1C1C"/>
                          </a:solidFill>
                          <a:latin typeface="Arial"/>
                          <a:ea typeface="AppleGothic"/>
                        </a:rPr>
                        <a:t>미실행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4762500"/>
            <a:ext cx="1127760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강한 Engression anchor는 development에서 regret을 키웠고, nested v2.2 safety로 수렴했다.</a:t>
            </a:r>
          </a:p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최종은 안전하지만 v2.2 대비 엄격 평균 RMSE 개선이 없어 거절. Alloy를 보고 재튜닝하지 않았다.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30/36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지도는 루트 장에 있다.  여기서는 앞으로만 말한다.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047750"/>
            <a:ext cx="76200" cy="342900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27241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지금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없는 경로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contract-conditioned prior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validation-approved executor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근거 없으면 fallback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3048000"/>
            <a:ext cx="3143250" cy="571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CCMR v2.2 구조 증거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v2.3 거절 기록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072B2"/>
                </a:solidFill>
                <a:latin typeface="Arial"/>
                <a:ea typeface="AppleGothic"/>
              </a:rPr>
              <a:t>만능 SOTA 아님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8625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86250" y="1047750"/>
            <a:ext cx="76200" cy="342900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55320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다음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14850" y="1200150"/>
            <a:ext cx="19050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E69F00"/>
                </a:solidFill>
                <a:latin typeface="Arial"/>
                <a:ea typeface="AppleGothic"/>
              </a:rPr>
              <a:t>PAE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1485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식 있는 경로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4850" y="2000250"/>
            <a:ext cx="3143250" cy="8572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LLM·온톨로지·source gate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허용된 식만 실행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이득 없으면 PP-X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1485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E69F00"/>
                </a:solidFill>
                <a:latin typeface="Arial"/>
                <a:ea typeface="AppleGothic"/>
              </a:rPr>
              <a:t>다음 논문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115300" y="1047750"/>
            <a:ext cx="3619500" cy="34290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115300" y="1047750"/>
            <a:ext cx="76200" cy="342900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82250" y="1200150"/>
            <a:ext cx="1123950" cy="2286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  <a:ea typeface="AppleGothic"/>
              </a:rPr>
              <a:t>박사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43900" y="1200150"/>
            <a:ext cx="2095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222222"/>
                </a:solidFill>
                <a:latin typeface="Arial"/>
                <a:ea typeface="AppleGothic"/>
              </a:rPr>
              <a:t>Assurance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43900" y="1619250"/>
            <a:ext cx="314325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두 경로 통합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43900" y="2000250"/>
            <a:ext cx="314325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믿기 / 보류 / 거절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허가증으로 운행</a:t>
            </a:r>
          </a:p>
          <a:p>
            <a:pPr algn="l"/>
            <a:r>
              <a:rPr sz="1400" b="0">
                <a:solidFill>
                  <a:srgbClr val="222222"/>
                </a:solidFill>
                <a:latin typeface="Arial"/>
                <a:ea typeface="AppleGothic"/>
              </a:rPr>
              <a:t>Fail이면 옮기지 않음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43900" y="3810000"/>
            <a:ext cx="314325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이후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62500"/>
            <a:ext cx="11277600" cy="6667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밖을 지탱하는 것은 가정이다.  식이 없으면 PP-X.  executor는 근거 있을 때만 켠다.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31/36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컨셉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출처가 고정된 식을 컴파일하고, 적용 가능한지 검증한 뒤에만 실행한다.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00100"/>
            <a:ext cx="112776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PAE는 식 생성기가 아니다. 문헌 식 카드가 의미적으로 실행 가능하고, 검증에서 전이될 때만 켠다.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문제 서술  +  데이터 스키마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00500" y="12573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1500" y="1104900"/>
            <a:ext cx="3429000" cy="5334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222222"/>
                </a:solidFill>
                <a:latin typeface="Arial"/>
                <a:ea typeface="AppleGothic"/>
              </a:rPr>
              <a:t>RAG   문헌 식 카드 · 인용만 검색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01000" y="1181100"/>
            <a:ext cx="3733800" cy="381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실행 권한 없음. 후보만 줄인다.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943600" y="16954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572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85950"/>
            <a:ext cx="76200" cy="1123950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77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072B2"/>
                </a:solidFill>
                <a:latin typeface="Arial"/>
                <a:ea typeface="AppleGothic"/>
              </a:rPr>
              <a:t>LLM 게이트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7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카드 ID와 역할 결합만 제안.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식·상수·인용·고장경계를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만들지 못한다.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40005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815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381500" y="1885950"/>
            <a:ext cx="76200" cy="1123950"/>
          </a:xfrm>
          <a:prstGeom prst="rect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E69F00"/>
                </a:solidFill>
                <a:latin typeface="Arial"/>
                <a:ea typeface="AppleGothic"/>
              </a:rPr>
              <a:t>온톨로지 · 식 판별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target · 메커니즘 · 역할 · 단위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경계 · 출처 · learnable slot.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하나라도 깨지면 실행 불가.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7924800" y="2286000"/>
            <a:ext cx="266700" cy="209550"/>
          </a:xfrm>
          <a:prstGeom prst="right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305800" y="1885950"/>
            <a:ext cx="3429000" cy="112395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305800" y="1885950"/>
            <a:ext cx="76200" cy="1123950"/>
          </a:xfrm>
          <a:prstGeom prst="rect">
            <a:avLst/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96300" y="1962150"/>
            <a:ext cx="3048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22222"/>
                </a:solidFill>
                <a:latin typeface="Arial"/>
                <a:ea typeface="AppleGothic"/>
              </a:rPr>
              <a:t>Source 게이트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96300" y="2209800"/>
            <a:ext cx="30480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 holdout에서 식 경로가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PP-X보다 나을 때만 통과.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안전 증명이 아니다.</a:t>
            </a:r>
          </a:p>
        </p:txBody>
      </p:sp>
      <p:sp>
        <p:nvSpPr>
          <p:cNvPr id="26" name="Down Arrow 25"/>
          <p:cNvSpPr/>
          <p:nvPr/>
        </p:nvSpPr>
        <p:spPr>
          <a:xfrm>
            <a:off x="5943600" y="306705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2952750" y="3238500"/>
            <a:ext cx="6286500" cy="381000"/>
          </a:xfrm>
          <a:prstGeom prst="roundRect">
            <a:avLst>
              <a:gd name="adj" fmla="val 12000"/>
            </a:avLst>
          </a:prstGeom>
          <a:solidFill>
            <a:srgbClr val="2222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500" b="1">
                <a:solidFill>
                  <a:srgbClr val="FFFFFF"/>
                </a:solidFill>
                <a:latin typeface="Arial"/>
                <a:ea typeface="AppleGothic"/>
              </a:rPr>
              <a:t>식이 컴파일되고, 검증에서 이기는가?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4000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60960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8191500" y="3619500"/>
            <a:ext cx="0" cy="15240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000500" y="3771900"/>
            <a:ext cx="4191000" cy="0"/>
          </a:xfrm>
          <a:prstGeom prst="line">
            <a:avLst/>
          </a:prstGeom>
          <a:ln w="1587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Down Arrow 31"/>
          <p:cNvSpPr/>
          <p:nvPr/>
        </p:nvSpPr>
        <p:spPr>
          <a:xfrm>
            <a:off x="3848100" y="3771900"/>
            <a:ext cx="266700" cy="133350"/>
          </a:xfrm>
          <a:prstGeom prst="downArrow">
            <a:avLst/>
          </a:prstGeom>
          <a:solidFill>
            <a:srgbClr val="E69F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Down Arrow 32"/>
          <p:cNvSpPr/>
          <p:nvPr/>
        </p:nvSpPr>
        <p:spPr>
          <a:xfrm>
            <a:off x="5943600" y="3771900"/>
            <a:ext cx="266700" cy="133350"/>
          </a:xfrm>
          <a:prstGeom prst="downArrow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Down Arrow 33"/>
          <p:cNvSpPr/>
          <p:nvPr/>
        </p:nvSpPr>
        <p:spPr>
          <a:xfrm>
            <a:off x="8039100" y="3771900"/>
            <a:ext cx="266700" cy="133350"/>
          </a:xfrm>
          <a:prstGeom prst="downArrow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575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>
                <a:solidFill>
                  <a:srgbClr val="E69F00"/>
                </a:solidFill>
                <a:latin typeface="Arial"/>
                <a:ea typeface="AppleGothic"/>
              </a:rPr>
              <a:t>YES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0" y="3752850"/>
            <a:ext cx="85725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>
                <a:solidFill>
                  <a:srgbClr val="0072B2"/>
                </a:solidFill>
                <a:latin typeface="Arial"/>
                <a:ea typeface="AppleGothic"/>
              </a:rPr>
              <a:t>NO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DF4E3"/>
          </a:solidFill>
          <a:ln w="15875">
            <a:solidFill>
              <a:srgbClr val="E69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96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69F00"/>
                </a:solidFill>
                <a:latin typeface="Arial"/>
                <a:ea typeface="AppleGothic"/>
              </a:rPr>
              <a:t>PAE 실행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96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허용 계수만 학습.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현재 상태 → 경계 적분. RUL=0.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815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E8F1F8"/>
          </a:solidFill>
          <a:ln w="15875">
            <a:solidFill>
              <a:srgbClr val="0072B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339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0072B2"/>
                </a:solidFill>
                <a:latin typeface="Arial"/>
                <a:ea typeface="AppleGothic"/>
              </a:rPr>
              <a:t>PP-X로 되돌림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339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 계약이 안 닫히거나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검증에서 이득이 없을 때.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305800" y="3981450"/>
            <a:ext cx="3429000" cy="952500"/>
          </a:xfrm>
          <a:prstGeom prst="roundRect">
            <a:avLst>
              <a:gd name="adj" fmla="val 12000"/>
            </a:avLst>
          </a:prstGeom>
          <a:solidFill>
            <a:srgbClr val="F5F5F5"/>
          </a:solidFill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58200" y="4057650"/>
            <a:ext cx="31242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222222"/>
                </a:solidFill>
                <a:latin typeface="Arial"/>
                <a:ea typeface="AppleGothic"/>
              </a:rPr>
              <a:t>거절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58200" y="4305300"/>
            <a:ext cx="3124200" cy="533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식도 없고 PP-X도 불안정하면</a:t>
            </a:r>
          </a:p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예측하지 않는다.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67300"/>
            <a:ext cx="112776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222"/>
                </a:solidFill>
                <a:latin typeface="Arial"/>
                <a:ea typeface="AppleGothic"/>
              </a:rPr>
              <a:t>검사 항목   상태 · 고장 메커니즘 · 필수 변수 · 단위 · 경계 · 출처.   데이터셋 이름으로 경로를 고르지 않는다.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57200" y="53721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자유 LLM 식 생성은 성공이 아니라 계약 위반이다. 다음 논문 경로이며 오늘 주표와 숫자를 섞지 않는다.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TextBox 4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32/36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후속 — PAE 피저빌리티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게이트가 왜 필요한지, 식이 맞을 때와 경계만 있을 때를 갈라 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914400"/>
          <a:ext cx="11277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520"/>
                <a:gridCol w="2255520"/>
                <a:gridCol w="2255520"/>
                <a:gridCol w="2255520"/>
                <a:gridCol w="2255520"/>
              </a:tblGrid>
              <a:tr h="571500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자료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넣은 식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게이트 읽기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PAE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PP-X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Paris + 49.8 mm 파단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식·경계·역할이 닫힘 → 실행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0.969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0.888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80% EOL 경계만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메커니즘 식 없음 → 되돌려야 함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0.635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0.826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71500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속도 quotient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셀마다 regime이 달라 계약 약함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0.492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0.741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457200" y="3429000"/>
          <a:ext cx="11277600" cy="1714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800"/>
                <a:gridCol w="5638800"/>
              </a:tblGrid>
              <a:tr h="428625"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이미 본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아직 아닌 것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식이 맞으면 PAE가 PP-X를 이김 (Virkler +0.081)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RAG·LLM·온톨로지를 주표에 넣지 않음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경계만 알면 PAE를 켜면 진다 (MICH · NASA)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source gate의 광범위 일반화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428625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동일-split, 오늘 포트폴리오와 분리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LLM이 물리법칙을 발견한다는 주장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457200" y="5295900"/>
            <a:ext cx="112776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222222"/>
                </a:solidFill>
                <a:latin typeface="Arial"/>
                <a:ea typeface="AppleGothic"/>
              </a:rPr>
              <a:t>결론  식이 맞으면 PAE, 경계만 있으면 PP-X. 미시간 0.826은 raw-cycle 맞비교(주표 MICH 0.751).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638800"/>
            <a:ext cx="1127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게이트는 성능을 올리는 부품이 아니라, 틀린 식을 실행하지 못하게 막는 장치다.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33/36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1000" y="304800"/>
            <a:ext cx="11430000" cy="6248400"/>
          </a:xfrm>
          <a:prstGeom prst="rect">
            <a:avLst/>
          </a:prstGeom>
          <a:noFill/>
          <a:ln w="15875">
            <a:solidFill>
              <a:srgbClr val="2222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52500" y="1905000"/>
            <a:ext cx="10287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222222"/>
                </a:solidFill>
                <a:latin typeface="Arial"/>
                <a:ea typeface="AppleGothic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2500" y="2571750"/>
            <a:ext cx="10287000" cy="3429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>
                <a:solidFill>
                  <a:srgbClr val="0072B2"/>
                </a:solidFill>
                <a:latin typeface="Arial"/>
                <a:ea typeface="AppleGothic"/>
              </a:rPr>
              <a:t>Q &amp;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33500" y="3429000"/>
            <a:ext cx="9525000" cy="76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오늘: PP-X  ·  contract-conditioned prior + validation-approved executor + fallback</a:t>
            </a:r>
          </a:p>
          <a:p>
            <a:pPr algn="ctr"/>
            <a:r>
              <a:rPr sz="1500" b="0">
                <a:solidFill>
                  <a:srgbClr val="222222"/>
                </a:solidFill>
                <a:latin typeface="Arial"/>
                <a:ea typeface="AppleGothic"/>
              </a:rPr>
              <a:t>구조 증거: CCMR v2.2  ·  한계: 정확도≠안정성, prospective 확증은 남음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52500" y="4762500"/>
            <a:ext cx="10287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666666"/>
                </a:solidFill>
                <a:latin typeface="Arial"/>
                <a:ea typeface="AppleGothic"/>
              </a:rPr>
              <a:t>질문 받겠습니다.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2500" y="5334000"/>
            <a:ext cx="10287000" cy="209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66666"/>
                </a:solidFill>
                <a:latin typeface="Arial"/>
                <a:ea typeface="AppleGothic"/>
              </a:rPr>
              <a:t>SPS Lab  ·  박사과정 박진서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이게 무슨 데이터인가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백업. 본 발표는 Q&amp;A에서 끝낸다.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66700" y="838200"/>
          <a:ext cx="11658600" cy="5143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86200"/>
                <a:gridCol w="3886200"/>
                <a:gridCol w="3886200"/>
              </a:tblGrid>
              <a:tr h="514350"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표기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물건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한 줄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HUST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화중과대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 방법(프로토콜)이 다른 셀. 중국 랩.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Sunwoda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상용 리튬셀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공장 셀. 학습에 안 넣은 다른 셀로 시험.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RWTH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아헨공대 리튬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독일 랩 셀. 역시 처음 보는 셀로 시험.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MICH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미시간대 리튬 배터리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건강↔수명 관계가 학습 때와 달라진 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MATR19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수명 벤치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노트북/그리드용 셀. 고전 벤치마크.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MATRb2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배치 2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같은 랩, 다른 생산 로트. 시험 9셀.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PCoE 실험용 18650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우주선/로켓이 아님. 용량 70%까지 남은 횟수.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Virkler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피로균열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판에 금이 얼마나 남았나. 배터리 아님.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51435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N-CMAPSS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 시뮬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NASA가 만든 디지털 터보팬. 실제 비행 기록 아님.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266700" y="6076950"/>
            <a:ext cx="11658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NASA가 두 개다.  위는 배터리 셀, 아래 엔진은 시뮬레이터.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35/36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28575"/>
          </a:xfrm>
          <a:prstGeom prst="rect">
            <a:avLst/>
          </a:prstGeom>
          <a:solidFill>
            <a:srgbClr val="0072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09550"/>
            <a:ext cx="11239500" cy="30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222222"/>
                </a:solidFill>
                <a:latin typeface="Arial"/>
                <a:ea typeface="AppleGothic"/>
              </a:rPr>
              <a:t>보조 — 누구로 나누고, 뭘 보고, 뭘 맞추나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14350"/>
            <a:ext cx="11239500" cy="1905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미지 = 학습 때 이름조차 안 본 셀/시편/엔진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190500" y="819150"/>
          <a:ext cx="11811000" cy="4953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2200"/>
                <a:gridCol w="2362200"/>
                <a:gridCol w="2362200"/>
                <a:gridCol w="2362200"/>
                <a:gridCol w="2362200"/>
              </a:tblGrid>
              <a:tr h="707571"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셋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학습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검증 / 시험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보고 (X)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  <a:ea typeface="AppleGothic"/>
                        </a:rPr>
                        <a:t>맞추는 것 (Y)</a:t>
                      </a:r>
                    </a:p>
                  </a:txBody>
                  <a:tcPr anchor="ctr">
                    <a:solidFill>
                      <a:srgbClr val="222222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화중 배터리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1–6, 아직 건강한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충전법 7–8 / 9–10, 용량이 더 떨어진 구간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용량·떨어지는 속도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선우다 · 아헨 · 미시간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셀의 건강한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셀의 말기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 건강, 최근 속도, 고장까지 여유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MIT 2019 / 배치2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셀의 건강한 구간 (배치2는 30셀)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나머지 셀의 말기 (배치2는 9+9셀)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지금까지의 용량 이력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수명까지 남은 사이클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NASA 실험셀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일부 셀, 용량이 아직 높은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셀, 용량이 학습 최저보다 낮은 구간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용량, 속도, 몇 번째 사이클인가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용량 70% 될 때까지 남은 횟수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  <a:tr h="707571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알루미늄 균열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다른 시편의 짧은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시편의 긴 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금 길이, 자라는 속도, 하중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쪼개질 때까지 남은 반복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07574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항공기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본 적 있는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처음 보는 비행조건의 엔진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센서(조건으로 나눈 값), 운전모드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0">
                          <a:solidFill>
                            <a:srgbClr val="222222"/>
                          </a:solidFill>
                          <a:latin typeface="Arial"/>
                          <a:ea typeface="AppleGothic"/>
                        </a:rPr>
                        <a:t>엔진이 버틸 남은 시간</a:t>
                      </a:r>
                    </a:p>
                  </a:txBody>
                  <a:tcPr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90500" y="5886450"/>
            <a:ext cx="11811000" cy="2667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66666"/>
                </a:solidFill>
                <a:latin typeface="Arial"/>
                <a:ea typeface="AppleGothic"/>
              </a:rPr>
              <a:t>같은 셀을 시간만 잘라 뒤를 맞추지 않는다.  시험 셀의 미래·최종 수명은 X에 넣지 않는다.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457200" y="6477000"/>
            <a:ext cx="11277600" cy="0"/>
          </a:xfrm>
          <a:prstGeom prst="line">
            <a:avLst/>
          </a:prstGeom>
          <a:ln w="9525">
            <a:solidFill>
              <a:srgbClr val="E8E8E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457200" y="6534150"/>
            <a:ext cx="7620000" cy="133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666666"/>
                </a:solidFill>
                <a:latin typeface="Arial"/>
                <a:ea typeface="AppleGothic"/>
              </a:rPr>
              <a:t>SPS Lab  ·  Prior-Adaptive Extrapolation  ·  PP-X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77500" y="6515100"/>
            <a:ext cx="952500" cy="152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>
                <a:solidFill>
                  <a:srgbClr val="666666"/>
                </a:solidFill>
                <a:latin typeface="Arial"/>
                <a:ea typeface="AppleGothic"/>
              </a:rPr>
              <a:t>36/36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