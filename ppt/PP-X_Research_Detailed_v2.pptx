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3" r:id="rId14"/>
    <p:sldId id="264" r:id="rId15"/>
    <p:sldId id="259" r:id="rId10"/>
    <p:sldId id="265" r:id="rId16"/>
    <p:sldId id="266" r:id="rId17"/>
    <p:sldId id="267" r:id="rId18"/>
    <p:sldId id="268" r:id="rId19"/>
    <p:sldId id="269" r:id="rId20"/>
    <p:sldId id="270" r:id="rId21"/>
    <p:sldId id="260" r:id="rId1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61" r:id="rId12"/>
    <p:sldId id="300" r:id="rId51"/>
    <p:sldId id="285" r:id="rId36"/>
    <p:sldId id="262" r:id="rId13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04800"/>
            <a:ext cx="11430000" cy="6248400"/>
          </a:xfrm>
          <a:prstGeom prst="rect">
            <a:avLst/>
          </a:prstGeom>
          <a:noFill/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s_la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552450"/>
            <a:ext cx="30480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09550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Arial"/>
                <a:ea typeface="AppleGothic"/>
              </a:rPr>
              <a:t>PP-X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52700"/>
            <a:ext cx="10668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222"/>
                </a:solidFill>
                <a:latin typeface="Arial"/>
                <a:ea typeface="AppleGothic"/>
              </a:rPr>
              <a:t>Validation-Approved Prior-Residual Extrapolation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43250"/>
            <a:ext cx="1066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66666"/>
                </a:solidFill>
                <a:latin typeface="Arial"/>
                <a:ea typeface="AppleGothic"/>
              </a:rPr>
              <a:t>관측된 support 밖에서의 강건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714750"/>
            <a:ext cx="10668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전체 연구 지도  ·  Prior-Adaptive Extrapolation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76750"/>
            <a:ext cx="1066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Smart Production Systems Lab.  ·  박사과정 박진서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953000"/>
            <a:ext cx="1066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2026.09.11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문제 · 연구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밖에서는 데이터가 답을 정하지 못한다.  정당화되는 prior에 맞춰 고른다.</a:t>
            </a:r>
          </a:p>
        </p:txBody>
      </p:sp>
      <p:pic>
        <p:nvPicPr>
          <p:cNvPr id="6" name="Picture 5" descr="nn_vs_saa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19150"/>
            <a:ext cx="609600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" y="4686300"/>
            <a:ext cx="6096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점선 왼쪽은 학습, 오른쪽은 그 밖. 제약 없는 NN은 열화 중에도 예측이 되살아난다.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819150"/>
            <a:ext cx="5219700" cy="12573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0" y="8953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왜 외삽인가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1123950"/>
            <a:ext cx="49149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학습 분포 안에서는 잘 맞혀도, 관측되지 않은 영역에서는 성능이 급히 떨어질 수 있다. 열화·RUL·피로균열은 실제 시점이 학습 support 밖인 경우가 많아, 보간보다 밖에서의 예측이 중요하다.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90750"/>
            <a:ext cx="5219700" cy="12573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1800" y="22669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prior는 일정하지 않다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1800" y="2495550"/>
            <a:ext cx="49149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같은 데이터라도 prior가 바뀌면 밖으로 나가는 곡선이 달라진다. 어떤 문제는 방향·경계·추세만 알고, 어떤 문제는 식과 적용 조건까지 있다. 맞지 않는 prior를 강제하면 외삽이 나빠진다.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562350"/>
            <a:ext cx="5219700" cy="14668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800" y="3638550"/>
            <a:ext cx="4914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출발점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3886200"/>
            <a:ext cx="4914900" cy="1028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맞는 답이 하나가 아니다. 밖을 지탱하는 것은 데이터가 아니라 지금 정당화되는 prior다. prior가 많을수록 좋은 것이 아니라, 그 수준과 신뢰성에 맞춰 외삽 전략을 고른다. 다음 장에서 경로를 나눈다.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2/45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사전 조사 — 회귀 외삽은 추가 가정 없이는 식별되지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대표 방법은 서로 다른 구조·분포 가정을 둔다. PP-X만 prior를 쓰는 것은 아니다.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112776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조사 결론  범용 회귀기가 데이터만으로 support 밖 함수를 정해 주지는 않는다.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제약 없는 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ReLU 네트워크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865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마지막 선형 조각을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밖으로 연장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가정이 암묵적이라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tail 형태를 통제하기 어렵다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75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520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형상 제약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20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CMNN · monotone NN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235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520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증가/감소 방향을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구조로 강제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단조 방향이 맞다는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도메인 prior가 필요하다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30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175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9F00"/>
                </a:solidFill>
                <a:latin typeface="Arial"/>
                <a:ea typeface="AppleGothic"/>
              </a:rPr>
              <a:t>식·물리 제약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EQL · PINN · Physics-ML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3890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8175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함수식·PDE·열화 법칙을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구조 또는 loss에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175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식과 적용 조건이 맞는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도메인에서 강하다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6850" y="1352550"/>
            <a:ext cx="2647950" cy="28575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8300" y="1504950"/>
            <a:ext cx="23050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Arial"/>
                <a:ea typeface="AppleGothic"/>
              </a:rPr>
              <a:t>통계적 외삽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8300" y="1885950"/>
            <a:ext cx="23050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Engression · Xtrapolation</a:t>
            </a:r>
          </a:p>
          <a:p>
            <a:pPr algn="ctr"/>
            <a:r>
              <a:rPr sz="1100" b="1">
                <a:solidFill>
                  <a:srgbClr val="666666"/>
                </a:solidFill>
                <a:latin typeface="Arial"/>
                <a:ea typeface="AppleGothic"/>
              </a:rPr>
              <a:t>· Progression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15450" y="22479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258300" y="2419350"/>
            <a:ext cx="230505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noise 위치·미분 경계·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tail dependence를 가정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8300" y="3295650"/>
            <a:ext cx="230505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가정이 약하면 band가 넓고</a:t>
            </a:r>
          </a:p>
          <a:p>
            <a:pPr algn="ctr"/>
            <a:r>
              <a:rPr sz="1200" b="0">
                <a:solidFill>
                  <a:srgbClr val="9B1C1C"/>
                </a:solidFill>
                <a:latin typeface="Arial"/>
                <a:ea typeface="AppleGothic"/>
              </a:rPr>
              <a:t>점예측은 식별되지 않는다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76750"/>
            <a:ext cx="11277600" cy="9906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" y="4591050"/>
            <a:ext cx="1085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ppleGothic"/>
              </a:rPr>
              <a:t>직접 인접 연구  EV(2024)·LBO(2025)는 boundary-focused validation을 이미 제안했다.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914900"/>
            <a:ext cx="10858500" cy="41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  <a:ea typeface="AppleGothic"/>
              </a:rPr>
              <a:t>남은 질문  이질적인 prior를 outcome-free contract로 제한하고, physical-unit 위험으로 executor와 exact fallback을 시험 전에 함께 고정할 수 있는가?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5310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Xu 2021 · Runje 2023 · Raissi 2019 · Shen &amp; Meinshausen 2024 · Pfister &amp; Bühlmann 2026 · Yu et al. 2024 · García et al. 2025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3/45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연구 기여 C1–C3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무엇을 믿을지 정하고 → 얼마나 수정할지 제한하고 → 실제로 써도 되는지 검증한다.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/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질문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단계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핵심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무엇을 믿어도 되는가?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Declare / Typed Contract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Boundary · Unit · Causal X · Support · 허용 Prior · Fallback을 test 전에 선언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얼마나 수정하게 할 것인가?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Learn / Prior-residual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ŷ = Y_prior + bounded residual. NN은 prior를 뒤집지 못하고 제한된 범위만 수정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실제로 실행해도 되는가?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Approve / Unit evidence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평균만 보지 않음. unit wins ≥60%, worst RMSE ratio ≤1.10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90525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암기  C1 = 무엇을 믿나  →  C2 = 얼마나 수정하나  →  C3 = 써도 되는지 검증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305300"/>
            <a:ext cx="1127760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47675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C4 Frozen execution  C3까지 통과한 route 1개를 test 전에 고정한다. 실패하면 미리 정한 fallback으로 간다.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다음 장부터 C1 → C2 → C3를 예시로 하나씩 설명한다.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6/45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그래서 외삽에서 무엇이 좋아졌는가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현재 retrospective 데이터 안에서 확인된 효과와 아직 주장할 수 없는 범위를 분리한다.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8105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비교 대상  하나의 prior나 optional module을 모든 데이터에 항상 켜는 외삽 모델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65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① 평균 예측오차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각 contract에서 validation이 지지한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executor만 선택해, 맞는 구조의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외삽 이득은 유지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865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개발 결과</a:t>
            </a:r>
          </a:p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동일예산 최강 비교군 대비 8/9 우세</a:t>
            </a:r>
          </a:p>
          <a:p>
            <a:pPr algn="ctr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paired GM-RMSE 33.8% 감소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375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520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② 전역 적용 붕괴 방지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520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모든 셋에 같은 bound·scale을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항상 켜지 않고, 해당 contract에서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지지된 executor만 최종 route에 포함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6235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0520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직접 반례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MICH fixed bound ΔR² −.291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RWTH dual-scale ΔR² −.037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30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175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69F00"/>
                </a:solidFill>
                <a:latin typeface="Arial"/>
                <a:ea typeface="AppleGothic"/>
              </a:rPr>
              <a:t>③ 유닛 단위 안정성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평균 RMSE만 보지 않고 unit wins와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worst-unit ratio를 승인 조건에 포함해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일부 설비에 손해가 몰리는 route 제한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3890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8175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직접 근거</a:t>
            </a:r>
          </a:p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HUST transport 15/16 unit 개선</a:t>
            </a:r>
          </a:p>
          <a:p>
            <a:pPr algn="ctr"/>
            <a:r>
              <a:rPr sz="1200" b="1">
                <a:solidFill>
                  <a:srgbClr val="E69F00"/>
                </a:solidFill>
                <a:latin typeface="Arial"/>
                <a:ea typeface="AppleGothic"/>
              </a:rPr>
              <a:t>MICH dual-scale 7/8 unit 개선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6850" y="1352550"/>
            <a:ext cx="2647950" cy="32766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300" y="1524000"/>
            <a:ext cx="23050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④ 잘못된 승인 감소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300" y="2057400"/>
            <a:ext cx="23050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12-domain common-backbone audit에서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unit-gain CI 조건을 추가해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근거가 약한 prior 승인을 걸러냄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15450" y="3238500"/>
            <a:ext cx="21907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58300" y="3486150"/>
            <a:ext cx="2305050" cy="723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retrospective policy audit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false accept 2 → 0</a:t>
            </a:r>
          </a:p>
          <a:p>
            <a:pPr algn="ctr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선택 정확도 .667 → .833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53000"/>
            <a:ext cx="11277600" cy="78105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750" y="5067300"/>
            <a:ext cx="10858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ppleGothic"/>
              </a:rPr>
              <a:t>기여 효과  현재 평가 데이터셋에서 PP-X는 validation이 지지한 구조만 실행해 전역 prior/executor의 성능 붕괴를 줄이고, 평균 오차와 unit-level risk를 함께 관리했다.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2930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1C1C"/>
                </a:solidFill>
                <a:latin typeface="Arial"/>
                <a:ea typeface="AppleGothic"/>
              </a:rPr>
              <a:t>범위  위 수치는 retrospective evidence다. 보지 않은 미래 cohort에서 같은 실패 감소를 보장한다는 주장은 하지 않는다.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13/45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도메인이 바뀌어도 덜 무너졌는가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동일 30후보 예산 · 9개 메인 setting  |  안정성은 seed뿐 아니라 도메인별 성공·실패와 편차로 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4354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모델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macro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도메인 SD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최악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R²&gt;0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354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0.174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54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0.257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−1.580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7/9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54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FT-Transformer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54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plain MLP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0.093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1.007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−2.140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54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V-REx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543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GroupDRO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0.011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0.998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−2.057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86250"/>
            <a:ext cx="112776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관측  PP-X만 9/9 양의 R² · 비교군 대비 SD가 작음 · Engression 대비 MAD .061 vs .280 (paired exact p=.0391).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참고  8개 모델 동시 Holm 보정은 비유의. 성공률·최악값·unit log-RMSE와 함께 해석한다.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48250"/>
            <a:ext cx="11277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기여  높은 평균 정확도만이 아니라, prior/executor 전역 오적용을 피하면서 도메인 간 실패와 편차를 줄였다.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28/45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잘 안 된 경우 — 왜 실패했는가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사후 추측이 아니라 matched ablation·unit 결과·validation/test 불일치로 확인된 원인만 남긴다.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33450"/>
            <a:ext cx="5429250" cy="20574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650" y="1066800"/>
            <a:ext cx="50863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① 제약이 실제 shift와 맞지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1428750"/>
            <a:ext cx="50863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MICH  fixed bound가 residual 용량을 과도하게 제한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R² .759(unbounded) → .468(fixed), Δ −.291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RWTH  dual-scale은 8/8 unit에서 악화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R² .878 → .842, BH q=.022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8650" y="2514600"/>
            <a:ext cx="50863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8650" y="2609850"/>
            <a:ext cx="50863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9F00"/>
                </a:solidFill>
                <a:latin typeface="Arial"/>
                <a:ea typeface="AppleGothic"/>
              </a:rPr>
              <a:t>교훈  좋은 제약도 전역 default로 켜면 negative transfer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5550" y="933450"/>
            <a:ext cx="5429250" cy="2057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0" y="1066800"/>
            <a:ext cx="50863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② validation evidence가 test로 이동하지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1428750"/>
            <a:ext cx="50863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단순 validation PP/MLP 선택은 12개 중 7개만 정답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false accept 4개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CI 강화 정책도 retrospective 정확도 .833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즉 validation 점수만으로 보편적 전이를 보장하지 못함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77000" y="2514600"/>
            <a:ext cx="50863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77000" y="2609850"/>
            <a:ext cx="50863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교훈  unit risk와 CI가 필요하지만 미래 보장은 아님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19450"/>
            <a:ext cx="5429250" cy="20574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650" y="3352800"/>
            <a:ext cx="50863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③ prior 거절 뒤 fallback 표현력이 부족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" y="3714750"/>
            <a:ext cx="50863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DS03  prior route 거절 자체는 test-best PP-X route와 일치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하지만 Engression 대비 ΔR² −.0195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unit wins 1/6 · worst ratio 1.989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8650" y="4800600"/>
            <a:ext cx="50863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8650" y="4895850"/>
            <a:ext cx="50863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2B2"/>
                </a:solidFill>
                <a:latin typeface="Arial"/>
                <a:ea typeface="AppleGothic"/>
              </a:rPr>
              <a:t>교훈  안전한 선택과 최고 정확도는 서로 다른 문제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5550" y="3219450"/>
            <a:ext cx="5429250" cy="2057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0" y="3352800"/>
            <a:ext cx="508635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④ 구조를 학습할 정보가 부족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3714750"/>
            <a:ext cx="508635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Virkler late-tail은 test specimen당 2 rows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Residual-state·temporal projection은 val에서 off 선택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Prior-geometry는 val 승인 후 test RMSE +31.3%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worst-unit ratio 5.82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77000" y="4800600"/>
            <a:ext cx="508635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77000" y="4895850"/>
            <a:ext cx="50863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  <a:ea typeface="AppleGothic"/>
              </a:rPr>
              <a:t>교훈  짧은 tail에서 복잡한 trajectory head는 과적합 위험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81650"/>
            <a:ext cx="1127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B1C1C"/>
                </a:solidFill>
                <a:latin typeface="Arial"/>
                <a:ea typeface="AppleGothic"/>
              </a:rPr>
              <a:t>정리  PP-X가 실패를 없앤 것이 아니다. 현재 증거는 ‘어떤 구조가 왜 무너졌는지 식별하고, 해로운 route를 전역 적용하지 않는 것’까지 지지한다.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31/45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연구 루트 — 식의 근거에 따라 두 경로로 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식이 없거나 약한 prior만 있으면 PP-X, 적용 가능한 식이 정당화되면 PAE로 확장한다.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7630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입력  관측 · 경계 · 도메인 지식    →    질문  후보식이 정당화되는가?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33500"/>
          <a:ext cx="112776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889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답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경로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상태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equation-unavailable · weak-prior · prior-residual core + evidence-selected 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이번 발표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YES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validated equation + 제한 NN · 이득 없으면 PP-X로 되돌림 · LLM·온톨로지·source gate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다음 논문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8150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공통  Assurance: 믿기 / 보류 / 거절. 박사논문에서 두 경로를 통합한다.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오늘은 왼쪽(PP-X)만 간다. PAE와 Assurance는 지도에만 둔다.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4/45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약한 prior란 무엇인가 — C1에서 허용하는 믿음의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완전 물리식이 없어도, 밖을 지탱할 최소한의 구조 가정을 contract로 선언한다.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7630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정의  닫힌 3차식·PDE를 쓰지 않고, 정당화할 수 있는 경계·방향·저복잡도 tail·support·인과만 기본 추세로 둔다.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90650"/>
          <a:ext cx="112776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요소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가정 예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의도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EOL = 880 mAh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용량→880이면 RUL→0으로 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방향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용량↓ → RUL↓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뒤집힌 수명 예측을 막음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저복잡도 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affine / quotient 기본 경로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밖을 NN이 마음대로 그리지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support · 인과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 health 1.0~0.8만 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현재까지 관측만 입력으로 사용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191000"/>
          <a:ext cx="11277600" cy="1428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약한 prior 예시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용량이 줄면 남은 수명도 줄고, 880 mAh에서 끝난다. ‘정확히 이 3차함수로 열화한다’까지는 가정하지 않는다.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강한 prior와 다른 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PAE의 강한 prior는 검증된 식 자체다. PP-X는 식 없이 쓸 최소 구조만 두고, 근거가 없으면 거절한다.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5/45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C1  Typed Contract — 무엇을 믿어도 되는지 먼저 정한다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Declare. 학습 전에 허용 prior의 범위를 선언하고, 결과를 본 뒤 유리한 가정을 추가하지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선언  Boundary / Unit / Causal X / Support / 허용 Prior / Fallback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33500"/>
          <a:ext cx="112776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9525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배터리 예시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허용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고장 경계 880 mAh · 현재까지 capacity·degradation rate 사용 · 미래 데이터 불가 · 경계에 가까울수록 RUL→0 정도의 약한 prior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불허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정확한 열화 방정식을 모르면 “RUL이 반드시 특정 지수함수를 따른다” 같은 강한 prior는 허용하지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설명 멘트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C1은 외삽하기 전에 우리가 실제로 믿을 수 있는 정보의 범위를 정하는 단계입니다.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고장경계·현재까지 이력처럼 정당화할 수 있는 정보만 prior로 허용합니다.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7/45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C2  Prior-residual core — 그 prior에서 NN이 조금만 수정하게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Learn. 허용된 prior를 기본 경로로 두고, residual 크기를 제한해 prior를 뒤집지 못하게 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6985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비교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동작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일반 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X → NN이 전부 결정 → RUL. 밖에서도 학습 패턴을 마음대로 이어 그릴 수 있다.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 (C2)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= 기본 철길 (예: 100). NN 수정은 −20~+20만 허용 → ŷ=100+(+8)=108. residual=−300으로 뒤집기 불가.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33750"/>
          <a:ext cx="112776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항목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ŷ = D[ y_prior + b(z) tanh(r(z)/b(z)) ]. r=NN residual, b=허용 수정 범위 → 대략 −b ≤ 수정 ≤ +b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멘트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C1 prior를 기본 예측으로 놓고, 신경망은 놓친 비선형성만 residual로 배운다. 외삽에서 prior를 마음대로 뒤집지 못한다.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8/45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C3  Unit-evidence approval — 그 기능이 진짜 도움이 되는지 검증한다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Approve. 만들 수 있다고 바로 쓰지 않는다. validation에서 평균과 physical-unit 위험을 함께 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항목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후보 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기본 PP-X  vs  PP-X + dual-scale. 둘 다 만들 수 있어도 둘 다 켜지 않는다.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 기준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RMSE ≥2% 개선 · Unit wins ≥60% · Worst RMSE ratio ≤1.10. 통과한 executor만 실행, 아니면 fallback.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왜 unit인가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10개 중 2개만 좋아지고 8개가 나빠도 평균 RMSE는 좋아 보일 수 있다. physical unit에서 골고루 도움이 됐는지 확인한다.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195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설명 멘트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사용할 수 있다는 것과 실제로 도움이 된다는 것을 구분합니다.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Optional executor는 평균뿐 아니라 unit 승률·worst-case risk까지 통과해야 승인됩니다.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9/45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발표용 30초 — C1·C2·C3만 말하면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앞부분을 막히지 않게 읽는 장표. 숫자는 뒤 결과 장에서 붙인다.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30초 스크립트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5400"/>
            <a:ext cx="11277600" cy="209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PP-X의 앞 세 기여는 순서대로 연결됩니다.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C1에서는 고장경계, causal history, support로 어떤 prior를 쓸 수 있는지 test 전에 제한합니다.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C2에서는 그 prior를 기본 경로로 고정하고, 신경망은 제한된 residual만 학습해 support 밖 과도 수정을 막습니다.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C3에서는 추가 executor가 평균만 좋아지는지 보는 것이 아니라, physical unit 승률과 worst-case risk까지 확인해 실행 여부를 결정합니다.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즉, 무엇을 믿을지 정하고 → 얼마나 수정할지 제한하고 → 실행 자격이 있는지를 검증합니다.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3619500"/>
            <a:ext cx="1127760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905250"/>
          <a:ext cx="11277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짧게 외울 한 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C1=무엇을 믿나 → C2=얼마나 수정하나 → C3=써도 되는지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이어서 C4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 route 1개 고정. 실패 시 사전 fallback.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10/45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방법 — 최종 PP-X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C1 contract → C2 prior-residual core → C3 unit approval → C4 frozen route / fallback</a:t>
            </a:r>
          </a:p>
        </p:txBody>
      </p:sp>
      <p:pic>
        <p:nvPicPr>
          <p:cNvPr id="6" name="Picture 5" descr="ppx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742950"/>
            <a:ext cx="7239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24750" y="819150"/>
          <a:ext cx="426720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기여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PP-X가 하는 일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C1 Declare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경계·unit·causal X·허용 prior·fallback 선언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C2 Learn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기본 경로 + bounded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C3 Approve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평균·unit wins·worst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24750" y="3314700"/>
          <a:ext cx="42672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승인 규칙 (val/source만)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조건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admissibility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source OOF regret·complete groups·regime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gain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RMSE 상대 2% 이상 개선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wins ≥60% · worst ratio ≤1.10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C4 / 거절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 route 1개 고정, 아니면 사전 fallback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90500" y="4648200"/>
            <a:ext cx="7239000" cy="838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모든 데이터셋에서 같은 optional module을 켜지 않는다. 공통점은 prior와 residual의 역할을 분리하고, contract가 허용한 executor만 validation에서 승인한다.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route가 승인되지 않으면 해당 contract에 미리 적은 direct·persistence fallback 또는 abstention으로 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" y="5715000"/>
            <a:ext cx="11525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66666"/>
                </a:solidFill>
                <a:latin typeface="Arial"/>
                <a:ea typeface="AppleGothic"/>
              </a:rPr>
              <a:t>버전 번호 혼동을 피하기 위해 논문과 본 발표에서는 ‘PP-X Algorithm 1’로만 표기한다.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11/45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PP-X Algorithm 1 — C1~C4로 읽기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Declare → Learn → Approve → Freeze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47750"/>
          <a:ext cx="112776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단계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① C1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Typed contract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boundary · progression · history · regime · support · 허용 prior · fallback 선언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② 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Prior-residual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prior 기본 경로 고정 + bounded residual 학습 (과도한 수정 차단)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③ C3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approval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 gain ≥2% · unit wins ≥60% · worst ratio ≤1.10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④ C4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Frozen output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승인 executor 1개 고정, 또는 사전 fallback. test에서 route 불변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7675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논문 메인 = PP-X 선택 알고리즘. CCMR은 trajectory risk-aware executor 사례일 뿐, 12개 과거 route가 하나의 동일 NN이라는 뜻은 아니다.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4825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동결  protocols/PPX_PAPER_METHOD_V1_FROZEN_PROTOCOL.md  ·  구현  paper_ppx.py  ·  선택 함수는 test outcome 인자를 받지 않음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12/45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외삽 구간을 어떻게 정하는가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학습이 본 건강 범위보다 더 진행된 관측만 점수로 친다</a:t>
            </a:r>
          </a:p>
        </p:txBody>
      </p:sp>
      <p:pic>
        <p:nvPicPr>
          <p:cNvPr id="6" name="Picture 5" descr="extrapolation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19150"/>
            <a:ext cx="6858000" cy="3333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4250" y="838200"/>
          <a:ext cx="4400550" cy="3333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275"/>
                <a:gridCol w="2200275"/>
              </a:tblGrid>
              <a:tr h="41671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절차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경계, 유닛, 시간, 입력, 외삽 좌표를 먼저 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학습·검증·시험에 같은 유닛을 넣지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학습에는 본 적 있는 건강 구간만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검증·시험에는 그 범위 밖 관측만 남김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정규화 통계는 학습 분할에서만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71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모델과 executor는 검증에서만 선택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67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고정한 시험 분할은 한 번만 예측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2900" y="4305300"/>
            <a:ext cx="11430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세로선은 학습에서 관측한 최저 건강이다. 그보다 더 나빠진 구간(오른쪽)만 검증·시험 점수에 넣는다.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같은 유닛의 미래 값, 최종 수명, 시험 궤적에서 만든 통계는 입력에 쓰지 않는다. 이 조건을 어기면 내삽 평가가 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" y="5353050"/>
            <a:ext cx="11430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자르는 규칙은 같다. 외삽 geometry는 셋마다 다르므로 다음 장에서 1D와 다차원을 구분해 적는다.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14/45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외삽을 숫자로 확인하는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1D 열화좌표 기준이다. 전체 feature-space hull 밖이라고 말하지 않는다.</a:t>
            </a:r>
          </a:p>
        </p:txBody>
      </p:sp>
      <p:pic>
        <p:nvPicPr>
          <p:cNvPr id="6" name="Picture 5" descr="hull_d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781050"/>
            <a:ext cx="4953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238750" y="781050"/>
          <a:ext cx="6572248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062"/>
                <a:gridCol w="1643062"/>
                <a:gridCol w="1643062"/>
                <a:gridCol w="1643062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1D Hull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거리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성격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4.42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늦은 건강. 매우 명확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2.87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늦은 건강. 매우 명확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건강 support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3.43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늦은 건강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셀 · 건강 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 배터리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1.61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유닛 · 충전법/말기. 1D 기준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미지 시편 · 균열 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배치2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 · PCA3 99.2%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 · PCA3 83.6% · 조건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0500" y="4743450"/>
            <a:ext cx="118110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오늘 그림에는 1D ordered-coordinate 기준의 엄격한 외삽만 남긴다. XJTU·FEMTO·NASA milling은 도메인/재료 transfer라 이 표에 없다.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1D Hull-out 100%는 ‘선언한 건강·균열·조건 축’ 밖이지, 전체 특징공간 convex hull 밖이 아니다. 배치2와 엔진은 PCA 2D에서 0%다.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엔진은 거리 0.23 SD·Target-out 0%라 먼 수명 외삽이 아니라 운전조건(regime) 외삽이다.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15/45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프로토콜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점수는 이 범위 안에서만 읽는다  ·  적합도는 허가증이지 성적표가 아니다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52500"/>
          <a:ext cx="1127760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규칙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의미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깨지면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unit-disjoint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 / val / test 셀이 겹치지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같은 유닛 누수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hull-out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선언한 1D 열화좌표에서 test가 train 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내삽으로 바뀜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게이트·보정을 val에서만 고름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test로 튜닝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Pass / Weak / Fail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운행 허가. Fail이면 예측을 옮기지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억지 점수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In scope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예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late-tail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 · RWTH · MICH · MATR2019 · NASA · Virkler · 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+ 다차원 설명 필요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 · N-CMAPSS (PCA2는 0%)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executor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train/val · group-LOO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03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오늘 표에 없음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이유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전체 feature hull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≠ 다차원 hull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도메인 / 재료 transfer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조건·끝점·재질 이동은 다른 종류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C-MAPSS FD002/004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조건 hull은 강하나 이번 주표 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16/45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주 결과 — 최종 PP-X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1D 열화좌표 기준의 엄격한 외삽만.  retrospective development 결과  ·  PAE 없음</a:t>
            </a:r>
          </a:p>
        </p:txBody>
      </p:sp>
      <p:pic>
        <p:nvPicPr>
          <p:cNvPr id="6" name="Picture 5" descr="ppx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1050"/>
            <a:ext cx="6477000" cy="3714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838200"/>
          <a:ext cx="4876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Executor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 상용셀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BQ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gated 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아헨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배치2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decay+transport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0.584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cal. latent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42900" y="4648200"/>
            <a:ext cx="3810000" cy="16002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" y="4648200"/>
            <a:ext cx="76200" cy="16002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4743450"/>
            <a:ext cx="3429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Li 배터리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991100"/>
            <a:ext cx="3429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화중·선우다·아헨·미시간 리튬셀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MIT 수명 벤치 (2019 / 배치2)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NASA 실험용 18650  (로켓 아님)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5300" y="4648200"/>
            <a:ext cx="3619500" cy="16002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5300" y="4648200"/>
            <a:ext cx="76200" cy="1600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5800" y="4743450"/>
            <a:ext cx="3238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균열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800" y="4991100"/>
            <a:ext cx="32385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알루미늄 판에 금이 감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항공기 재료 피로실험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배터리 아님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648200"/>
            <a:ext cx="3771900" cy="16002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4648200"/>
            <a:ext cx="76200" cy="16002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7700" y="4743450"/>
            <a:ext cx="33909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엔진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700" y="4991100"/>
            <a:ext cx="33909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항공기 엔진 시뮬레이터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처음 보는 비행조건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실제 비행기 데이터가 아님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17/45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dual-scale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executor 하나  ·  모든 데이터에 켜는 기본값이 아니다</a:t>
            </a:r>
          </a:p>
        </p:txBody>
      </p:sp>
      <p:pic>
        <p:nvPicPr>
          <p:cNvPr id="6" name="Picture 5" descr="abla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81050"/>
            <a:ext cx="11734800" cy="409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53000"/>
            <a:ext cx="5524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(a) 결론  고정 bound는 Sun·RWTH에서는 높지만 MICH를 0.468에 묶는다. dual-scale을 켠 뒤에야 MICH가 0.751이 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953000"/>
            <a:ext cx="54483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(b) 결론  평균을 조금 낮추고 최저 점수를 올린 선택이다. 데이터별 최고점을 모은 모델이 아니다.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18/45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구성요소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켠 모델 − matched 제거 arm  ·  ΔR²</a:t>
            </a:r>
          </a:p>
        </p:txBody>
      </p:sp>
      <p:pic>
        <p:nvPicPr>
          <p:cNvPr id="6" name="Picture 5" descr="ablation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38200"/>
            <a:ext cx="7239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15250" y="838200"/>
          <a:ext cx="409575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/>
                <a:gridCol w="1365250"/>
                <a:gridCol w="1365250"/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기능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대표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ΔR²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+0.658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+3.811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Frozen affine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bound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+0.221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Fixed 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−0.291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+0.283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Rate hist.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+1.256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3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+0.187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2900" y="4953000"/>
            <a:ext cx="72390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결론  residual은 세 배터리에서 모두 이득이다. 고정 bound와 full history는 MICH에서 마이너스다. 그래서 모듈을 쌓지 않고, 근거 있는 executor만 켠다.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19/45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대조군 ·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(a) matched 6-arm  ·  (b) causal history</a:t>
            </a:r>
          </a:p>
        </p:txBody>
      </p:sp>
      <p:pic>
        <p:nvPicPr>
          <p:cNvPr id="6" name="Picture 5" descr="ablation_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838200"/>
            <a:ext cx="6000750" cy="3810000"/>
          </a:xfrm>
          <a:prstGeom prst="rect">
            <a:avLst/>
          </a:prstGeom>
        </p:spPr>
      </p:pic>
      <p:pic>
        <p:nvPicPr>
          <p:cNvPr id="7" name="Picture 6" descr="ablation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838200"/>
            <a:ext cx="571500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62500"/>
            <a:ext cx="112395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(a) 결론  Affine만, 또는 그냥 NN만으로는 부족하다. 동결 affine 위에 제한 residual을 올린 조합이 세 셋에서 가장 안정하다.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(b) 결론  속도 이력은 Sun·RWTH에 필요하고, MICH에서는 단순한 margin history가 더 높다(0.715 vs 0.468). 이력을 전역 기본값으로 두지 않는다.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20/45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transport ·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optional executor는 항상 켜지 않는다</a:t>
            </a:r>
          </a:p>
        </p:txBody>
      </p:sp>
      <p:pic>
        <p:nvPicPr>
          <p:cNvPr id="6" name="Picture 5" descr="ablation_ma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52500"/>
            <a:ext cx="4762500" cy="4000500"/>
          </a:xfrm>
          <a:prstGeom prst="rect">
            <a:avLst/>
          </a:prstGeom>
        </p:spPr>
      </p:pic>
      <p:pic>
        <p:nvPicPr>
          <p:cNvPr id="7" name="Picture 6" descr="stats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952500"/>
            <a:ext cx="6477000" cy="381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4933950"/>
            <a:ext cx="1143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(a) 결론  MATRb2에서 transport가 주효과(+0.187)다. decay만으로는 +0.002다. 둘을 같이 켜야 0.862다.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(b) 결론  gate는 성능을 만드는 장치가 아니라 거절 장치다. 13곳 중 3곳만 개선, 10곳은 유지, 악화 0. seed는 5/5일 때만 승인한다.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21/45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모듈을 쌓지 않는다.  검증에서 이득이 있는 executor만 켠다.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1915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앞 네 장의 숫자를 한 규칙으로 읽는다. 최종 PP-X는 공통 core + 데이터마다 고른 executor다.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110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1100"/>
            <a:ext cx="76200" cy="3429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1295400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2B2"/>
                </a:solidFill>
                <a:latin typeface="Arial"/>
                <a:ea typeface="AppleGothic"/>
              </a:rPr>
              <a:t>항상 켠다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638300"/>
            <a:ext cx="3238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924050"/>
            <a:ext cx="32385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동결 affine prior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+ 제한 residual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Affine만, 또는 NN만으로는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세 배터리에서 무너진다.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Residual ΔR²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Sun +0.66  ·  MICH +3.81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6250" y="118110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6250" y="1181100"/>
            <a:ext cx="76200" cy="34290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6750" y="1295400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9F00"/>
                </a:solidFill>
                <a:latin typeface="Arial"/>
                <a:ea typeface="AppleGothic"/>
              </a:rPr>
              <a:t>근거 있을 때만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6750" y="1638300"/>
            <a:ext cx="3238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executor  ·  val-only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750" y="1924050"/>
            <a:ext cx="32385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고정 bound  Sun · RWTH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dual-scale  MICH만 (+0.28)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속도 이력  Sun · RWTH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transport  HUST · MATRb2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gate  13곳 중 3곳만 승인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악화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5300" y="118110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5300" y="1181100"/>
            <a:ext cx="76200" cy="3429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5800" y="1295400"/>
            <a:ext cx="32385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Arial"/>
                <a:ea typeface="AppleGothic"/>
              </a:rPr>
              <a:t>켜면 나빠진다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1638300"/>
            <a:ext cx="32385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전역 기본값으로 두지 않음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5800" y="1924050"/>
            <a:ext cx="32385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고정 bound → MICH −0.29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full rate history → MICH −0.25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dual-scale → Sun −0.005,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RWTH −0.036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/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평균을 조금 깎고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최저점을 살리는 선택은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데이터별 최고점 모음이 아니다.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00600"/>
            <a:ext cx="11277600" cy="6858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ppleGothic"/>
              </a:rPr>
              <a:t>읽는 법    core는 고정한다.   executor는 검증 증거가 있을 때만 켠다.   실패하면 safety로 되돌린다.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8165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그래서 주표의 executor가 데이터마다 다르다.  한꺼번에 켠 공동 모델이 아니다.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22/45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(a) heatmap  ·  (b) PP-X vs TabPFN vs others</a:t>
            </a:r>
          </a:p>
        </p:txBody>
      </p:sp>
      <p:pic>
        <p:nvPicPr>
          <p:cNvPr id="6" name="Picture 5" descr="competito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85800"/>
            <a:ext cx="118872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1000" y="5791200"/>
            <a:ext cx="1143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1 PP-X 0.81 · 2 GroupDRO 0.36 · 3 V-REx 0.35.  순위=9곳 평균 R².  강건=9곳에서 양수(9/9, 7/9, 7/9).  MICH TabPFN=동일 202행, v3 CPU, ensemble −1.86.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23/45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무엇을 검정했는가  ·  파랑 = p&lt;0.05  ·  주황 = 유의 못 함</a:t>
            </a:r>
          </a:p>
        </p:txBody>
      </p:sp>
      <p:pic>
        <p:nvPicPr>
          <p:cNvPr id="6" name="Picture 5" descr="stats_wilcox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81050"/>
            <a:ext cx="5410200" cy="32385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19750" y="781050"/>
          <a:ext cx="6191248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7812"/>
                <a:gridCol w="1547812"/>
                <a:gridCol w="1547812"/>
                <a:gridCol w="1547812"/>
              </a:tblGrid>
              <a:tr h="46264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①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검정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질문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결과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Wilcoxon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Sun·RWTH·MICH 25 unit RMSE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17/25 p=.003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Wilcoxon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soft / affine 대비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24/25 · 25/25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Wilcoxon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trainable / unbounded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p=.071 · .578  못 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 wins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아홉 셋 물리 유닛 77개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60/77 이김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6264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Sign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아홉 셋 모두 우세인가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9/9  양측 p=.0039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6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Bound audit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residual이 이론 bound를 넘나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 / 17,645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66700" y="411480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4191000"/>
            <a:ext cx="2628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W  Wilcoxon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419600"/>
            <a:ext cx="26289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쌍을 이룬 unit RMSE.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H0: 중앙 차이 = 0.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파랑만 ‘이겼다’고 말함.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주황은 이긴 칸이 있어도 유의 아님.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8500" y="411480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2800" y="4191000"/>
            <a:ext cx="2628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S  Seed binomial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2800" y="4419600"/>
            <a:ext cx="26289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5 seed가 affine을 골랐는가.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H0: 확률 ≤ 0.5.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5/5만 α=0.05 통과.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물리 반복이 아님.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4114800"/>
            <a:ext cx="2857500" cy="1905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0" y="4191000"/>
            <a:ext cx="26289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2B2"/>
                </a:solidFill>
                <a:latin typeface="Arial"/>
                <a:ea typeface="AppleGothic"/>
              </a:rPr>
              <a:t>D  Domain 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4419600"/>
            <a:ext cx="26289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1D 엄격한 외삽 9곳.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9/9 양측 exact p=.0039.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계층 bootstrap 95% CI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log-RMSE [0.17, 0.67].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2100" y="4114800"/>
            <a:ext cx="2628900" cy="1905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6400" y="4191000"/>
            <a:ext cx="24003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Arial"/>
                <a:ea typeface="AppleGothic"/>
              </a:rPr>
              <a:t>B  Bound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4419600"/>
            <a:ext cx="24003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가설검정이 아니라 제약 감사.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|ŷ−affine| ≤ margin·B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  <a:ea typeface="AppleGothic"/>
              </a:rPr>
              <a:t>17,645점 위반 0.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24/45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안정성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유닛 단위에서 개선이 한쪽으로 몰리지 않았는지 확인한다</a:t>
            </a:r>
          </a:p>
        </p:txBody>
      </p:sp>
      <p:pic>
        <p:nvPicPr>
          <p:cNvPr id="6" name="Picture 5" descr="robustnes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0"/>
            <a:ext cx="114300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457700"/>
            <a:ext cx="5524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(a) 결론  최종 executor 교정 후 유닛 log-RMSE 비는 평균 0.41, 계층 bootstrap 95% CI [0.17, 0.67]. 기하평균 RMSE 감소 33.8%. BH 보정 개별 유의는 선우다·배치2다.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457700"/>
            <a:ext cx="54483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(b) 결론  MICH 시험 8유닛의 개별 R²가 모두 양수다(0.50–0.96). 합친 점수 0.751은 한 유닛에 몰린 값이 아니므로 대표값으로 읽어도 된다. 이 그림은 검정이 아니라 분포 확인이다.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9595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정리  유닛 안에서는 근거가 있다. 데이터 종류가 세 개뿐이라 분야 전체 유의는 말하지 않는다.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25/45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정책 검증 — validation만으로는 부족하다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12-domain common-backbone retrospective audit  ·  oracle은 비배포 상한</a:t>
            </a:r>
          </a:p>
        </p:txBody>
      </p:sp>
      <p:pic>
        <p:nvPicPr>
          <p:cNvPr id="6" name="Picture 5" descr="ppx_policy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81050"/>
            <a:ext cx="7239000" cy="3810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96200" y="857250"/>
          <a:ext cx="40005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333500"/>
                <a:gridCol w="133350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정책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정확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FA / FR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Always direct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 /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Always PP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6/12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6 / 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 RMSE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4 /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Frozen PP-X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8/12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 / 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Test oracle*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12/12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 /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96200" y="4171950"/>
            <a:ext cx="40005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1C1C"/>
                </a:solidFill>
                <a:latin typeface="Arial"/>
                <a:ea typeface="AppleGothic"/>
              </a:rPr>
              <a:t>* test oracle는 선택에 쓸 수 없는 성능 상한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5775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결론  validation RMSE gate만으로는 오탐 4개다. unit-risk를 넣어도 prior contract를 고정 승인하면 오탐 2개가 남는다.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따라서 contract가 admissible prior를 먼저 제한해야 한다. 이후 DS03 prospective에서 unsupported prior 거절이 실제 test-best PP-X route였다.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26/45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공정 비교 — 9 settings × 8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각 모델 validation 후보 30개  ·  search seed 42  ·  refit seeds 42–46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2900" y="819150"/>
          <a:ext cx="115062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240"/>
                <a:gridCol w="2301240"/>
                <a:gridCol w="2301240"/>
                <a:gridCol w="2301240"/>
                <a:gridCol w="2301240"/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Setting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최강 30-candidate baseline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Baseline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ΔR²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GroupDRO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Virkler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FT-Transformer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−.002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0.583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linear-tail RBF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0.838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+.102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linear-tail RBF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+.146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0.751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monotone NN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−0.686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+1.437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MATR2019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FT-Transformer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MATR-b2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plain MLP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+.049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+.005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42900" y="4724400"/>
            <a:ext cx="11506200" cy="8763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300" y="4876800"/>
            <a:ext cx="112014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결론  PP-X 8/9 우세  ·  exact dataset sign test p=.0391  ·  3,360 training jobs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예외  Virkler FT가 +.002  ·  NASA 사실상 동률  ·  PP-X는 typed executor라 하나의 공통 hyperparameter grid로 재개발하지 않음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27/45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Prospective — N-CMAPSS DS03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protocol → raw hash → selection artifact를 test Y 공개 전에 각각 GitHub 동결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0050" y="857250"/>
          <a:ext cx="54292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809750"/>
                <a:gridCol w="180975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Validation route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MSE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판정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direct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37.639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basic prior-residual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85.774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거절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multiscale prior-residual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95.858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거절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34100" y="857250"/>
          <a:ext cx="561975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250"/>
                <a:gridCol w="1873250"/>
                <a:gridCol w="1873250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Prospective test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판정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Engression 30c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최고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FT-Transformer 30c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0.899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PP-X selected fallback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양수·비우월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basic / multiscale PP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0.832 / 0.869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선택보다 열세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00050" y="3733800"/>
            <a:ext cx="5429250" cy="1524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450" y="3905250"/>
            <a:ext cx="51244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PASS  미래 route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343400"/>
            <a:ext cx="512445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gate가 prior 두 개를 거절했고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실제 test-best PP-X route 선택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4100" y="3733800"/>
            <a:ext cx="5619750" cy="1524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0" y="3905250"/>
            <a:ext cx="531495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69F00"/>
                </a:solidFill>
                <a:latin typeface="Arial"/>
                <a:ea typeface="AppleGothic"/>
              </a:rPr>
              <a:t>FAIL  predictive superiority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343400"/>
            <a:ext cx="531495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Engression 대비 ΔR² −.0195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unit wins 1/6 · worst ratio 1.989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" y="5562600"/>
            <a:ext cx="113538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6666"/>
                </a:solidFill>
                <a:latin typeface="Arial"/>
                <a:ea typeface="AppleGothic"/>
              </a:rPr>
              <a:t>정직한 결론  prospective route-selection success, predictive superiority not confirmed  ·  DS03는 within-family 검증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30/45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실패 · 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오늘 표는 1D 엄격한 외삽만.  같은 100%라도 geometry는 다르다.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47750"/>
          <a:ext cx="11277600" cy="219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4381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경계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읽는 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 (base)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-1.522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관계 이동 · 보정 꺼짐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 켠 뒤 0.751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MATR2019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건강 tail은 맞음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주표에 남기되 약점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0.937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조건 외삽. 먼 RUL tail 아님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1D 100% · PCA2 0% · PCA3 99.2%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다차원 geometry를 같이 적음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19500"/>
          <a:ext cx="5524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/>
                <a:gridCol w="27622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Claim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Detail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최종 PP-X = 공통 core + validation-approved executor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Scope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unit-disjoint · hull-out · val-only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Not default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dual-scale · transport · full history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Venue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분야 Q1–Q2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86500" y="3619500"/>
          <a:ext cx="54483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50"/>
                <a:gridCol w="27241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Not claimed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Detail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Zn / 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사후 개발 — untouched 확증 아님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도메인 transfer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오늘 외삽 정의에 넣지 않음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PAE 주표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오늘 점수와 섞지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Universal SOTA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모든 OOD 1등 아님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32/45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끝난 고호트 — PP-X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잘된 셋만 PP-X.  MATR 두 곳은 기존 PP-X artifact  ·  Misata는 방금 같은 split으로 재실행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76300"/>
          <a:ext cx="112776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고호트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 경로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 R²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판정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 2019-01-24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validation-calibrated latent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0.466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양수. 봉인 latent 0.257에서 개선. 주표와 동일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 batch2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regime transport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0.862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양수. 봉인 0.471/0.523에서 개선. 주표와 동일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Misata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core · val이 unbounded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0.829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양수. MLP 0.854. 우월 확증은 여전히 실패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7675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Misata 새 실행  seed 42–46 ensemble 0.829 (개별 0.816–0.829). executor는 validation에서 bounded가 2%를 못 넘겨 unbounded. 기존 locked MLP와 같은 1298행.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Oxford·MATWI·팬·XJTU는 실패 고호트라 PP-X로 다시 돌리지 않았다.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33/45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PP-X 구조 검증 — CCMR v2.2 executor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trajectory-domain bank + small-cohort route  ·  논문 메인 명칭은 PP-X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38200"/>
            <a:ext cx="3619500" cy="1905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" y="9906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PP-X trajectory executor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13335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CCMR v2.2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predictor v2.0 bank 유지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val unit 3–9 → small_crossfit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그 외 → stable / cautious /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838200"/>
            <a:ext cx="3619500" cy="1905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7700" y="9906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개발 5고호트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13335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false accept 0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max raw regret 0%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SIT LFP만 엄격 개선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geo RMSE ratio 0.9986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838200"/>
            <a:ext cx="3619500" cy="1905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7700" y="990600"/>
            <a:ext cx="3238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거절 후보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700" y="1333500"/>
            <a:ext cx="32385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CCMR v2.3 AC-CRPE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안전(false accept 0)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그러나 GM RMSE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v2.2 대비 ≈0.0002% 악화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5275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PP-X 증거  소표본 route와 exact fallback이 선택적 prior 사용의 안전성을 지지. MultiStage에서 안정성 우위.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주장 불가  PP-X가 보편적 SOTA / Alloy 정확도에서 Engression을 이겼다 / Alloy를 보고 재튜닝했다.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0050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1C1C"/>
                </a:solidFill>
                <a:latin typeface="Arial"/>
                <a:ea typeface="AppleGothic"/>
              </a:rPr>
              <a:t>Alloy A · MultiStage는 봉인 holdout이다. 점수를 보고 구조를 다시 맞추지 않는다. 아래 ablation·벤치마크는 retrospective evidence다.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5775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근거  CCMR_V22_SMALL_COHORT_RESULTS_KO.md  ·  CCMR_V23_AC_CRPE_RESULTS_KO.md  ·  results/ccmr_model_ablation_stats_benchmark_v1/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34/45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CCMR v2.0 → v2.2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개발 5고호트  ·  paired RMSE gain + bootstrap CI</a:t>
            </a:r>
          </a:p>
        </p:txBody>
      </p:sp>
      <p:pic>
        <p:nvPicPr>
          <p:cNvPr id="6" name="Picture 5" descr="ccmr_v22_dev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781050"/>
            <a:ext cx="7239000" cy="3714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96200" y="876300"/>
          <a:ext cx="40005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/>
                <a:gridCol w="2000250"/>
              </a:tblGrid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통계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값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GM RMSE ratio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mean RMSE gain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+0.14%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strict better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 /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non-worse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 / 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false accept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max regret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sign-flip 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boot CI95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[0, 0.42]%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6250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SIT LFP에서만 pooled improvement 0→0.7% (small_crossfit_bank). 나머지 4곳은 non-worse.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 paired sign-flip은 표본 5로 유의하지 않다. 승격 근거는 엄격 악화 없음 + false accept 0이다.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35/45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Ablation — dynamics bank experts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단일 expert는 약하다. bank + selection이 프로토콜이다.</a:t>
            </a:r>
          </a:p>
        </p:txBody>
      </p:sp>
      <p:pic>
        <p:nvPicPr>
          <p:cNvPr id="6" name="Picture 5" descr="ccmr_expert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57250"/>
            <a:ext cx="1123950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530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단일 dynamics expert의 mean pooled gain은 음수인 구간이 많다. 그래서 PP-X의 CCMR executor는 expert를 전역 기본값으로 두지 않고,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validation에서 고른 bank / small-cohort route / exact fallback으로 위험을 가른다.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36/45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벤치마크 — 두 성공 holdout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경쟁군 + CCMR v2.2 overlay  ·  Alloy/MultiStage는 구조 재튜닝에 쓰지 않음</a:t>
            </a:r>
          </a:p>
        </p:txBody>
      </p:sp>
      <p:pic>
        <p:nvPicPr>
          <p:cNvPr id="6" name="Picture 5" descr="ccmr_holdout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742950"/>
            <a:ext cx="11811000" cy="409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953000"/>
            <a:ext cx="112776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Alloy  정확도 1위는 Engression (R²≈0.991). CCMR v2.2는 R²≈0.771, regret 0.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MultiStage  CCMR v2.2가 R²≈0.989·regret 0. Engression은 R²≈0.979지만 max regret ≈205%.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37/45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주장 경계 — 정확도 vs 안정성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한 고호트 승리가 전역 SOTA가 아니다</a:t>
            </a:r>
          </a:p>
        </p:txBody>
      </p:sp>
      <p:pic>
        <p:nvPicPr>
          <p:cNvPr id="6" name="Picture 5" descr="ccmr_claim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857250"/>
            <a:ext cx="110490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6250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Alloy에서는 Engression이 정확도에서 앞선다. MultiStage에서는 Engression의 유닛 regret이 폭발하고 CCMR executor가 안전하다.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PP-X의 핵심은 “모든 holdout 1등”이 아니라, 근거 없는 prior를 거절하고 외삽 위험을 제한하는 것이다.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38/45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거절 — CCMR v2.3 AC-CRPE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강한 no-prior portfolio + contract residual  ·  엄격 RMSE 개선 실패</a:t>
            </a:r>
          </a:p>
        </p:txBody>
      </p:sp>
      <p:pic>
        <p:nvPicPr>
          <p:cNvPr id="6" name="Picture 5" descr="ccmr_v23_rejec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781050"/>
            <a:ext cx="7239000" cy="371475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96200" y="876300"/>
          <a:ext cx="40005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/>
                <a:gridCol w="2000250"/>
              </a:tblGrid>
              <a:tr h="349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최종 v10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값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GM vs v2.2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1.000002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Δ GM RMSE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−0.0002%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non-worse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4 /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false accept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max regret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fallback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exact OK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promoted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holdout replay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9B1C1C"/>
                          </a:solidFill>
                          <a:latin typeface="Arial"/>
                          <a:ea typeface="AppleGothic"/>
                        </a:rPr>
                        <a:t>미실행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762500"/>
            <a:ext cx="112776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강한 Engression anchor는 development에서 regret을 키웠고, nested v2.2 safety로 수렴했다.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최종은 안전하지만 v2.2 대비 엄격 평균 RMSE 개선이 없어 거절. Alloy를 보고 재튜닝하지 않았다.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39/45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지도는 루트 장에 있다.  여기서는 앞으로만 말한다.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4775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47750"/>
            <a:ext cx="76200" cy="3429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24150" y="1200150"/>
            <a:ext cx="1123950" cy="228600"/>
          </a:xfrm>
          <a:prstGeom prst="roundRect">
            <a:avLst>
              <a:gd name="adj" fmla="val 12000"/>
            </a:avLst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지금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00150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2B2"/>
                </a:solidFill>
                <a:latin typeface="Arial"/>
                <a:ea typeface="AppleGothic"/>
              </a:rPr>
              <a:t>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1925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식 없는 경로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00250"/>
            <a:ext cx="314325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contract-conditioned prior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validation-approved executor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근거 없으면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48000"/>
            <a:ext cx="314325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CCMR v2.2 구조 증거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v2.3 거절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10000"/>
            <a:ext cx="3143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2B2"/>
                </a:solidFill>
                <a:latin typeface="Arial"/>
                <a:ea typeface="AppleGothic"/>
              </a:rPr>
              <a:t>만능 SOTA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6250" y="104775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6250" y="1047750"/>
            <a:ext cx="76200" cy="342900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200" y="1200150"/>
            <a:ext cx="1123950" cy="228600"/>
          </a:xfrm>
          <a:prstGeom prst="roundRect">
            <a:avLst>
              <a:gd name="adj" fmla="val 12000"/>
            </a:avLst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다음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50" y="1200150"/>
            <a:ext cx="190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69F00"/>
                </a:solidFill>
                <a:latin typeface="Arial"/>
                <a:ea typeface="AppleGothic"/>
              </a:rPr>
              <a:t>PAE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4850" y="161925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식 있는 경로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4850" y="2000250"/>
            <a:ext cx="314325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LLM·온톨로지·source gate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허용된 식만 실행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이득 없으면 PP-X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850" y="3810000"/>
            <a:ext cx="3143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9F00"/>
                </a:solidFill>
                <a:latin typeface="Arial"/>
                <a:ea typeface="AppleGothic"/>
              </a:rPr>
              <a:t>다음 논문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5300" y="1047750"/>
            <a:ext cx="3619500" cy="34290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5300" y="1047750"/>
            <a:ext cx="76200" cy="3429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82250" y="1200150"/>
            <a:ext cx="1123950" cy="2286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AppleGothic"/>
              </a:rPr>
              <a:t>박사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900" y="1200150"/>
            <a:ext cx="2095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Arial"/>
                <a:ea typeface="AppleGothic"/>
              </a:rPr>
              <a:t>Assurance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00" y="161925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두 경로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3900" y="2000250"/>
            <a:ext cx="314325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믿기 / 보류 / 거절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허가증으로 운행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Arial"/>
                <a:ea typeface="AppleGothic"/>
              </a:rPr>
              <a:t>Fail이면 옮기지 않음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3900" y="3810000"/>
            <a:ext cx="314325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이후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62500"/>
            <a:ext cx="112776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밖을 지탱하는 것은 가정이다.  식이 없으면 PP-X.  executor는 근거 있을 때만 켠다.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40/45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후속 — PAE 컨셉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출처가 고정된 식을 컴파일하고, 적용 가능한지 검증한 뒤에만 실행한다.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0100"/>
            <a:ext cx="112776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PAE는 식 생성기가 아니다. 문헌 식 카드가 의미적으로 실행 가능하고, 검증에서 전이될 때만 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04900"/>
            <a:ext cx="3429000" cy="533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문제 서술  +  데이터 스키마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00500" y="1257300"/>
            <a:ext cx="266700" cy="2095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1500" y="1104900"/>
            <a:ext cx="3429000" cy="533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RAG   문헌 식 카드 · 인용만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181100"/>
            <a:ext cx="3733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실행 권한 없음. 후보만 줄인다.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1695450"/>
            <a:ext cx="266700" cy="13335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885950"/>
            <a:ext cx="3429000" cy="11239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85950"/>
            <a:ext cx="76200" cy="112395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196215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2B2"/>
                </a:solidFill>
                <a:latin typeface="Arial"/>
                <a:ea typeface="AppleGothic"/>
              </a:rPr>
              <a:t>LLM 게이트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2209800"/>
            <a:ext cx="304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카드 ID와 역할 결합만 제안.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식·상수·인용·고장경계를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만들지 못한다.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00500" y="2286000"/>
            <a:ext cx="266700" cy="2095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1500" y="1885950"/>
            <a:ext cx="3429000" cy="112395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1500" y="1885950"/>
            <a:ext cx="76200" cy="112395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96215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9F00"/>
                </a:solidFill>
                <a:latin typeface="Arial"/>
                <a:ea typeface="AppleGothic"/>
              </a:rPr>
              <a:t>온톨로지 · 식 판별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09800"/>
            <a:ext cx="304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target · 메커니즘 · 역할 · 단위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경계 · 출처 · learnable slot.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하나라도 깨지면 실행 불가.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24800" y="2286000"/>
            <a:ext cx="266700" cy="20955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05800" y="1885950"/>
            <a:ext cx="3429000" cy="112395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05800" y="1885950"/>
            <a:ext cx="76200" cy="11239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96300" y="1962150"/>
            <a:ext cx="3048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/>
                <a:ea typeface="AppleGothic"/>
              </a:rPr>
              <a:t>Source 게이트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6300" y="2209800"/>
            <a:ext cx="304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검증 holdout에서 식 경로가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PP-X보다 나을 때만 통과.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안전 증명이 아니다.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43600" y="3067050"/>
            <a:ext cx="266700" cy="13335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52750" y="3238500"/>
            <a:ext cx="6286500" cy="38100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  <a:ea typeface="AppleGothic"/>
              </a:rPr>
              <a:t>식이 컴파일되고, 검증에서 이기는가?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00500" y="36195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96000" y="36195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191500" y="3619500"/>
            <a:ext cx="0" cy="15240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00500" y="3771900"/>
            <a:ext cx="4191000" cy="0"/>
          </a:xfrm>
          <a:prstGeom prst="line">
            <a:avLst/>
          </a:prstGeom>
          <a:ln w="1587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3848100" y="3771900"/>
            <a:ext cx="266700" cy="133350"/>
          </a:xfrm>
          <a:prstGeom prst="downArrow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5943600" y="3771900"/>
            <a:ext cx="266700" cy="133350"/>
          </a:xfrm>
          <a:prstGeom prst="downArrow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wn Arrow 33"/>
          <p:cNvSpPr/>
          <p:nvPr/>
        </p:nvSpPr>
        <p:spPr>
          <a:xfrm>
            <a:off x="8039100" y="3771900"/>
            <a:ext cx="266700" cy="13335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0" y="3752850"/>
            <a:ext cx="8572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69F00"/>
                </a:solidFill>
                <a:latin typeface="Arial"/>
                <a:ea typeface="AppleGothic"/>
              </a:rPr>
              <a:t>YES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0" y="3752850"/>
            <a:ext cx="8572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2B2"/>
                </a:solidFill>
                <a:latin typeface="Arial"/>
                <a:ea typeface="AppleGothic"/>
              </a:rPr>
              <a:t>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814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" y="4057650"/>
            <a:ext cx="31242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9F00"/>
                </a:solidFill>
                <a:latin typeface="Arial"/>
                <a:ea typeface="AppleGothic"/>
              </a:rPr>
              <a:t>PAE 실행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4305300"/>
            <a:ext cx="3124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허용 계수만 학습.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현재 상태 → 경계 적분. RUL=0.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1500" y="39814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3900" y="4057650"/>
            <a:ext cx="31242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2B2"/>
                </a:solidFill>
                <a:latin typeface="Arial"/>
                <a:ea typeface="AppleGothic"/>
              </a:rPr>
              <a:t>PP-X로 되돌림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3900" y="4305300"/>
            <a:ext cx="3124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식 계약이 안 닫히거나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검증에서 이득이 없을 때.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05800" y="39814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4057650"/>
            <a:ext cx="31242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거절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4305300"/>
            <a:ext cx="3124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식도 없고 PP-X도 불안정하면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예측하지 않는다.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067300"/>
            <a:ext cx="112776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  <a:ea typeface="AppleGothic"/>
              </a:rPr>
              <a:t>검사 항목   상태 · 고장 메커니즘 · 필수 변수 · 단위 · 경계 · 출처.   데이터셋 이름으로 경로를 고르지 않는다.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37210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자유 LLM 식 생성은 성공이 아니라 계약 위반이다. 다음 논문 경로이며 오늘 주표와 숫자를 섞지 않는다.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41/45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후속 — PAE 피저빌리티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게이트가 왜 필요한지, 식이 맞을 때와 경계만 있을 때를 갈라 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14400"/>
          <a:ext cx="1127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자료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넣은 식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게이트 읽기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PAE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Paris + 49.8 mm 파단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식·경계·역할이 닫힘 →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 배터리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80% EOL 경계만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메커니즘 식 없음 → 되돌려야 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0.635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0.826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 속도 quotient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셀마다 regime이 달라 계약 약함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0.492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0.741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429000"/>
          <a:ext cx="112776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/>
                <a:gridCol w="5638800"/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이미 본 것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아직 아닌 것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식이 맞으면 PAE가 PP-X를 이김 (Virkler +0.081)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RAG·LLM·온톨로지를 주표에 넣지 않음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경계만 알면 PAE를 켜면 진다 (MICH · NASA)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source gate의 광범위 일반화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동일-split, 오늘 포트폴리오와 분리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LLM이 물리법칙을 발견한다는 주장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95900"/>
            <a:ext cx="112776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"/>
                <a:ea typeface="AppleGothic"/>
              </a:rPr>
              <a:t>결론  식이 맞으면 PAE, 경계만 있으면 PP-X. 미시간 0.826은 raw-cycle 맞비교(주표 MICH 0.751).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38800"/>
            <a:ext cx="1127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게이트는 성능을 올리는 부품이 아니라, 틀린 식을 실행하지 못하게 막는 장치다.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42/45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" y="304800"/>
            <a:ext cx="11430000" cy="6248400"/>
          </a:xfrm>
          <a:prstGeom prst="rect">
            <a:avLst/>
          </a:prstGeom>
          <a:noFill/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190500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22222"/>
                </a:solidFill>
                <a:latin typeface="Arial"/>
                <a:ea typeface="AppleGothic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571750"/>
            <a:ext cx="102870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2B2"/>
                </a:solidFill>
                <a:latin typeface="Arial"/>
                <a:ea typeface="AppleGothic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429000"/>
            <a:ext cx="952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오늘: PP-X  ·  contract-conditioned prior + validation-approved executor + fallback</a:t>
            </a:r>
          </a:p>
          <a:p>
            <a:pPr algn="ctr"/>
            <a:r>
              <a:rPr sz="1500" b="0">
                <a:solidFill>
                  <a:srgbClr val="222222"/>
                </a:solidFill>
                <a:latin typeface="Arial"/>
                <a:ea typeface="AppleGothic"/>
              </a:rPr>
              <a:t>구조 증거: CCMR v2.2  ·  한계: 정확도≠안정성, prospective 확증은 남음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762500"/>
            <a:ext cx="10287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Arial"/>
                <a:ea typeface="AppleGothic"/>
              </a:rPr>
              <a:t>질문 받겠습니다.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334000"/>
            <a:ext cx="1028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Arial"/>
                <a:ea typeface="AppleGothic"/>
              </a:rPr>
              <a:t>SPS Lab  ·  박사과정 박진서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보조 — 이게 무슨 데이터인가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백업. 본 발표는 Q&amp;A에서 끝낸다.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66700" y="838200"/>
          <a:ext cx="11658600" cy="514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  <a:gridCol w="38862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표기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물건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한 줄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HUST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화중과대 리튬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충전 방법(프로토콜)이 다른 셀. 중국 랩.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Sunwoda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 상용 리튬셀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공장 셀. 학습에 안 넣은 다른 셀로 시험.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RWTH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아헨공대 리튬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독일 랩 셀. 역시 처음 보는 셀로 시험.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미시간대 리튬 배터리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건강↔수명 관계가 학습 때와 달라진 셀.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 수명 벤치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노트북/그리드용 셀. 고전 벤치마크.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MATRb2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배치 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같은 랩, 다른 생산 로트. 시험 9셀.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PCoE 실험용 18650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우주선/로켓이 아님. 용량 70%까지 남은 횟수.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Virkler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피로균열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판에 금이 얼마나 남았나. 배터리 아님.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N-CMAPSS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 시뮬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NASA가 만든 디지털 터보팬. 실제 비행 기록 아님.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6700" y="6076950"/>
            <a:ext cx="1165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NASA가 두 개다.  위는 배터리 셀, 아래 엔진은 시뮬레이터.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44/45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보조 — 누구로 나누고, 뭘 보고, 뭘 맞추나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미지 = 학습 때 이름조차 안 본 셀/시편/엔진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0500" y="819150"/>
          <a:ext cx="11811000" cy="495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2362200"/>
                <a:gridCol w="2362200"/>
                <a:gridCol w="2362200"/>
                <a:gridCol w="2362200"/>
              </a:tblGrid>
              <a:tr h="70757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셋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학습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검증 / 시험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보고 (X)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맞추는 것 (Y)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화중 배터리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충전법 1–6, 아직 건강한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충전법 7–8 / 9–10, 용량이 더 떨어진 구간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지금까지의 용량·떨어지는 속도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수명까지 남은 사이클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선우다 · 아헨 · 미시간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다른 셀의 건강한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처음 보는 셀의 말기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지금 건강, 최근 속도, 고장까지 여유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수명까지 남은 사이클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MIT 2019 / 배치2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일부 셀의 건강한 구간 (배치2는 30셀)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나머지 셀의 말기 (배치2는 9+9셀)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지금까지의 용량 이력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수명까지 남은 사이클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NASA 실험셀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일부 셀, 용량이 아직 높은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다른 셀, 용량이 학습 최저보다 낮은 구간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용량, 속도, 몇 번째 사이클인가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용량 70% 될 때까지 남은 횟수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70757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알루미늄 균열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다른 시편의 짧은 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처음 보는 시편의 긴 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금 길이, 자라는 속도, 하중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쪼개질 때까지 남은 반복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757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항공기 엔진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본 적 있는 비행조건의 엔진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처음 보는 비행조건의 엔진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센서(조건으로 나눈 값), 운전모드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엔진이 버틸 남은 시간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0500" y="5886450"/>
            <a:ext cx="1181100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같은 셀을 시간만 잘라 뒤를 맞추지 않는다.  시험 셀의 미래·최종 수명은 X에 넣지 않는다.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45/45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9550"/>
            <a:ext cx="112395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2222"/>
                </a:solidFill>
                <a:latin typeface="Arial"/>
                <a:ea typeface="AppleGothic"/>
              </a:rPr>
              <a:t>동일 coverage — 검정 기반 Selective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4350"/>
            <a:ext cx="11239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  <a:ea typeface="AppleGothic"/>
              </a:rPr>
              <a:t>Noskov–Fishkov–Panov Algorithm 1 재현  ·  Gaussian NW + variance/density acceptance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19150"/>
            <a:ext cx="112776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질문  support 안의 안전한 점만 고르는 방법이 strict extrapolation에서도 예측 범위와 정확도를 함께 유지하는가?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76350"/>
          <a:ext cx="6858000" cy="3105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6210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목표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실제 평균 coverage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PP-X nRMSE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Selective NW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AppleGothic"/>
                        </a:rPr>
                        <a:t>승리</a:t>
                      </a:r>
                    </a:p>
                  </a:txBody>
                  <a:tcPr anchor="ctr">
                    <a:solidFill>
                      <a:srgbClr val="222222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0.272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1.279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8.7%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0.296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1.275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13.2%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0.305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1.266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  <a:ea typeface="AppleGothic"/>
                        </a:rPr>
                        <a:t>5/5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20000" y="1276350"/>
            <a:ext cx="4114800" cy="1371600"/>
          </a:xfrm>
          <a:prstGeom prst="roundRect">
            <a:avLst>
              <a:gd name="adj" fmla="val 12000"/>
            </a:avLst>
          </a:prstGeom>
          <a:solidFill>
            <a:srgbClr val="FDF4E3"/>
          </a:solidFill>
          <a:ln w="15875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9550" y="1466850"/>
            <a:ext cx="3695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9F00"/>
                </a:solidFill>
                <a:latin typeface="Arial"/>
                <a:ea typeface="AppleGothic"/>
              </a:rPr>
              <a:t>Coverage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8600" y="1885950"/>
            <a:ext cx="36576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4/9 setting은 전부 거절</a:t>
            </a:r>
          </a:p>
          <a:p>
            <a:pPr algn="ctr"/>
            <a:r>
              <a:rPr sz="1400" b="1">
                <a:solidFill>
                  <a:srgbClr val="222222"/>
                </a:solidFill>
                <a:latin typeface="Arial"/>
                <a:ea typeface="AppleGothic"/>
              </a:rPr>
              <a:t>N-CMAPSS만 100% admissible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0" y="2876550"/>
            <a:ext cx="4114800" cy="150495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9550" y="3067050"/>
            <a:ext cx="36957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72B2"/>
                </a:solidFill>
                <a:latin typeface="Arial"/>
                <a:ea typeface="AppleGothic"/>
              </a:rPr>
              <a:t>동일 행 수에서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348615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PP-X가 비교 가능한 5/5에서 우세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양측 exact p=.0625</a:t>
            </a:r>
          </a:p>
          <a:p>
            <a:pPr algn="ctr"/>
            <a:r>
              <a:rPr sz="1300" b="1">
                <a:solidFill>
                  <a:srgbClr val="222222"/>
                </a:solidFill>
                <a:latin typeface="Arial"/>
                <a:ea typeface="AppleGothic"/>
              </a:rPr>
              <a:t>(n=5의 최소 양측 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62500"/>
            <a:ext cx="11277600" cy="819150"/>
          </a:xfrm>
          <a:prstGeom prst="roundRect">
            <a:avLst>
              <a:gd name="adj" fmla="val 12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50" y="4895850"/>
            <a:ext cx="10858500" cy="55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  <a:ea typeface="AppleGothic"/>
              </a:rPr>
              <a:t>의미  Selective Regression은 support가 희박하면 예측을 버린다. PP-X는 지지된 prior-residual 경로로 외삽 coverage를 유지하면서, 같은 coverage에서도 accepted risk를 낮췄다.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10250"/>
            <a:ext cx="11277600" cy="247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Arial"/>
                <a:ea typeface="AppleGothic"/>
              </a:rPr>
              <a:t>9개 메인 setting · 동일 split · test label은 최종 risk 계산에만 사용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77000"/>
            <a:ext cx="11277600" cy="0"/>
          </a:xfrm>
          <a:prstGeom prst="line">
            <a:avLst/>
          </a:prstGeom>
          <a:ln w="9525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534150"/>
            <a:ext cx="7620000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Arial"/>
                <a:ea typeface="AppleGothic"/>
              </a:rPr>
              <a:t>SPS Lab  ·  Prior-Adaptive Extrapolation  ·  PP-X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7500" y="65151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66666"/>
                </a:solidFill>
                <a:latin typeface="Arial"/>
                <a:ea typeface="AppleGothic"/>
              </a:rPr>
              <a:t>29/45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