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2057400" cy="329184"/>
          </a:xfrm>
          <a:prstGeom prst="roundRect">
            <a:avLst/>
          </a:prstGeom>
          <a:solidFill>
            <a:srgbClr val="1F6BB5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20 MIN · PP-X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ple SD Gothic Neo"/>
              </a:rPr>
              <a:t>외삽을 안전하게 만드는
prior–residual 실행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474720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CFDBE7"/>
                </a:solidFill>
                <a:latin typeface="Apple SD Gothic Neo"/>
              </a:rPr>
              <a:t>PP-X Final 게이트 · 수식 · 성능 · ablation · 통계검정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4251960"/>
            <a:ext cx="2944368" cy="0"/>
          </a:xfrm>
          <a:prstGeom prst="line">
            <a:avLst/>
          </a:prstGeom>
          <a:ln w="63500">
            <a:solidFill>
              <a:srgbClr val="1F6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484632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</a:rPr>
              <a:t>박사과정 박진서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321808"/>
            <a:ext cx="6858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4C3D2"/>
                </a:solidFill>
                <a:latin typeface="Apple SD Gothic Neo"/>
              </a:rPr>
              <a:t>Validation-Approved Prior-Residual Extrapolation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17220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3D2"/>
                </a:solidFill>
                <a:latin typeface="Apple SD Gothic Neo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왜 외삽인가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고장에 가까운 구간은 학습 support 밖에 놓이기 쉽다.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4526280"/>
            <a:ext cx="10241280" cy="0"/>
          </a:xfrm>
          <a:prstGeom prst="line">
            <a:avLst/>
          </a:prstGeom>
          <a:ln w="25400">
            <a:solidFill>
              <a:srgbClr val="5B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1463040"/>
            <a:ext cx="0" cy="3611880"/>
          </a:xfrm>
          <a:prstGeom prst="line">
            <a:avLst/>
          </a:prstGeom>
          <a:ln w="19050">
            <a:solidFill>
              <a:srgbClr val="5B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4736592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6777"/>
                </a:solidFill>
                <a:latin typeface="Apple SD Gothic Neo"/>
              </a:rPr>
              <a:t>학습 구간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736592"/>
            <a:ext cx="6035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67E34"/>
                </a:solidFill>
                <a:latin typeface="Apple SD Gothic Neo"/>
              </a:rPr>
              <a:t>외삽 구간 · EOL 방향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828800"/>
            <a:ext cx="3063240" cy="822960"/>
          </a:xfrm>
          <a:prstGeom prst="line">
            <a:avLst/>
          </a:prstGeom>
          <a:ln w="38100">
            <a:solidFill>
              <a:srgbClr val="1F6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2240280"/>
            <a:ext cx="3063240" cy="822960"/>
          </a:xfrm>
          <a:prstGeom prst="line">
            <a:avLst/>
          </a:prstGeom>
          <a:ln w="38100">
            <a:solidFill>
              <a:srgbClr val="1F6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2651760"/>
            <a:ext cx="3063240" cy="822960"/>
          </a:xfrm>
          <a:prstGeom prst="line">
            <a:avLst/>
          </a:prstGeom>
          <a:ln w="38100">
            <a:solidFill>
              <a:srgbClr val="1F6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89120" y="2788920"/>
            <a:ext cx="6217920" cy="1508760"/>
          </a:xfrm>
          <a:prstGeom prst="line">
            <a:avLst/>
          </a:prstGeom>
          <a:ln w="50800">
            <a:solidFill>
              <a:srgbClr val="2D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89120" y="1828800"/>
            <a:ext cx="6217920" cy="960120"/>
          </a:xfrm>
          <a:prstGeom prst="line">
            <a:avLst/>
          </a:prstGeom>
          <a:ln w="38100">
            <a:solidFill>
              <a:srgbClr val="BE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79" y="40690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9168"/>
                </a:solidFill>
                <a:latin typeface="Apple SD Gothic Neo"/>
              </a:rPr>
              <a:t>물리적으로 일관된 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554480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E4141"/>
                </a:solidFill>
                <a:latin typeface="Apple SD Gothic Neo"/>
              </a:rPr>
              <a:t>보간은 맞아도 tail은 되살아날 수 있음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504688"/>
            <a:ext cx="10607040" cy="658368"/>
          </a:xfrm>
          <a:prstGeom prst="roundRect">
            <a:avLst/>
          </a:prstGeom>
          <a:solidFill>
            <a:srgbClr val="FDF1E6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596128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A232F"/>
                </a:solidFill>
                <a:latin typeface="Apple SD Gothic Neo"/>
              </a:rPr>
              <a:t>핵심: 관측 데이터만으로 support 밖 함수값은 식별되지 않는다 → 외삽 방향을 prior와 contract로 제한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연구 방향 — PP-X에서 PAE로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검증된 식의 강도에 따라 두 층을 분리한다.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417320"/>
            <a:ext cx="4800600" cy="3977639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8" y="1691640"/>
            <a:ext cx="1325880" cy="329184"/>
          </a:xfrm>
          <a:prstGeom prst="roundRect">
            <a:avLst/>
          </a:prstGeom>
          <a:solidFill>
            <a:srgbClr val="1F6BB5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691640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현재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48840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6BB5"/>
                </a:solidFill>
                <a:latin typeface="Apple SD Gothic Neo"/>
              </a:rPr>
              <a:t>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88920"/>
            <a:ext cx="4069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232F"/>
                </a:solidFill>
                <a:latin typeface="Apple SD Gothic Neo"/>
              </a:rPr>
              <a:t>약한 prior
+ residual 후보군
+ validation 승인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389120"/>
            <a:ext cx="4023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777"/>
                </a:solidFill>
                <a:latin typeface="Apple SD Gothic Neo"/>
              </a:rPr>
              <a:t>식이 약하거나 경계·방향만 아는 경우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77840" y="3383280"/>
            <a:ext cx="960120" cy="0"/>
          </a:xfrm>
          <a:prstGeom prst="line">
            <a:avLst/>
          </a:prstGeom>
          <a:ln w="50800">
            <a:solidFill>
              <a:srgbClr val="E67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92240" y="3337560"/>
            <a:ext cx="91440" cy="91440"/>
          </a:xfrm>
          <a:prstGeom prst="ellipse">
            <a:avLst/>
          </a:prstGeom>
          <a:solidFill>
            <a:srgbClr val="E6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2852928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67E34"/>
                </a:solidFill>
                <a:latin typeface="Apple SD Gothic Neo"/>
              </a:rPr>
              <a:t>확장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417320"/>
            <a:ext cx="4800600" cy="3977639"/>
          </a:xfrm>
          <a:prstGeom prst="roundRect">
            <a:avLst/>
          </a:prstGeom>
          <a:solidFill>
            <a:srgbClr val="FDF1E6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22008" y="1691640"/>
            <a:ext cx="1463040" cy="329184"/>
          </a:xfrm>
          <a:prstGeom prst="roundRect">
            <a:avLst/>
          </a:prstGeom>
          <a:solidFill>
            <a:srgbClr val="E67E34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8" y="16916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후속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148840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67E34"/>
                </a:solidFill>
                <a:latin typeface="Apple SD Gothic Neo"/>
              </a:rPr>
              <a:t>PAE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2788920"/>
            <a:ext cx="4069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232F"/>
                </a:solidFill>
                <a:latin typeface="Apple SD Gothic Neo"/>
              </a:rPr>
              <a:t>출처가 고정된 식
+ 적용 가능성 검증
+ residual 보정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4389120"/>
            <a:ext cx="4023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777"/>
                </a:solidFill>
                <a:latin typeface="Apple SD Gothic Neo"/>
              </a:rPr>
              <a:t>정당화된 방정식이 있는 경우에만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42432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A232F"/>
                </a:solidFill>
                <a:latin typeface="Apple SD Gothic Neo"/>
              </a:rPr>
              <a:t>식이 검증되지 않으면 PAE를 강제하지 않고 PP-X로 되돌린다.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PP-X가 고정하는 세 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Declare → Learn → Approve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417320"/>
            <a:ext cx="3154680" cy="4251960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709928"/>
            <a:ext cx="475488" cy="475488"/>
          </a:xfrm>
          <a:prstGeom prst="ellipse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0992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F6BB5"/>
                </a:solidFill>
                <a:latin typeface="Apple SD Gothic Neo"/>
              </a:rPr>
              <a:t>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26517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232F"/>
                </a:solidFill>
                <a:latin typeface="Apple SD Gothic Neo"/>
              </a:rPr>
              <a:t>경계 · causal X ·
허용 executor ·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36592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777"/>
                </a:solidFill>
                <a:latin typeface="Apple SD Gothic Neo"/>
              </a:rPr>
              <a:t>무엇을 믿나?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417320"/>
            <a:ext cx="3154680" cy="4251960"/>
          </a:xfrm>
          <a:prstGeom prst="roundRect">
            <a:avLst/>
          </a:prstGeom>
          <a:solidFill>
            <a:srgbClr val="E6F7F9"/>
          </a:solidFill>
          <a:ln w="15240">
            <a:solidFill>
              <a:srgbClr val="2D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16552" y="1709928"/>
            <a:ext cx="475488" cy="475488"/>
          </a:xfrm>
          <a:prstGeom prst="ellipse">
            <a:avLst/>
          </a:prstGeom>
          <a:solidFill>
            <a:srgbClr val="2D9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70992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95728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D9DB8"/>
                </a:solidFill>
                <a:latin typeface="Apple SD Gothic Neo"/>
              </a:rPr>
              <a:t>Prior–residual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063240"/>
            <a:ext cx="26517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232F"/>
                </a:solidFill>
                <a:latin typeface="Apple SD Gothic Neo"/>
              </a:rPr>
              <a:t>frozen tail prior +
제한된 nonlinear correction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736592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777"/>
                </a:solidFill>
                <a:latin typeface="Apple SD Gothic Neo"/>
              </a:rPr>
              <a:t>얼마나 수정하나?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3154680" cy="4251960"/>
          </a:xfrm>
          <a:prstGeom prst="roundRect">
            <a:avLst/>
          </a:prstGeom>
          <a:solidFill>
            <a:srgbClr val="FDF1E6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91271" y="1709928"/>
            <a:ext cx="475488" cy="475488"/>
          </a:xfrm>
          <a:prstGeom prst="ellipse">
            <a:avLst/>
          </a:prstGeom>
          <a:solidFill>
            <a:srgbClr val="E6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170992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C3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395728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67E34"/>
                </a:solidFill>
                <a:latin typeface="Apple SD Gothic Neo"/>
              </a:rPr>
              <a:t>Validation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063240"/>
            <a:ext cx="26517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232F"/>
                </a:solidFill>
                <a:latin typeface="Apple SD Gothic Neo"/>
              </a:rPr>
              <a:t>gain · unit wins ·
worst-unit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736592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777"/>
                </a:solidFill>
                <a:latin typeface="Apple SD Gothic Neo"/>
              </a:rPr>
              <a:t>써도 되나?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PP-X Final prior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Final은 known_boundary 하나만 본다. OOF/group/mode 사다리는 실행하지 않는다.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51960" y="1234440"/>
            <a:ext cx="3657600" cy="685800"/>
          </a:xfrm>
          <a:prstGeom prst="roundRect">
            <a:avLst/>
          </a:prstGeom>
          <a:solidFill>
            <a:srgbClr val="1A232F"/>
          </a:solidFill>
          <a:ln w="15240">
            <a:solidFill>
              <a:srgbClr val="1A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234440"/>
            <a:ext cx="3657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ple SD Gothic Neo"/>
              </a:rPr>
              <a:t>known_boundary 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1920240"/>
            <a:ext cx="0" cy="457200"/>
          </a:xfrm>
          <a:prstGeom prst="line">
            <a:avLst/>
          </a:prstGeom>
          <a:ln w="38100">
            <a:solidFill>
              <a:srgbClr val="1A23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560320" y="2377440"/>
            <a:ext cx="7040880" cy="0"/>
          </a:xfrm>
          <a:prstGeom prst="line">
            <a:avLst/>
          </a:prstGeom>
          <a:ln w="38100">
            <a:solidFill>
              <a:srgbClr val="1A23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60320" y="2377440"/>
            <a:ext cx="0" cy="411480"/>
          </a:xfrm>
          <a:prstGeom prst="line">
            <a:avLst/>
          </a:prstGeom>
          <a:ln w="38100">
            <a:solidFill>
              <a:srgbClr val="1F6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514600" y="2743200"/>
            <a:ext cx="91440" cy="91440"/>
          </a:xfrm>
          <a:prstGeom prst="ellipse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601200" y="2377440"/>
            <a:ext cx="0" cy="411480"/>
          </a:xfrm>
          <a:prstGeom prst="line">
            <a:avLst/>
          </a:prstGeom>
          <a:ln w="38100">
            <a:solidFill>
              <a:srgbClr val="E67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555480" y="2743200"/>
            <a:ext cx="91440" cy="91440"/>
          </a:xfrm>
          <a:prstGeom prst="ellipse">
            <a:avLst/>
          </a:prstGeom>
          <a:solidFill>
            <a:srgbClr val="E6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496312"/>
            <a:ext cx="1645920" cy="329184"/>
          </a:xfrm>
          <a:prstGeom prst="roundRect">
            <a:avLst/>
          </a:prstGeom>
          <a:solidFill>
            <a:srgbClr val="1F6BB5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1645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496312"/>
            <a:ext cx="1645920" cy="329184"/>
          </a:xfrm>
          <a:prstGeom prst="roundRect">
            <a:avLst/>
          </a:prstGeom>
          <a:solidFill>
            <a:srgbClr val="E67E34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2496312"/>
            <a:ext cx="1645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FALSE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971800"/>
            <a:ext cx="4480560" cy="2103120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18688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6BB5"/>
                </a:solidFill>
                <a:latin typeface="Apple SD Gothic Neo"/>
              </a:rPr>
              <a:t>BQ prior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67328"/>
            <a:ext cx="3931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A232F"/>
                </a:solidFill>
                <a:latin typeface="Apple SD Gothic Neo"/>
              </a:rPr>
              <a:t>margin × positive quotient
경계에서 RUL =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4590288"/>
            <a:ext cx="1737360" cy="329184"/>
          </a:xfrm>
          <a:prstGeom prst="roundRect">
            <a:avLst/>
          </a:prstGeom>
          <a:solidFill>
            <a:srgbClr val="1F6BB5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4590288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PRIOR 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2971800"/>
            <a:ext cx="4480560" cy="2103120"/>
          </a:xfrm>
          <a:prstGeom prst="roundRect">
            <a:avLst/>
          </a:prstGeom>
          <a:solidFill>
            <a:srgbClr val="FDF1E6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3218688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E67E34"/>
                </a:solidFill>
                <a:latin typeface="Apple SD Gothic Neo"/>
              </a:rPr>
              <a:t>Affine prior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767328"/>
            <a:ext cx="3931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A232F"/>
                </a:solidFill>
                <a:latin typeface="Apple SD Gothic Neo"/>
              </a:rPr>
              <a:t>Ridge: causal X → RUL
경계를 강제하지 않음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590288"/>
            <a:ext cx="1737360" cy="329184"/>
          </a:xfrm>
          <a:prstGeom prst="roundRect">
            <a:avLst/>
          </a:prstGeom>
          <a:solidFill>
            <a:srgbClr val="E67E34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590288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PRIOR 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4519" y="5532120"/>
            <a:ext cx="8412480" cy="59436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5B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5596128"/>
            <a:ext cx="8046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B6777"/>
                </a:solidFill>
                <a:latin typeface="Apple SD Gothic Neo"/>
              </a:rPr>
              <a:t>v1_declared의 neural_safety·FEMTO abstention은 역사 보관이며 Final 9-setting이 아니다.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수식으로 보는 PP-X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prior가 tail 방향을 주고, residual은 허용된 범위에서만 수정한다.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325880"/>
            <a:ext cx="3429000" cy="1572768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35607"/>
            <a:ext cx="3063240" cy="8650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F6BB5"/>
                </a:solidFill>
                <a:latin typeface="Apple SD Gothic Neo"/>
              </a:rPr>
              <a:t>m = h − h_EOL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00996"/>
            <a:ext cx="3063240" cy="408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A232F"/>
                </a:solidFill>
                <a:latin typeface="Apple SD Gothic Neo"/>
              </a:rPr>
              <a:t>현재 health와 고장 경계의 거리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29000" cy="1572768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435607"/>
            <a:ext cx="3063240" cy="8650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F6BB5"/>
                </a:solidFill>
                <a:latin typeface="Apple SD Gothic Neo"/>
              </a:rPr>
              <a:t>ŷ_BQ = m · softplus(q)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00996"/>
            <a:ext cx="3063240" cy="408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A232F"/>
                </a:solidFill>
                <a:latin typeface="Apple SD Gothic Neo"/>
              </a:rPr>
              <a:t>known boundary branch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325880"/>
            <a:ext cx="3429000" cy="1572768"/>
          </a:xfrm>
          <a:prstGeom prst="roundRect">
            <a:avLst/>
          </a:prstGeom>
          <a:solidFill>
            <a:srgbClr val="FDF1E6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3" y="1435607"/>
            <a:ext cx="3063240" cy="8650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67E34"/>
                </a:solidFill>
                <a:latin typeface="Apple SD Gothic Neo"/>
              </a:rPr>
              <a:t>ŷ_A = wᵀX +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3" y="2300996"/>
            <a:ext cx="3063240" cy="408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A232F"/>
                </a:solidFill>
                <a:latin typeface="Apple SD Gothic Neo"/>
              </a:rPr>
              <a:t>unknown boundary branch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3182112"/>
            <a:ext cx="7498080" cy="0"/>
          </a:xfrm>
          <a:prstGeom prst="line">
            <a:avLst/>
          </a:prstGeom>
          <a:ln w="25400">
            <a:solidFill>
              <a:srgbClr val="5B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3182112"/>
            <a:ext cx="0" cy="402336"/>
          </a:xfrm>
          <a:prstGeom prst="line">
            <a:avLst/>
          </a:prstGeom>
          <a:ln w="25400">
            <a:solidFill>
              <a:srgbClr val="5B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035040" y="3538728"/>
            <a:ext cx="91440" cy="91440"/>
          </a:xfrm>
          <a:prstGeom prst="ellipse">
            <a:avLst/>
          </a:prstGeom>
          <a:solidFill>
            <a:srgbClr val="5B6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11680" y="3703320"/>
            <a:ext cx="8183879" cy="1508760"/>
          </a:xfrm>
          <a:prstGeom prst="roundRect">
            <a:avLst/>
          </a:prstGeom>
          <a:solidFill>
            <a:srgbClr val="E7F6EF"/>
          </a:solidFill>
          <a:ln w="15240">
            <a:solidFill>
              <a:srgbClr val="2D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0280" y="3931920"/>
            <a:ext cx="77266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D9168"/>
                </a:solidFill>
                <a:latin typeface="Apple SD Gothic Neo"/>
              </a:rPr>
              <a:t>ŷ = D { y_prior + B(z) · tanh[ r(z) / B(z) ]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572000"/>
            <a:ext cx="7726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232F"/>
                </a:solidFill>
                <a:latin typeface="Apple SD Gothic Neo"/>
              </a:rPr>
              <a:t>D: domain decoder  ·  B(z): residual authority  ·  r(z): nonlinear deviation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87568"/>
            <a:ext cx="1019556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A232F"/>
                </a:solidFill>
                <a:latin typeface="Apple SD Gothic Neo"/>
              </a:rPr>
              <a:t>frozen prior는 외삽 방향을 유지하고, B(z)는 NN correction의 최대 크기를 통제한다.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Executor gate — validation에서 한 번 승인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contract가 허용한 후보만 같은 validation unit에서 비교한다.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B6777"/>
                </a:solidFill>
                <a:latin typeface="Apple SD Gothic Neo"/>
              </a:rPr>
              <a:t>prior-only   ·   unbounded   ·   bounded   ·   dual-scale   ·   transport   ·  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154680" cy="1600200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3154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1F6BB5"/>
                </a:solidFill>
                <a:latin typeface="Apple SD Gothic Neo"/>
              </a:rPr>
              <a:t>≥ 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154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32F"/>
                </a:solidFill>
                <a:latin typeface="Apple SD Gothic Neo"/>
              </a:rPr>
              <a:t>validation gain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874519"/>
            <a:ext cx="3154680" cy="1600200"/>
          </a:xfrm>
          <a:prstGeom prst="roundRect">
            <a:avLst/>
          </a:prstGeom>
          <a:solidFill>
            <a:srgbClr val="E6F7F9"/>
          </a:solidFill>
          <a:ln w="15240">
            <a:solidFill>
              <a:srgbClr val="2D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2084831"/>
            <a:ext cx="3154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2D9DB8"/>
                </a:solidFill>
                <a:latin typeface="Apple SD Gothic Neo"/>
              </a:rPr>
              <a:t>≥ 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788920"/>
            <a:ext cx="3154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32F"/>
                </a:solidFill>
                <a:latin typeface="Apple SD Gothic Neo"/>
              </a:rPr>
              <a:t>physical-unit wins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17536" y="1874519"/>
            <a:ext cx="3154680" cy="1600200"/>
          </a:xfrm>
          <a:prstGeom prst="roundRect">
            <a:avLst/>
          </a:prstGeom>
          <a:solidFill>
            <a:srgbClr val="FDF1E6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7536" y="2084831"/>
            <a:ext cx="3154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E67E34"/>
                </a:solidFill>
                <a:latin typeface="Apple SD Gothic Neo"/>
              </a:rPr>
              <a:t>≤ 1.10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2788920"/>
            <a:ext cx="3154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32F"/>
                </a:solidFill>
                <a:latin typeface="Apple SD Gothic Neo"/>
              </a:rPr>
              <a:t>worst-unit RMSE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639312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6777"/>
                </a:solidFill>
                <a:latin typeface="Apple SD Gothic Neo"/>
              </a:rPr>
              <a:t>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4160520"/>
            <a:ext cx="4114800" cy="1143000"/>
          </a:xfrm>
          <a:prstGeom prst="roundRect">
            <a:avLst/>
          </a:prstGeom>
          <a:solidFill>
            <a:srgbClr val="E7F6EF"/>
          </a:solidFill>
          <a:ln w="15240">
            <a:solidFill>
              <a:srgbClr val="2D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279392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D9168"/>
                </a:solidFill>
                <a:latin typeface="Apple SD Gothic Neo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A232F"/>
                </a:solidFill>
                <a:latin typeface="Apple SD Gothic Neo"/>
              </a:rPr>
              <a:t>최소 validation loss route 동결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39712" y="4160520"/>
            <a:ext cx="4114800" cy="1143000"/>
          </a:xfrm>
          <a:prstGeom prst="roundRect">
            <a:avLst/>
          </a:prstGeom>
          <a:solidFill>
            <a:srgbClr val="FBEBEB"/>
          </a:solidFill>
          <a:ln w="1524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68312" y="4279392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BE4141"/>
                </a:solidFill>
                <a:latin typeface="Apple SD Gothic Neo"/>
              </a:rPr>
              <a:t>FAIL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466344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A232F"/>
                </a:solidFill>
                <a:latin typeface="Apple SD Gothic Neo"/>
              </a:rPr>
              <a:t>사전 지정 direct / persistence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80644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BE4141"/>
                </a:solidFill>
                <a:latin typeface="Apple SD Gothic Neo"/>
              </a:rPr>
              <a:t>test label · test batch 통계 · test-time 재선택 없음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학습에서 시험까지 — route는 다시 열리지 않는다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test에는 frozen forward만 남는다.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08760" y="3337560"/>
            <a:ext cx="8595360" cy="0"/>
          </a:xfrm>
          <a:prstGeom prst="line">
            <a:avLst/>
          </a:prstGeom>
          <a:ln w="63500">
            <a:solidFill>
              <a:srgbClr val="C3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298448" y="3035808"/>
            <a:ext cx="603504" cy="603504"/>
          </a:xfrm>
          <a:prstGeom prst="ellipse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1371600" cy="329184"/>
          </a:xfrm>
          <a:prstGeom prst="roundRect">
            <a:avLst/>
          </a:prstGeom>
          <a:solidFill>
            <a:srgbClr val="1F6BB5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58768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232F"/>
                </a:solidFill>
                <a:latin typeface="Apple SD Gothic Neo"/>
              </a:rPr>
              <a:t>prior·residual
후보 학습</a:t>
            </a:r>
          </a:p>
        </p:txBody>
      </p:sp>
      <p:sp>
        <p:nvSpPr>
          <p:cNvPr id="11" name="Oval 10"/>
          <p:cNvSpPr/>
          <p:nvPr/>
        </p:nvSpPr>
        <p:spPr>
          <a:xfrm>
            <a:off x="4133087" y="3035808"/>
            <a:ext cx="603504" cy="603504"/>
          </a:xfrm>
          <a:prstGeom prst="ellipse">
            <a:avLst/>
          </a:prstGeom>
          <a:solidFill>
            <a:srgbClr val="E6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1874519"/>
            <a:ext cx="1371600" cy="329184"/>
          </a:xfrm>
          <a:prstGeom prst="roundRect">
            <a:avLst/>
          </a:prstGeom>
          <a:solidFill>
            <a:srgbClr val="E67E34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874519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99" y="3858768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232F"/>
                </a:solidFill>
                <a:latin typeface="Apple SD Gothic Neo"/>
              </a:rPr>
              <a:t>executor 승인
2% · 60% · 1.10</a:t>
            </a:r>
          </a:p>
        </p:txBody>
      </p:sp>
      <p:sp>
        <p:nvSpPr>
          <p:cNvPr id="15" name="Oval 14"/>
          <p:cNvSpPr/>
          <p:nvPr/>
        </p:nvSpPr>
        <p:spPr>
          <a:xfrm>
            <a:off x="7059168" y="3035808"/>
            <a:ext cx="603504" cy="603504"/>
          </a:xfrm>
          <a:prstGeom prst="ellipse">
            <a:avLst/>
          </a:prstGeom>
          <a:solidFill>
            <a:srgbClr val="2D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0" y="1874519"/>
            <a:ext cx="1371600" cy="329184"/>
          </a:xfrm>
          <a:prstGeom prst="roundRect">
            <a:avLst/>
          </a:prstGeom>
          <a:solidFill>
            <a:srgbClr val="2D9168"/>
          </a:solidFill>
          <a:ln w="15240">
            <a:solidFill>
              <a:srgbClr val="2D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874519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FREEZE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858768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232F"/>
                </a:solidFill>
                <a:latin typeface="Apple SD Gothic Neo"/>
              </a:rPr>
              <a:t>route 1개
파라미터 고정</a:t>
            </a:r>
          </a:p>
        </p:txBody>
      </p:sp>
      <p:sp>
        <p:nvSpPr>
          <p:cNvPr id="19" name="Oval 18"/>
          <p:cNvSpPr/>
          <p:nvPr/>
        </p:nvSpPr>
        <p:spPr>
          <a:xfrm>
            <a:off x="9893808" y="3035808"/>
            <a:ext cx="603504" cy="603504"/>
          </a:xfrm>
          <a:prstGeom prst="ellipse">
            <a:avLst/>
          </a:prstGeom>
          <a:solidFill>
            <a:srgbClr val="1A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09760" y="1874519"/>
            <a:ext cx="1371600" cy="329184"/>
          </a:xfrm>
          <a:prstGeom prst="roundRect">
            <a:avLst/>
          </a:prstGeom>
          <a:solidFill>
            <a:srgbClr val="1A232F"/>
          </a:solidFill>
          <a:ln w="15240">
            <a:solidFill>
              <a:srgbClr val="1A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874519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858768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232F"/>
                </a:solidFill>
                <a:latin typeface="Apple SD Gothic Neo"/>
              </a:rPr>
              <a:t>개별 causal X
forward 1회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5257800"/>
            <a:ext cx="6537960" cy="621792"/>
          </a:xfrm>
          <a:prstGeom prst="roundRect">
            <a:avLst/>
          </a:prstGeom>
          <a:solidFill>
            <a:srgbClr val="FDF1E6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5358384"/>
            <a:ext cx="6172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BE4141"/>
                </a:solidFill>
                <a:latin typeface="Apple SD Gothic Neo"/>
              </a:rPr>
              <a:t>금지: test outcome으로 route 수정 · calibration · 재학습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9-setting Final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하나의 거대 network가 아니라, 같은 실행 계약을 따르는 typed routes다.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43400" y="1216152"/>
            <a:ext cx="3520440" cy="658368"/>
          </a:xfrm>
          <a:prstGeom prst="roundRect">
            <a:avLst/>
          </a:prstGeom>
          <a:solidFill>
            <a:srgbClr val="1A232F"/>
          </a:solidFill>
          <a:ln w="15240">
            <a:solidFill>
              <a:srgbClr val="1A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216152"/>
            <a:ext cx="3520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</a:rPr>
              <a:t>PP-X FINAL CONTRACT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240280" y="1874519"/>
            <a:ext cx="3867912" cy="731521"/>
          </a:xfrm>
          <a:prstGeom prst="line">
            <a:avLst/>
          </a:prstGeom>
          <a:ln w="31750">
            <a:solidFill>
              <a:srgbClr val="1F6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194560" y="2560320"/>
            <a:ext cx="91440" cy="91440"/>
          </a:xfrm>
          <a:prstGeom prst="ellipse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606040"/>
            <a:ext cx="3291840" cy="2468880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6BB5"/>
                </a:solidFill>
                <a:latin typeface="Apple SD Gothic Neo"/>
              </a:rPr>
              <a:t>BQ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92424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232F"/>
                </a:solidFill>
                <a:latin typeface="Apple SD Gothic Neo"/>
              </a:rPr>
              <a:t>Sunwoda · RWTH
MICH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" y="4370832"/>
            <a:ext cx="2523744" cy="329184"/>
          </a:xfrm>
          <a:prstGeom prst="roundRect">
            <a:avLst/>
          </a:prstGeom>
          <a:solidFill>
            <a:srgbClr val="1F6BB5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370832"/>
            <a:ext cx="252374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ple SD Gothic Neo"/>
              </a:rPr>
              <a:t>bounded · dual-scale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080759" y="1874519"/>
            <a:ext cx="27433" cy="731521"/>
          </a:xfrm>
          <a:prstGeom prst="line">
            <a:avLst/>
          </a:prstGeom>
          <a:ln w="31750">
            <a:solidFill>
              <a:srgbClr val="E67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035040" y="2560320"/>
            <a:ext cx="91440" cy="91440"/>
          </a:xfrm>
          <a:prstGeom prst="ellipse">
            <a:avLst/>
          </a:prstGeom>
          <a:solidFill>
            <a:srgbClr val="E6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2606040"/>
            <a:ext cx="3291840" cy="2468880"/>
          </a:xfrm>
          <a:prstGeom prst="roundRect">
            <a:avLst/>
          </a:prstGeom>
          <a:solidFill>
            <a:srgbClr val="FDF1E6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807208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67E34"/>
                </a:solidFill>
                <a:latin typeface="Apple SD Gothic Neo"/>
              </a:rPr>
              <a:t>Affine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392424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232F"/>
                </a:solidFill>
                <a:latin typeface="Apple SD Gothic Neo"/>
              </a:rPr>
              <a:t>Virkler · MATR19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18888" y="4370832"/>
            <a:ext cx="2523744" cy="329184"/>
          </a:xfrm>
          <a:prstGeom prst="roundRect">
            <a:avLst/>
          </a:prstGeom>
          <a:solidFill>
            <a:srgbClr val="E67E34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4370832"/>
            <a:ext cx="252374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ple SD Gothic Neo"/>
              </a:rPr>
              <a:t>gated residual · calibration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08192" y="1874519"/>
            <a:ext cx="3813048" cy="731521"/>
          </a:xfrm>
          <a:prstGeom prst="line">
            <a:avLst/>
          </a:prstGeom>
          <a:ln w="31750">
            <a:solidFill>
              <a:srgbClr val="2D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875520" y="2560320"/>
            <a:ext cx="91440" cy="91440"/>
          </a:xfrm>
          <a:prstGeom prst="ellipse">
            <a:avLst/>
          </a:prstGeom>
          <a:solidFill>
            <a:srgbClr val="2D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75320" y="2606040"/>
            <a:ext cx="3291840" cy="2468880"/>
          </a:xfrm>
          <a:prstGeom prst="roundRect">
            <a:avLst/>
          </a:prstGeom>
          <a:solidFill>
            <a:srgbClr val="E7F6EF"/>
          </a:solidFill>
          <a:ln w="15240">
            <a:solidFill>
              <a:srgbClr val="2D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807208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D9168"/>
                </a:solidFill>
                <a:latin typeface="Apple SD Gothic Neo"/>
              </a:rPr>
              <a:t>Affine + adapter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392424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232F"/>
                </a:solidFill>
                <a:latin typeface="Apple SD Gothic Neo"/>
              </a:rPr>
              <a:t>HUST · MATR-b2
NASA · N-CMAPSS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59368" y="4370832"/>
            <a:ext cx="2523744" cy="329184"/>
          </a:xfrm>
          <a:prstGeom prst="roundRect">
            <a:avLst/>
          </a:prstGeom>
          <a:solidFill>
            <a:srgbClr val="2D9168"/>
          </a:solidFill>
          <a:ln w="15240">
            <a:solidFill>
              <a:srgbClr val="2D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59368" y="4370832"/>
            <a:ext cx="252374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ple SD Gothic Neo"/>
              </a:rPr>
              <a:t>transport ·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1A232F"/>
                </a:solidFill>
                <a:latin typeface="Apple SD Gothic Neo"/>
              </a:rPr>
              <a:t>공통점: prior–residual 역할 분리 + validation-approved executor + frozen test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성능 — 9개 setting 모두 R² &gt;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retrospective main portfolio · pooled R²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1037844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784080" y="5870448"/>
            <a:ext cx="1508760" cy="329184"/>
          </a:xfrm>
          <a:prstGeom prst="roundRect">
            <a:avLst/>
          </a:prstGeom>
          <a:solidFill>
            <a:srgbClr val="1F6BB5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5870448"/>
            <a:ext cx="1508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macro 0.807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동일 탐색 예산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각 setting에서 30-candidate strongest baseline과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eq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3000"/>
            <a:ext cx="10515600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5440680"/>
            <a:ext cx="3063240" cy="658368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5522976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6BB5"/>
                </a:solidFill>
                <a:latin typeface="Apple SD Gothic Neo"/>
              </a:rPr>
              <a:t>8 / 9 우세  ·  p = .039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59552"/>
            <a:ext cx="7040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777"/>
                </a:solidFill>
                <a:latin typeface="Apple SD Gothic Neo"/>
              </a:rPr>
              <a:t>예외: Virkler 0.888 vs FT-Transformer 0.890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Core ablation — prior만으로는 부족하다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동일 row · seeds 42–46 prediction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16152"/>
            <a:ext cx="7818120" cy="4800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554480"/>
            <a:ext cx="2880360" cy="3611880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828800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6BB5"/>
                </a:solidFill>
                <a:latin typeface="Apple SD Gothic Neo"/>
              </a:rPr>
              <a:t>Nonlinear residual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542032"/>
            <a:ext cx="2331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232F"/>
                </a:solidFill>
                <a:latin typeface="Apple SD Gothic Neo"/>
              </a:rPr>
              <a:t>Sunwoda  +0.659
RWTH       +0.220
MICH        +3.811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69680" y="4206240"/>
            <a:ext cx="2240280" cy="0"/>
          </a:xfrm>
          <a:prstGeom prst="line">
            <a:avLst/>
          </a:prstGeom>
          <a:ln w="25400">
            <a:solidFill>
              <a:srgbClr val="1F6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96528" y="4416552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5B6777"/>
                </a:solidFill>
                <a:latin typeface="Apple SD Gothic Neo"/>
              </a:rPr>
              <a:t>세 setting 모두
unit-level 강한 근거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Executor ablation — 효과 부호가 바뀐다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optional module을 전역 default로 켜면 안 되는 직접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execu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8412480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98280" y="1508760"/>
            <a:ext cx="2423160" cy="1417320"/>
          </a:xfrm>
          <a:prstGeom prst="roundRect">
            <a:avLst/>
          </a:prstGeom>
          <a:solidFill>
            <a:srgbClr val="E7F6EF"/>
          </a:solidFill>
          <a:ln w="15240">
            <a:solidFill>
              <a:srgbClr val="2D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1682496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D9168"/>
                </a:solidFill>
                <a:latin typeface="Apple SD Gothic Neo"/>
              </a:rPr>
              <a:t>Ablation → Final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2139696"/>
            <a:ext cx="2057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A232F"/>
                </a:solidFill>
                <a:latin typeface="Apple SD Gothic Neo"/>
              </a:rPr>
              <a:t>MICH dual-scale
.468 → .751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246120"/>
            <a:ext cx="2423160" cy="1417320"/>
          </a:xfrm>
          <a:prstGeom prst="roundRect">
            <a:avLst/>
          </a:prstGeom>
          <a:solidFill>
            <a:srgbClr val="FBEBEB"/>
          </a:solidFill>
          <a:ln w="1524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3419856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BE4141"/>
                </a:solidFill>
                <a:latin typeface="Apple SD Gothic Neo"/>
              </a:rPr>
              <a:t>Ablation → Final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3877056"/>
            <a:ext cx="2057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A232F"/>
                </a:solidFill>
                <a:latin typeface="Apple SD Gothic Neo"/>
              </a:rPr>
              <a:t>RWTH dual-scale
.878 → .842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5184648"/>
            <a:ext cx="2468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A232F"/>
                </a:solidFill>
                <a:latin typeface="Apple SD Gothic Neo"/>
              </a:rPr>
              <a:t>그래서 contract + Val
승인이 필요하다.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806440"/>
            <a:ext cx="10652760" cy="438912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843016"/>
            <a:ext cx="10287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BB5"/>
                </a:solidFill>
                <a:latin typeface="Apple SD Gothic Neo"/>
              </a:rPr>
              <a:t>강제 ON/OFF ablation의 방향과 실제 Final route가 일치: MICH는 dual ON, RWTH는 dual OFF(fixed bound).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외삽 붕괴 비교 — 낮은 편차와 높은 최악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점 크기 = R²&gt;0 setting 수 (9개 중)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854964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89720" y="1417320"/>
            <a:ext cx="2331720" cy="3474720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691640"/>
            <a:ext cx="18745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F6BB5"/>
                </a:solidFill>
                <a:latin typeface="Apple SD Gothic Neo"/>
              </a:rPr>
              <a:t>PP-X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395728"/>
            <a:ext cx="1874519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A232F"/>
                </a:solidFill>
                <a:latin typeface="Apple SD Gothic Neo"/>
              </a:rPr>
              <a:t>domain SD
0.174
worst R²
0.466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8048" y="4187952"/>
            <a:ext cx="1664208" cy="329184"/>
          </a:xfrm>
          <a:prstGeom prst="roundRect">
            <a:avLst/>
          </a:prstGeom>
          <a:solidFill>
            <a:srgbClr val="1F6BB5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8048" y="4187952"/>
            <a:ext cx="166420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R²&gt;0  9/9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5257800"/>
            <a:ext cx="2468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A232F"/>
                </a:solidFill>
                <a:latin typeface="Apple SD Gothic Neo"/>
              </a:rPr>
              <a:t>관찰 범위에서
심한 음의 tail이 없음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검정 1 — prior–residual 구조가 실제로 필요한가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경쟁모델 순위가 아니라, PP-X 내부 구조의 효과를 묻는 검정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15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261872"/>
            <a:ext cx="3520440" cy="4526280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2971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6BB5"/>
                </a:solidFill>
                <a:latin typeface="Apple SD Gothic Neo"/>
              </a:rPr>
              <a:t>무엇과 비교했나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29718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A232F"/>
                </a:solidFill>
                <a:latin typeface="Apple SD Gothic Neo"/>
              </a:rPr>
              <a:t>PP-X Final
vs
matched 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2971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5B6777"/>
                </a:solidFill>
                <a:latin typeface="Apple SD Gothic Neo"/>
              </a:rPr>
              <a:t>matched direct = 같은 데이터·split에서
BQ/affine prior 구조를 제거하고
RUL을 직접 예측한 내부 대조군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5212080"/>
            <a:ext cx="2148840" cy="329184"/>
          </a:xfrm>
          <a:prstGeom prst="roundRect">
            <a:avLst/>
          </a:prstGeom>
          <a:solidFill>
            <a:srgbClr val="BE4141"/>
          </a:solidFill>
          <a:ln w="1524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5212080"/>
            <a:ext cx="21488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FT-Transformer 아님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61872"/>
            <a:ext cx="3429000" cy="4526280"/>
          </a:xfrm>
          <a:prstGeom prst="roundRect">
            <a:avLst/>
          </a:prstGeom>
          <a:solidFill>
            <a:srgbClr val="E6F7F9"/>
          </a:solidFill>
          <a:ln w="15240">
            <a:solidFill>
              <a:srgbClr val="2D9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27048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D9DB8"/>
                </a:solidFill>
                <a:latin typeface="Apple SD Gothic Neo"/>
              </a:rPr>
              <a:t>어떻게 검정했나</a:t>
            </a:r>
          </a:p>
        </p:txBody>
      </p:sp>
      <p:sp>
        <p:nvSpPr>
          <p:cNvPr id="14" name="Oval 13"/>
          <p:cNvSpPr/>
          <p:nvPr/>
        </p:nvSpPr>
        <p:spPr>
          <a:xfrm>
            <a:off x="4645152" y="2084831"/>
            <a:ext cx="384048" cy="384048"/>
          </a:xfrm>
          <a:prstGeom prst="ellipse">
            <a:avLst/>
          </a:prstGeom>
          <a:solidFill>
            <a:srgbClr val="2D9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84831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ple SD Gothic Neo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066543"/>
            <a:ext cx="23317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232F"/>
                </a:solidFill>
                <a:latin typeface="Apple SD Gothic Neo"/>
              </a:rPr>
              <a:t>각 물리 unit의 RMSE 비교</a:t>
            </a:r>
          </a:p>
        </p:txBody>
      </p:sp>
      <p:sp>
        <p:nvSpPr>
          <p:cNvPr id="17" name="Oval 16"/>
          <p:cNvSpPr/>
          <p:nvPr/>
        </p:nvSpPr>
        <p:spPr>
          <a:xfrm>
            <a:off x="4645152" y="2798063"/>
            <a:ext cx="384048" cy="384048"/>
          </a:xfrm>
          <a:prstGeom prst="ellipse">
            <a:avLst/>
          </a:prstGeom>
          <a:solidFill>
            <a:srgbClr val="2D9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2798063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ple SD Gothic Neo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779775"/>
            <a:ext cx="23317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232F"/>
                </a:solidFill>
                <a:latin typeface="Apple SD Gothic Neo"/>
              </a:rPr>
              <a:t>데이터셋 → unit 순서로 재표집</a:t>
            </a:r>
          </a:p>
        </p:txBody>
      </p:sp>
      <p:sp>
        <p:nvSpPr>
          <p:cNvPr id="20" name="Oval 19"/>
          <p:cNvSpPr/>
          <p:nvPr/>
        </p:nvSpPr>
        <p:spPr>
          <a:xfrm>
            <a:off x="4645152" y="3511296"/>
            <a:ext cx="384048" cy="384048"/>
          </a:xfrm>
          <a:prstGeom prst="ellipse">
            <a:avLst/>
          </a:prstGeom>
          <a:solidFill>
            <a:srgbClr val="2D9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35112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ple SD Gothic Neo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493008"/>
            <a:ext cx="23317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232F"/>
                </a:solidFill>
                <a:latin typeface="Apple SD Gothic Neo"/>
              </a:rPr>
              <a:t>9개 데이터셋을 동일 비중 처리</a:t>
            </a:r>
          </a:p>
        </p:txBody>
      </p:sp>
      <p:sp>
        <p:nvSpPr>
          <p:cNvPr id="23" name="Oval 22"/>
          <p:cNvSpPr/>
          <p:nvPr/>
        </p:nvSpPr>
        <p:spPr>
          <a:xfrm>
            <a:off x="4645152" y="4224527"/>
            <a:ext cx="384048" cy="384048"/>
          </a:xfrm>
          <a:prstGeom prst="ellipse">
            <a:avLst/>
          </a:prstGeom>
          <a:solidFill>
            <a:srgbClr val="2D9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422452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ple SD Gothic Neo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4206240"/>
            <a:ext cx="23317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232F"/>
                </a:solidFill>
                <a:latin typeface="Apple SD Gothic Neo"/>
              </a:rPr>
              <a:t>반복마다 RMSE 감소율 계산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5065776"/>
            <a:ext cx="2926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5B6777"/>
                </a:solidFill>
                <a:latin typeface="Apple SD Gothic Neo"/>
              </a:rPr>
              <a:t>표본 단위: 9 settings · 77 physical units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261872"/>
            <a:ext cx="3520440" cy="4526280"/>
          </a:xfrm>
          <a:prstGeom prst="roundRect">
            <a:avLst/>
          </a:prstGeom>
          <a:solidFill>
            <a:srgbClr val="E7F6EF"/>
          </a:solidFill>
          <a:ln w="15240">
            <a:solidFill>
              <a:srgbClr val="2D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527048"/>
            <a:ext cx="2971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D9168"/>
                </a:solidFill>
                <a:latin typeface="Apple SD Gothic Neo"/>
              </a:rPr>
              <a:t>무슨 결론인가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130552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D9168"/>
                </a:solidFill>
                <a:latin typeface="Apple SD Gothic Neo"/>
              </a:rPr>
              <a:t>9 / 9 우세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69748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A232F"/>
                </a:solidFill>
                <a:latin typeface="Apple SD Gothic Neo"/>
              </a:rPr>
              <a:t>exact sign p = .0039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66760" y="3246120"/>
            <a:ext cx="2880360" cy="0"/>
          </a:xfrm>
          <a:prstGeom prst="line">
            <a:avLst/>
          </a:prstGeom>
          <a:ln w="19050">
            <a:solidFill>
              <a:srgbClr val="2D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21040" y="3502152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D9168"/>
                </a:solidFill>
                <a:latin typeface="Apple SD Gothic Neo"/>
              </a:rPr>
              <a:t>평균 RMSE 33.8% 감소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096512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232F"/>
                </a:solidFill>
                <a:latin typeface="Apple SD Gothic Neo"/>
              </a:rPr>
              <a:t>95% CI: 15.8%–48.6%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46320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B6777"/>
                </a:solidFill>
                <a:latin typeface="Apple SD Gothic Neo"/>
              </a:rPr>
              <a:t>해석: prior–residual 구조의
평균 오차 감소가 0보다 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5989320"/>
            <a:ext cx="10424160" cy="438912"/>
          </a:xfrm>
          <a:prstGeom prst="roundRect">
            <a:avLst/>
          </a:prstGeom>
          <a:solidFill>
            <a:srgbClr val="FDF1E6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601675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A232F"/>
                </a:solidFill>
                <a:latin typeface="Apple SD Gothic Neo"/>
              </a:rPr>
              <a:t>log-RMSE CI [0.17, 0.67]은 발표에서 위의 ‘RMSE 15.8%–48.6% 감소’로 풀어 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검정 2·3 — 경쟁력과 구성요소 효과는 따로 검정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내부 구조 검정, 외부 baseline 비교, component ablation을 섞지 않는다.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298448"/>
            <a:ext cx="3429000" cy="4892040"/>
          </a:xfrm>
          <a:prstGeom prst="roundRect">
            <a:avLst/>
          </a:prstGeom>
          <a:solidFill>
            <a:srgbClr val="FDF1E6"/>
          </a:solidFill>
          <a:ln w="15240">
            <a:solidFill>
              <a:srgbClr val="E6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17904"/>
            <a:ext cx="2971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E67E34"/>
                </a:solidFill>
                <a:latin typeface="Apple SD Gothic Neo"/>
              </a:rPr>
              <a:t>검정 2 · 외부 경쟁력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28803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A232F"/>
                </a:solidFill>
                <a:latin typeface="Apple SD Gothic Neo"/>
              </a:rPr>
              <a:t>질문
강한 ML baseline보다 좋은가?
비교
각 setting의 동일예산
30-candidate 최강 baseline
결과
8/9 우세 · p=.0391
Virkler: FT가 +.002 우세
주장
동일예산 범위에서 경쟁력 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298448"/>
            <a:ext cx="3429000" cy="4892040"/>
          </a:xfrm>
          <a:prstGeom prst="roundRect">
            <a:avLst/>
          </a:prstGeom>
          <a:solidFill>
            <a:srgbClr val="E9F3FB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517904"/>
            <a:ext cx="2971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1F6BB5"/>
                </a:solidFill>
                <a:latin typeface="Apple SD Gothic Neo"/>
              </a:rPr>
              <a:t>검정 3 ·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93392"/>
            <a:ext cx="28803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A232F"/>
                </a:solidFill>
                <a:latin typeface="Apple SD Gothic Neo"/>
              </a:rPr>
              <a:t>질문
각 optional module을 왜 켜거나 끄나?
방법
Final 선택 전 강제 on/off ablation
physical-unit 효과 · 24개 BH 보정
도움 → 실제 Final ON
MICH dual: .468→.751 (q=.031)
HUST·MATR-b2 transport 유의
해로움 → 실제 Final OFF
RWTH dual: .878→.842 (q=.021)
RWTH Final은 fixed bound .878
결론
ablation 방향과 Final route가 일치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298448"/>
            <a:ext cx="3429000" cy="4892040"/>
          </a:xfrm>
          <a:prstGeom prst="roundRect">
            <a:avLst/>
          </a:prstGeom>
          <a:solidFill>
            <a:srgbClr val="FBEBEB"/>
          </a:solidFill>
          <a:ln w="1524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1517904"/>
            <a:ext cx="2971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BE4141"/>
                </a:solidFill>
                <a:latin typeface="Apple SD Gothic Neo"/>
              </a:rPr>
              <a:t>아직 확증 안 된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1993392"/>
            <a:ext cx="28803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A232F"/>
                </a:solidFill>
                <a:latin typeface="Apple SD Gothic Neo"/>
              </a:rPr>
              <a:t>5-seed 안정성
표본 5개라 양측 exact
최소 p=.0625
모든 모델 대비 분산 우위
개별 비교는 신호가 있으나
8모델 Holm 보정 후 비유의
미래 cohort 일반화
retrospective 9-setting으로는 불가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232F"/>
                </a:solidFill>
                <a:latin typeface="Apple SD Gothic Neo"/>
              </a:rPr>
              <a:t>무엇을 주장하고, 무엇을 주장하지 않는가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698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777"/>
                </a:solidFill>
                <a:latin typeface="Apple SD Gothic Neo"/>
              </a:rPr>
              <a:t>성과보다 실행 계약의 범위를 먼저 고정한다.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B6777"/>
                </a:solidFill>
                <a:latin typeface="Apple SD Gothic Neo"/>
              </a:rPr>
              <a:t>17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2700">
            <a:solidFill>
              <a:srgbClr val="DF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25880"/>
            <a:ext cx="5257800" cy="4434840"/>
          </a:xfrm>
          <a:prstGeom prst="roundRect">
            <a:avLst/>
          </a:prstGeom>
          <a:solidFill>
            <a:srgbClr val="E7F6EF"/>
          </a:solidFill>
          <a:ln w="15240">
            <a:solidFill>
              <a:srgbClr val="2D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D9168"/>
                </a:solidFill>
                <a:latin typeface="Apple SD Gothic Neo"/>
              </a:rPr>
              <a:t>말할 수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61772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232F"/>
                </a:solidFill>
                <a:latin typeface="Apple SD Gothic Neo"/>
              </a:rPr>
              <a:t>✓ 9-setting summary gain
✓ prior–residual 역할 분리
✓ executor 효과의 반례
✓ test 전 route 동결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325880"/>
            <a:ext cx="5257800" cy="4434840"/>
          </a:xfrm>
          <a:prstGeom prst="roundRect">
            <a:avLst/>
          </a:prstGeom>
          <a:solidFill>
            <a:srgbClr val="FBEBEB"/>
          </a:solidFill>
          <a:ln w="1524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4536" y="160020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BE4141"/>
                </a:solidFill>
                <a:latin typeface="Apple SD Gothic Neo"/>
              </a:rPr>
              <a:t>말하면 안 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4536" y="2304288"/>
            <a:ext cx="461772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232F"/>
                </a:solidFill>
                <a:latin typeface="Apple SD Gothic Neo"/>
              </a:rPr>
              <a:t>× 모든 데이터에서 SOTA
× OOF mode-stability가 Final에서 실행됨
× 모든 executor가 항상 유효
× 미래 cohort 성능 보장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1554480" cy="329184"/>
          </a:xfrm>
          <a:prstGeom prst="roundRect">
            <a:avLst/>
          </a:prstGeom>
          <a:solidFill>
            <a:srgbClr val="1F6BB5"/>
          </a:solidFill>
          <a:ln w="1524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607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ple SD Gothic Neo"/>
              </a:rPr>
              <a:t>경계가 있으면 BQ,
없으면 affine.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862072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D6E0EA"/>
                </a:solidFill>
                <a:latin typeface="Apple SD Gothic Neo"/>
              </a:rPr>
              <a:t>그 위의 residual과 executor만 validation에서 승인한다.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8096" y="3794760"/>
            <a:ext cx="10387584" cy="0"/>
          </a:xfrm>
          <a:prstGeom prst="line">
            <a:avLst/>
          </a:prstGeom>
          <a:ln w="50800">
            <a:solidFill>
              <a:srgbClr val="1F6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77240" y="4315968"/>
            <a:ext cx="475488" cy="475488"/>
          </a:xfrm>
          <a:prstGeom prst="ellipse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1596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4224528"/>
            <a:ext cx="1965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Prior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4599432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4C3D2"/>
                </a:solidFill>
                <a:latin typeface="Apple SD Gothic Neo"/>
              </a:rPr>
              <a:t>BQ / affine</a:t>
            </a:r>
          </a:p>
        </p:txBody>
      </p:sp>
      <p:sp>
        <p:nvSpPr>
          <p:cNvPr id="11" name="Oval 10"/>
          <p:cNvSpPr/>
          <p:nvPr/>
        </p:nvSpPr>
        <p:spPr>
          <a:xfrm>
            <a:off x="3538728" y="4315968"/>
            <a:ext cx="475488" cy="475488"/>
          </a:xfrm>
          <a:prstGeom prst="ellipse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431596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4224528"/>
            <a:ext cx="1965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599432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4C3D2"/>
                </a:solidFill>
                <a:latin typeface="Apple SD Gothic Neo"/>
              </a:rPr>
              <a:t>residual candidates</a:t>
            </a:r>
          </a:p>
        </p:txBody>
      </p:sp>
      <p:sp>
        <p:nvSpPr>
          <p:cNvPr id="15" name="Oval 14"/>
          <p:cNvSpPr/>
          <p:nvPr/>
        </p:nvSpPr>
        <p:spPr>
          <a:xfrm>
            <a:off x="6300216" y="4315968"/>
            <a:ext cx="475488" cy="475488"/>
          </a:xfrm>
          <a:prstGeom prst="ellipse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431596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7" y="4224528"/>
            <a:ext cx="1965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7" y="4599432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4C3D2"/>
                </a:solidFill>
                <a:latin typeface="Apple SD Gothic Neo"/>
              </a:rPr>
              <a:t>2% · 60% · 1.10</a:t>
            </a:r>
          </a:p>
        </p:txBody>
      </p:sp>
      <p:sp>
        <p:nvSpPr>
          <p:cNvPr id="19" name="Oval 18"/>
          <p:cNvSpPr/>
          <p:nvPr/>
        </p:nvSpPr>
        <p:spPr>
          <a:xfrm>
            <a:off x="9061704" y="4315968"/>
            <a:ext cx="475488" cy="475488"/>
          </a:xfrm>
          <a:prstGeom prst="ellipse">
            <a:avLst/>
          </a:prstGeom>
          <a:solidFill>
            <a:srgbClr val="2D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431596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3496" y="4224528"/>
            <a:ext cx="1965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Freeze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496" y="4599432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4C3D2"/>
                </a:solidFill>
                <a:latin typeface="Apple SD Gothic Neo"/>
              </a:rPr>
              <a:t>test forward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80644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박진서 ·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17220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C3D2"/>
                </a:solidFill>
                <a:latin typeface="Apple SD Gothic Neo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