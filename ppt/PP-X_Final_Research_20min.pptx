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65" r:id="rId16"/>
    <p:sldId id="266" r:id="rId17"/>
    <p:sldId id="267" r:id="rId18"/>
    <p:sldId id="271" r:id="rId22"/>
    <p:sldId id="260" r:id="rId11"/>
    <p:sldId id="273" r:id="rId24"/>
    <p:sldId id="276" r:id="rId27"/>
    <p:sldId id="286" r:id="rId37"/>
    <p:sldId id="303" r:id="rId54"/>
    <p:sldId id="304" r:id="rId55"/>
    <p:sldId id="305" r:id="rId56"/>
    <p:sldId id="306" r:id="rId57"/>
    <p:sldId id="307" r:id="rId58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9.xml"/><Relationship Id="rId14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13.xml"/><Relationship Id="rId20" Type="http://schemas.openxmlformats.org/officeDocument/2006/relationships/slide" Target="slides/slide11.xml"/><Relationship Id="rId21" Type="http://schemas.openxmlformats.org/officeDocument/2006/relationships/slide" Target="slides/slide15.xml"/><Relationship Id="rId22" Type="http://schemas.openxmlformats.org/officeDocument/2006/relationships/slide" Target="slides/slide8.xml"/><Relationship Id="rId23" Type="http://schemas.openxmlformats.org/officeDocument/2006/relationships/slide" Target="slides/slide17.xml"/><Relationship Id="rId24" Type="http://schemas.openxmlformats.org/officeDocument/2006/relationships/slide" Target="slides/slide10.xml"/><Relationship Id="rId27" Type="http://schemas.openxmlformats.org/officeDocument/2006/relationships/slide" Target="slides/slide11.xml"/><Relationship Id="rId37" Type="http://schemas.openxmlformats.org/officeDocument/2006/relationships/slide" Target="slides/slide12.xml"/><Relationship Id="rId50" Type="http://schemas.openxmlformats.org/officeDocument/2006/relationships/slide" Target="slides/slide18.xml"/><Relationship Id="rId54" Type="http://schemas.openxmlformats.org/officeDocument/2006/relationships/slide" Target="slides/slide13.xml"/><Relationship Id="rId55" Type="http://schemas.openxmlformats.org/officeDocument/2006/relationships/slide" Target="slides/slide14.xml"/><Relationship Id="rId56" Type="http://schemas.openxmlformats.org/officeDocument/2006/relationships/slide" Target="slides/slide15.xml"/><Relationship Id="rId57" Type="http://schemas.openxmlformats.org/officeDocument/2006/relationships/slide" Target="slides/slide16.xml"/><Relationship Id="rId58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Validation-Approved Prior-Residual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20분 요약 발표  ·  Prior-Adaptive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6950" y="819150"/>
            <a:ext cx="7658100" cy="5143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19350" y="914400"/>
            <a:ext cx="73533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ppleGothic"/>
              </a:rPr>
              <a:t>목표  ·  근거 수준에 맞는 강건한 외삽 프레임워크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5450"/>
            <a:ext cx="2381250" cy="819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0550" y="1790700"/>
            <a:ext cx="21145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사용 가능한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2076450"/>
            <a:ext cx="21145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관측 · 경계 · 도메인 지식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14650" y="1952625"/>
            <a:ext cx="514350" cy="2857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638550" y="1562100"/>
            <a:ext cx="2857500" cy="1104900"/>
          </a:xfrm>
          <a:prstGeom prst="diamond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적용 가능한 후보식이
정당화되는가?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67300" y="2667000"/>
            <a:ext cx="0" cy="11430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47850" y="2781300"/>
            <a:ext cx="6438900" cy="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own Arrow 14"/>
          <p:cNvSpPr/>
          <p:nvPr/>
        </p:nvSpPr>
        <p:spPr>
          <a:xfrm>
            <a:off x="1676400" y="2724150"/>
            <a:ext cx="342900" cy="3238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115300" y="2724150"/>
            <a:ext cx="342900" cy="3238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55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6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PP-X  |  식이 없거나 약할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weak prior + residual candidate family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Validation evidence로 executor 승인 · 실패 시 fallback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818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32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PAE  |  검증된 식이 있을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validated equation + 제한 NN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source gate · 이득 없으면 PP-X로 복귀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27622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90868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66950" y="4914900"/>
            <a:ext cx="7658100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00300" y="5010150"/>
            <a:ext cx="73914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공통 Assurance  ·  믿기 / 보류 / 거절  →  두 경로를 하나의 외삽 프레임워크로 통합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현재 발표 범위: PP-X  ·  후속 확장: PAE + 통합 Assurance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게이트 전체도 — 어디서 승인·거절되나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장으로 보는 분기. 왼쪽은 Prior 켤지, 오른쪽은 executor를 Val로 쓸지.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1 · C1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경계·후보·fallback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미리 선언</a:t>
            </a:r>
          </a:p>
        </p:txBody>
      </p:sp>
      <p:sp>
        <p:nvSpPr>
          <p:cNvPr id="9" name="Rectangle 8"/>
          <p:cNvSpPr/>
          <p:nvPr/>
        </p:nvSpPr>
        <p:spPr>
          <a:xfrm>
            <a:off x="2667000" y="914400"/>
            <a:ext cx="2057400" cy="1143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Step 2 · C1 Prior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select_ppx_route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BQ 또는 affine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3 · C2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prior + residual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후보 학습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914400"/>
            <a:ext cx="2057400" cy="1143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28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Step 4 · C3 Approve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 gate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2%·60%·1.10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964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5 · Freeze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C3 이후 실행 규칙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 or fallback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5146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47244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69342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1440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Step 2 · Final은 Prior를 끄지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→ BQ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없음 → affine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/ group / mode는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neural_safety는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FEMTO만).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03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Step 4 · C3 Executor gate에서 거절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7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Prior는 ON이었지만 Val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미달 조건 (하나라도):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Gain &lt; 2%  ·  Unit wins &lt; 60%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&gt; 1.10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승인되는 유일한 길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Contract 선언 → Prior ON → residual fit → Val 세 조건 PASS → route 1개 고정.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label로는 route를 바꾸지 않는다.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476875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암기  Prior gate = BQ vs affine  ·  Executor gate = 어떤 PP  ·  Val FAIL → fallback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Prior gate — known_boundary가 가르는 분기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select_ppx_route.  고장 시점≠고장 조건.  여기서 Prior ON/OFF만 결정한다.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1000" y="838200"/>
            <a:ext cx="38100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86250" y="895350"/>
            <a:ext cx="361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known_boundary 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28750"/>
            <a:ext cx="5334000" cy="3048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TRUE → boundary_pp  ·  BQ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의미  고장 조건(경계)을 안다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예) capacity≤80%, crack 33 mm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≠ “몇 사이클 뒤 고장”을 아는 것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검사  OOF / group / mode 없음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결과  prior_weight=1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다음  Step 3 · C2 fit → Step 4 · C3 executor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28750"/>
            <a:ext cx="5334000" cy="3048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2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FALSE → affine  ·  Prior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Final은 사다리를 돌리지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경계가 없으면 affine prior를 켠다.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/ group 수 / mode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stability는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그 검사는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 역사 감사만).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625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차이 한 줄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= BQ.  경계 없음 = affine.  둘 다 Prior ON.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Final에서 Prior OFF는 없다. 거절은 Executor Val FAIL만.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C3 Executor gate — Val에서 승인·거절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select_paper_ppx.  Prior ON일 때만 진입.  Contract flag가 연 후보만 비교.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76300"/>
            <a:ext cx="11277600" cy="8382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952500"/>
            <a:ext cx="109728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후보 (contract가 연 것만)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192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prior-only  ·  unbounded  ·  bounded  ·  dual*  ·  transport*  ·  history*  · 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* dual/transport/history = 해당 flag True일 때만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85950"/>
            <a:ext cx="3810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세 조건 AND (전부 PASS여야 승인)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Gain ≥ 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MSE가 fallback보다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상대 2% 이상 작음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10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62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Unit wins ≥ 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62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물리 unit RMSE에서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승률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8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00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Worst ≤ 1.10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00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최악 unit RMSE 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≤1.10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29000"/>
            <a:ext cx="5334000" cy="1333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PASS →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통과 후보 중 Val loss 최소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(동점이면 더 단순한 executor)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그 route 1개를 test 전에 동결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429000"/>
            <a:ext cx="5334000" cy="13335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FAIL → 거절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어떤 prior-residual도 세 조건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/ persistence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(사전 contract에 적은 것)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72050"/>
            <a:ext cx="112776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분기명  boundary_pp = BQ ON  ·  transferable_prior = affine ON  ·  neural_safety = v1_declared만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Final은 Prior를 끄지 않음  ·  Executor FAIL은 비교했지만 Val 위험 때문에 사전 fallback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C1 contract → C2 prior-residual core → C3 unit approval → frozen execution /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C1 Declare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C2 Learn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기본 경로 + bounded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C3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평균·unit wins·worst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known_boundary → BQ, 아니면 affine (Final)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실행 규칙 / 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 route 1개 고정, 아니면 사전 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Final에서 executor가 승인되지 않으면 contract에 미리 적은 direct·persistence fallback으로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 latent-regime + Val calibration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Final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통계검정 지도 — 질문마다 검정이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내부 구조·외부 경쟁력·component·붕괴 안정성을 하나의 p값으로 섞지 않는다.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714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비교 대상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표본 단위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구조가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matched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 · 77 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 + hierarchical bootstrap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 · RMSE −33.8%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강한 ML보다 경쟁력 있나?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동일예산 최강 baseline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two-sided exact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module이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component on vs 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sign/boot + 24개 BH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개선·일부 악화 유의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외삽이 덜 무너지나?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9모델의 setting별 R² 분포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MAD permutation + SD bootstrap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관찰상 우수; Holm 후 전역 비유의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Seed가 더 안정적인가?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5-seed refits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optimizer seeds 5개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sign/기술통계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p&lt;.05 확증 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143000" y="5000625"/>
            <a:ext cx="9906000" cy="6858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5124450"/>
            <a:ext cx="95250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핵심 주장: 현재 9개 retrospective 외삽 setting에서 PP-X는 prior 없는 direct보다 평균 오차가 작고, 강한 동일예산 비교군보다 8/9에서 높으며, 심한 음의 R² 붕괴가 덜 관찰됐다.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13/18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통계검정 지도 — 질문마다 검정이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내부 구조·외부 경쟁력·component·붕괴 안정성을 하나의 p값으로 섞지 않는다.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714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비교 대상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표본 단위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구조가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matched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 · 77 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 + hierarchical bootstrap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 · RMSE −33.8%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강한 ML보다 경쟁력 있나?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동일예산 최강 baseline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two-sided exact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module이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component on vs 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sign/boot + 24개 BH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개선·일부 악화 유의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외삽이 덜 무너지나?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9모델의 setting별 R² 분포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MAD permutation + SD bootstrap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관찰상 우수; Holm 후 전역 비유의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Seed가 더 안정적인가?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5-seed refits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optimizer seeds 5개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sign/기술통계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p&lt;.05 확증 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143000" y="5000625"/>
            <a:ext cx="9906000" cy="6858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5124450"/>
            <a:ext cx="95250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핵심 주장: 현재 9개 retrospective 외삽 setting에서 PP-X는 prior 없는 direct보다 평균 오차가 작고, 강한 동일예산 비교군보다 8/9에서 높으며, 심한 음의 R² 붕괴가 덜 관찰됐다.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1 — prior–residual 구조의 평균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FT-Transformer 비교가 아니다. 같은 데이터·split에서 prior 구조를 제거한 내부 대조군과 비교한다.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52500"/>
            <a:ext cx="3333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1123950"/>
            <a:ext cx="2952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비교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19250"/>
            <a:ext cx="2876550" cy="1428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 Final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vs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matched direct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같은 입력·split의 direct 예측 모델에서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BQ/affine prior-residual 구조만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4250"/>
            <a:ext cx="2876550" cy="876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묻는 질문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“일반 direct 예측보다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prior 구조가 실제로 도움 되는가?”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95750" y="952500"/>
            <a:ext cx="3619500" cy="390525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1123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계층 bootstrap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1619250"/>
            <a:ext cx="32004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① 각 물리 unit의 RMSE 비교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② 데이터셋을 동일 확률로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③ 선택된 데이터셋 안에서 unit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④ 반복마다 log-RMSE 이득 계산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→ 큰 데이터셋이 결론을 독점하지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5300" y="4210050"/>
            <a:ext cx="32004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9 settings · 77 physical 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0050" y="952500"/>
            <a:ext cx="3714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0550" y="1123950"/>
            <a:ext cx="3333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결과와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550" y="1638300"/>
            <a:ext cx="33337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9 / 9 우세  ·  p=.0039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34375" y="2381250"/>
            <a:ext cx="3076575" cy="0"/>
          </a:xfrm>
          <a:prstGeom prst="line">
            <a:avLst/>
          </a:prstGeom>
          <a:ln w="15875">
            <a:solidFill>
              <a:srgbClr val="0072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10550" y="2571750"/>
            <a:ext cx="3333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평균 RMSE 33.8%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0550" y="3124200"/>
            <a:ext cx="33337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95% CI: 15.8%–48.6%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752850"/>
            <a:ext cx="33337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log CI [.172,.665]를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사람이 읽기 쉬운 RMSE 감소율로 환산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" y="5143500"/>
            <a:ext cx="1114425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말할 수 있음: 현재 평가 범위에서 prior–residual 구조의 평균 오차 감소가 0보다 크다. 말할 수 없음: 모든 MLP·Transformer보다 항상 우수하다.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2 — 동일예산 강력 baseline과의 외부 경쟁력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setting에서 30개 후보를 탐색한 가장 강한 baseline과 PP-X Final을 비교한다.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동일예산 최강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차이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 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MLP 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−.686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.583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~0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04875" y="4810125"/>
            <a:ext cx="4762500" cy="809625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8 / 9 우세 · two-sided exact p=.0391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7000" y="4810125"/>
            <a:ext cx="4762500" cy="809625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9875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Virkler에서는 FT-Transformer가 +.002 우세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5857875"/>
            <a:ext cx="11049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이 검정은 prior 구조의 내부 효과가 아니라, 동일한 탐색 예산 아래 외부 모델과의 경쟁력을 묻는다.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15/18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2 — 동일예산 강력 baseline과의 외부 경쟁력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setting에서 30개 후보를 탐색한 가장 강한 baseline과 PP-X Final을 비교한다.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동일예산 최강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차이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 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MLP 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−.686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.583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~0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04875" y="4810125"/>
            <a:ext cx="4762500" cy="809625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8 / 9 우세 · two-sided exact p=.0391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7000" y="4810125"/>
            <a:ext cx="4762500" cy="809625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9875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Virkler에서는 FT-Transformer가 +.002 우세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5857875"/>
            <a:ext cx="11049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이 검정은 prior 구조의 내부 효과가 아니라, 동일한 탐색 예산 아래 외부 모델과의 경쟁력을 묻는다.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3 — component on/off와 Final route의 일치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강제 on/off ablation을 물리 unit 단위로 비교하고 24개 동시검정에 BH 보정을 적용했다.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  <a:gridCol w="1879600"/>
                <a:gridCol w="1879600"/>
              </a:tblGrid>
              <a:tr h="359833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OFF → ON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BH q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Ablation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.281 → .939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.659 → .878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−3.343 → 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.468 →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 → .842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fixed 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.759 → .468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dual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.829 → 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.675 → 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66750" y="4572000"/>
            <a:ext cx="10858500" cy="8191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4695825"/>
            <a:ext cx="10477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실험과 실제 결과가 매칭됨: MICH는 dual-scale을 켰고, RWTH는 dual-scale을 끄고 fixed bound를 유지했다. 음성 ablation은 모델 실패가 아니라 잘못된 전역 적용을 막는 근거다.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5762625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BH 보정 목적: 24개 비교 중 우연히 유의한 결과가 생기는 허위발견률을 통제.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4 — ‘외삽이 덜 무너진다’의 근거와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성능 평균뿐 아니라 setting 간 편차·최악 점수·음의 R² 발생을 함께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695325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/>
                <a:gridCol w="1390650"/>
                <a:gridCol w="1390650"/>
                <a:gridCol w="1390650"/>
                <a:gridCol w="13906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10500" y="914400"/>
            <a:ext cx="3905250" cy="14287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0668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관찰된 붕괴 완화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668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작은 SD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높은 최악 R²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유일한 9/9 양의 R²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0500" y="2628900"/>
            <a:ext cx="3905250" cy="142875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7813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통계적 경계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1813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Engression 대비 MAD p=.0391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8모델 Holm 보정 q=.2734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→ 전 모델 대비 확증은 아님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524375"/>
            <a:ext cx="11049000" cy="8763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" y="4657725"/>
            <a:ext cx="105727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허용 주장: “현재 9개 retrospective 외삽 setting에서 PP-X는 심한 성능 붕괴가 덜 관찰됐다.”</a:t>
            </a:r>
          </a:p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금지 주장: “모든 미래 데이터와 모든 모델에 대해 안정성 우월이 통계적으로 확증됐다.”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5810250"/>
            <a:ext cx="1085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5-seed는 optimizer 재학습 기술통계다. n=5 양측 exact 검정 최소 p=.0625이므로 독립적인 안정성 확증으로 쓰지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17/18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4 — ‘외삽이 덜 무너진다’의 근거와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성능 평균뿐 아니라 setting 간 편차·최악 점수·음의 R² 발생을 함께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695325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/>
                <a:gridCol w="1390650"/>
                <a:gridCol w="1390650"/>
                <a:gridCol w="1390650"/>
                <a:gridCol w="13906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10500" y="914400"/>
            <a:ext cx="3905250" cy="14287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0668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관찰된 붕괴 완화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668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작은 SD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높은 최악 R²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유일한 9/9 양의 R²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0500" y="2628900"/>
            <a:ext cx="3905250" cy="142875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7813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통계적 경계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1813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Engression 대비 MAD p=.0391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8모델 Holm 보정 q=.2734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→ 전 모델 대비 확증은 아님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524375"/>
            <a:ext cx="11049000" cy="8763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" y="4657725"/>
            <a:ext cx="105727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허용 주장: “현재 9개 retrospective 외삽 setting에서 PP-X는 심한 성능 붕괴가 덜 관찰됐다.”</a:t>
            </a:r>
          </a:p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금지 주장: “모든 미래 데이터와 모든 모델에 대해 안정성 우월이 통계적으로 확증됐다.”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5810250"/>
            <a:ext cx="1085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5-seed는 optimizer 재학습 기술통계다. n=5 양측 exact 검정 최소 p=.0625이므로 독립적인 안정성 확증으로 쓰지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