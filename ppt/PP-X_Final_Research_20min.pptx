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63" r:id="rId14"/>
    <p:sldId id="265" r:id="rId16"/>
    <p:sldId id="266" r:id="rId17"/>
    <p:sldId id="267" r:id="rId18"/>
    <p:sldId id="308" r:id="rId28"/>
    <p:sldId id="309" r:id="rId29"/>
    <p:sldId id="271" r:id="rId22"/>
    <p:sldId id="260" r:id="rId11"/>
    <p:sldId id="273" r:id="rId24"/>
    <p:sldId id="276" r:id="rId27"/>
    <p:sldId id="310" r:id="rId30"/>
    <p:sldId id="303" r:id="rId54"/>
    <p:sldId id="304" r:id="rId55"/>
    <p:sldId id="306" r:id="rId57"/>
    <p:sldId id="307" r:id="rId58"/>
    <p:sldId id="299" r:id="rId50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10.xml"/><Relationship Id="rId14" Type="http://schemas.openxmlformats.org/officeDocument/2006/relationships/slide" Target="slides/slide4.xml"/><Relationship Id="rId16" Type="http://schemas.openxmlformats.org/officeDocument/2006/relationships/slide" Target="slides/slide6.xml"/><Relationship Id="rId17" Type="http://schemas.openxmlformats.org/officeDocument/2006/relationships/slide" Target="slides/slide7.xml"/><Relationship Id="rId18" Type="http://schemas.openxmlformats.org/officeDocument/2006/relationships/slide" Target="slides/slide8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9.xml"/><Relationship Id="rId23" Type="http://schemas.openxmlformats.org/officeDocument/2006/relationships/slide" Target="slides/slide17.xml"/><Relationship Id="rId24" Type="http://schemas.openxmlformats.org/officeDocument/2006/relationships/slide" Target="slides/slide11.xml"/><Relationship Id="rId27" Type="http://schemas.openxmlformats.org/officeDocument/2006/relationships/slide" Target="slides/slide14.xml"/><Relationship Id="rId28" Type="http://schemas.openxmlformats.org/officeDocument/2006/relationships/slide" Target="slides/slide17.xml"/><Relationship Id="rId29" Type="http://schemas.openxmlformats.org/officeDocument/2006/relationships/slide" Target="slides/slide18.xml"/><Relationship Id="rId30" Type="http://schemas.openxmlformats.org/officeDocument/2006/relationships/slide" Target="slides/slide19.xml"/><Relationship Id="rId50" Type="http://schemas.openxmlformats.org/officeDocument/2006/relationships/slide" Target="slides/slide40.xml"/><Relationship Id="rId54" Type="http://schemas.openxmlformats.org/officeDocument/2006/relationships/slide" Target="slides/slide43.xml"/><Relationship Id="rId55" Type="http://schemas.openxmlformats.org/officeDocument/2006/relationships/slide" Target="slides/slide44.xml"/><Relationship Id="rId57" Type="http://schemas.openxmlformats.org/officeDocument/2006/relationships/slide" Target="slides/slide46.xml"/><Relationship Id="rId58" Type="http://schemas.openxmlformats.org/officeDocument/2006/relationships/slide" Target="slides/slide4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81000" y="304800"/>
            <a:ext cx="11430000" cy="6248400"/>
          </a:xfrm>
          <a:prstGeom prst="rect">
            <a:avLst/>
          </a:prstGeom>
          <a:noFill/>
          <a:ln w="15875">
            <a:solidFill>
              <a:srgbClr val="2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ps_lab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91500" y="552450"/>
            <a:ext cx="3048000" cy="6096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62000" y="2095500"/>
            <a:ext cx="1066800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222222"/>
                </a:solidFill>
                <a:latin typeface="Arial"/>
                <a:ea typeface="AppleGothic"/>
              </a:rPr>
              <a:t>PP-X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2552700"/>
            <a:ext cx="106680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222222"/>
                </a:solidFill>
                <a:latin typeface="Arial"/>
                <a:ea typeface="AppleGothic"/>
              </a:rPr>
              <a:t>Validation-Approved Prior-Residual Extrapolation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3143250"/>
            <a:ext cx="10668000" cy="266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666666"/>
                </a:solidFill>
                <a:latin typeface="Arial"/>
                <a:ea typeface="AppleGothic"/>
              </a:rPr>
              <a:t>관측된 support 밖에서의 강건 예측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3714750"/>
            <a:ext cx="10668000" cy="266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0072B2"/>
                </a:solidFill>
                <a:latin typeface="Arial"/>
                <a:ea typeface="AppleGothic"/>
              </a:rPr>
              <a:t>20분 요약 발표  ·  Prior-Adaptive Extrapolation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4476750"/>
            <a:ext cx="10668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222222"/>
                </a:solidFill>
                <a:latin typeface="Arial"/>
                <a:ea typeface="AppleGothic"/>
              </a:rPr>
              <a:t>Smart Production Systems Lab.  ·  박사과정 박진서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2000" y="4953000"/>
            <a:ext cx="10668000" cy="209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666666"/>
                </a:solidFill>
                <a:latin typeface="Arial"/>
                <a:ea typeface="AppleGothic"/>
              </a:rPr>
              <a:t>2026.09.11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9050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09550"/>
            <a:ext cx="1123950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222222"/>
                </a:solidFill>
                <a:latin typeface="Arial"/>
                <a:ea typeface="AppleGothic"/>
              </a:rPr>
              <a:t>문제 · 연구 배경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14350"/>
            <a:ext cx="112395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66666"/>
                </a:solidFill>
                <a:latin typeface="Arial"/>
                <a:ea typeface="AppleGothic"/>
              </a:rPr>
              <a:t>밖에서는 데이터가 답을 정하지 못한다.  정당화되는 prior에 맞춰 고른다.</a:t>
            </a:r>
          </a:p>
        </p:txBody>
      </p:sp>
      <p:pic>
        <p:nvPicPr>
          <p:cNvPr id="6" name="Picture 5" descr="nn_vs_saar_curv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900" y="819150"/>
            <a:ext cx="6096000" cy="3810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42900" y="4686300"/>
            <a:ext cx="60960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66666"/>
                </a:solidFill>
                <a:latin typeface="Arial"/>
                <a:ea typeface="AppleGothic"/>
              </a:rPr>
              <a:t>점선 왼쪽은 학습, 오른쪽은 그 밖. 제약 없는 NN은 열화 중에도 예측이 되살아난다.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629400" y="819150"/>
            <a:ext cx="5219700" cy="1257300"/>
          </a:xfrm>
          <a:prstGeom prst="roundRect">
            <a:avLst>
              <a:gd name="adj" fmla="val 12000"/>
            </a:avLst>
          </a:prstGeom>
          <a:solidFill>
            <a:srgbClr val="F5F5F5"/>
          </a:solidFill>
          <a:ln w="15875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781800" y="895350"/>
            <a:ext cx="4914900" cy="209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22222"/>
                </a:solidFill>
                <a:latin typeface="Arial"/>
                <a:ea typeface="AppleGothic"/>
              </a:rPr>
              <a:t>왜 외삽인가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81800" y="1123950"/>
            <a:ext cx="4914900" cy="8572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Arial"/>
                <a:ea typeface="AppleGothic"/>
              </a:rPr>
              <a:t>학습 분포 안에서는 잘 맞혀도, 관측되지 않은 영역에서는 성능이 급히 떨어질 수 있다. 열화·RUL·피로균열은 실제 시점이 학습 support 밖인 경우가 많아, 보간보다 밖에서의 예측이 중요하다.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629400" y="2190750"/>
            <a:ext cx="5219700" cy="1257300"/>
          </a:xfrm>
          <a:prstGeom prst="roundRect">
            <a:avLst>
              <a:gd name="adj" fmla="val 12000"/>
            </a:avLst>
          </a:prstGeom>
          <a:solidFill>
            <a:srgbClr val="FDF4E3"/>
          </a:solidFill>
          <a:ln w="15875">
            <a:solidFill>
              <a:srgbClr val="E69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81800" y="2266950"/>
            <a:ext cx="4914900" cy="209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E69F00"/>
                </a:solidFill>
                <a:latin typeface="Arial"/>
                <a:ea typeface="AppleGothic"/>
              </a:rPr>
              <a:t>prior는 일정하지 않다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81800" y="2495550"/>
            <a:ext cx="4914900" cy="8572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Arial"/>
                <a:ea typeface="AppleGothic"/>
              </a:rPr>
              <a:t>같은 데이터라도 prior가 바뀌면 밖으로 나가는 곡선이 달라진다. 어떤 문제는 방향·경계·추세만 알고, 어떤 문제는 식과 적용 조건까지 있다. 맞지 않는 prior를 강제하면 외삽이 나빠진다.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629400" y="3562350"/>
            <a:ext cx="5219700" cy="1466850"/>
          </a:xfrm>
          <a:prstGeom prst="roundRect">
            <a:avLst>
              <a:gd name="adj" fmla="val 12000"/>
            </a:avLst>
          </a:prstGeom>
          <a:solidFill>
            <a:srgbClr val="E8F1F8"/>
          </a:solidFill>
          <a:ln w="15875">
            <a:solidFill>
              <a:srgbClr val="0072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781800" y="3638550"/>
            <a:ext cx="4914900" cy="209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72B2"/>
                </a:solidFill>
                <a:latin typeface="Arial"/>
                <a:ea typeface="AppleGothic"/>
              </a:rPr>
              <a:t>출발점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81800" y="3886200"/>
            <a:ext cx="4914900" cy="1028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Arial"/>
                <a:ea typeface="AppleGothic"/>
              </a:rPr>
              <a:t>맞는 답이 하나가 아니다. 밖을 지탱하는 것은 데이터가 아니라 지금 정당화되는 prior다. prior가 많을수록 좋은 것이 아니라, 그 수준과 신뢰성에 맞춰 외삽 전략을 고른다. 다음 장에서 경로를 나눈다.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57200" y="6477000"/>
            <a:ext cx="11277600" cy="0"/>
          </a:xfrm>
          <a:prstGeom prst="line">
            <a:avLst/>
          </a:prstGeom>
          <a:ln w="9525">
            <a:solidFill>
              <a:srgbClr val="E8E8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457200" y="6534150"/>
            <a:ext cx="7620000" cy="1333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66666"/>
                </a:solidFill>
                <a:latin typeface="Arial"/>
                <a:ea typeface="AppleGothic"/>
              </a:rPr>
              <a:t>SPS Lab  ·  Prior-Adaptive Extrapolation  ·  PP-X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477500" y="6515100"/>
            <a:ext cx="952500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666666"/>
                </a:solidFill>
                <a:latin typeface="Arial"/>
                <a:ea typeface="AppleGothic"/>
              </a:rPr>
              <a:t>2/19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9050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09550"/>
            <a:ext cx="1123950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222222"/>
                </a:solidFill>
                <a:latin typeface="Arial"/>
                <a:ea typeface="AppleGothic"/>
              </a:rPr>
              <a:t>사전 조사 — 회귀 외삽은 추가 가정 없이는 식별되지 않는다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14350"/>
            <a:ext cx="112395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66666"/>
                </a:solidFill>
                <a:latin typeface="Arial"/>
                <a:ea typeface="AppleGothic"/>
              </a:rPr>
              <a:t>대표 방법은 서로 다른 구조·분포 가정을 둔다. PP-X만 prior를 쓰는 것은 아니다.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38200"/>
            <a:ext cx="11277600" cy="3238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22222"/>
                </a:solidFill>
                <a:latin typeface="Arial"/>
                <a:ea typeface="AppleGothic"/>
              </a:rPr>
              <a:t>조사 결론  범용 회귀기가 데이터만으로 support 밖 함수를 정해 주지는 않는다.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352550"/>
            <a:ext cx="2647950" cy="2857500"/>
          </a:xfrm>
          <a:prstGeom prst="roundRect">
            <a:avLst>
              <a:gd name="adj" fmla="val 12000"/>
            </a:avLst>
          </a:prstGeom>
          <a:solidFill>
            <a:srgbClr val="F5F5F5"/>
          </a:solidFill>
          <a:ln w="15875">
            <a:solidFill>
              <a:srgbClr val="2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8650" y="1504950"/>
            <a:ext cx="2305050" cy="2476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22222"/>
                </a:solidFill>
                <a:latin typeface="Arial"/>
                <a:ea typeface="AppleGothic"/>
              </a:rPr>
              <a:t>제약 없는 NN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8650" y="1885950"/>
            <a:ext cx="2305050" cy="209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666666"/>
                </a:solidFill>
                <a:latin typeface="Arial"/>
                <a:ea typeface="AppleGothic"/>
              </a:rPr>
              <a:t>ReLU 네트워크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685800" y="2247900"/>
            <a:ext cx="2190750" cy="0"/>
          </a:xfrm>
          <a:prstGeom prst="line">
            <a:avLst/>
          </a:prstGeom>
          <a:ln w="15875">
            <a:solidFill>
              <a:srgbClr val="E8E8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628650" y="2419350"/>
            <a:ext cx="2305050" cy="552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222222"/>
                </a:solidFill>
                <a:latin typeface="Arial"/>
                <a:ea typeface="AppleGothic"/>
              </a:rPr>
              <a:t>마지막 선형 조각을</a:t>
            </a:r>
          </a:p>
          <a:p>
            <a:pPr algn="ctr"/>
            <a:r>
              <a:rPr sz="1300" b="0">
                <a:solidFill>
                  <a:srgbClr val="222222"/>
                </a:solidFill>
                <a:latin typeface="Arial"/>
                <a:ea typeface="AppleGothic"/>
              </a:rPr>
              <a:t>밖으로 연장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8650" y="3295650"/>
            <a:ext cx="2305050" cy="60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9B1C1C"/>
                </a:solidFill>
                <a:latin typeface="Arial"/>
                <a:ea typeface="AppleGothic"/>
              </a:rPr>
              <a:t>가정이 암묵적이라</a:t>
            </a:r>
          </a:p>
          <a:p>
            <a:pPr algn="ctr"/>
            <a:r>
              <a:rPr sz="1200" b="0">
                <a:solidFill>
                  <a:srgbClr val="9B1C1C"/>
                </a:solidFill>
                <a:latin typeface="Arial"/>
                <a:ea typeface="AppleGothic"/>
              </a:rPr>
              <a:t>tail 형태를 통제하기 어렵다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333750" y="1352550"/>
            <a:ext cx="2647950" cy="2857500"/>
          </a:xfrm>
          <a:prstGeom prst="roundRect">
            <a:avLst>
              <a:gd name="adj" fmla="val 12000"/>
            </a:avLst>
          </a:prstGeom>
          <a:solidFill>
            <a:srgbClr val="E8F1F8"/>
          </a:solidFill>
          <a:ln w="15875">
            <a:solidFill>
              <a:srgbClr val="0072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05200" y="1504950"/>
            <a:ext cx="2305050" cy="2476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0072B2"/>
                </a:solidFill>
                <a:latin typeface="Arial"/>
                <a:ea typeface="AppleGothic"/>
              </a:rPr>
              <a:t>형상 제약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05200" y="1885950"/>
            <a:ext cx="2305050" cy="209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666666"/>
                </a:solidFill>
                <a:latin typeface="Arial"/>
                <a:ea typeface="AppleGothic"/>
              </a:rPr>
              <a:t>CMNN · monotone NN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3562350" y="2247900"/>
            <a:ext cx="2190750" cy="0"/>
          </a:xfrm>
          <a:prstGeom prst="line">
            <a:avLst/>
          </a:prstGeom>
          <a:ln w="15875">
            <a:solidFill>
              <a:srgbClr val="E8E8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3505200" y="2419350"/>
            <a:ext cx="2305050" cy="552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222222"/>
                </a:solidFill>
                <a:latin typeface="Arial"/>
                <a:ea typeface="AppleGothic"/>
              </a:rPr>
              <a:t>증가/감소 방향을</a:t>
            </a:r>
          </a:p>
          <a:p>
            <a:pPr algn="ctr"/>
            <a:r>
              <a:rPr sz="1300" b="0">
                <a:solidFill>
                  <a:srgbClr val="222222"/>
                </a:solidFill>
                <a:latin typeface="Arial"/>
                <a:ea typeface="AppleGothic"/>
              </a:rPr>
              <a:t>구조로 강제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05200" y="3295650"/>
            <a:ext cx="2305050" cy="60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9B1C1C"/>
                </a:solidFill>
                <a:latin typeface="Arial"/>
                <a:ea typeface="AppleGothic"/>
              </a:rPr>
              <a:t>단조 방향이 맞다는</a:t>
            </a:r>
          </a:p>
          <a:p>
            <a:pPr algn="ctr"/>
            <a:r>
              <a:rPr sz="1200" b="0">
                <a:solidFill>
                  <a:srgbClr val="9B1C1C"/>
                </a:solidFill>
                <a:latin typeface="Arial"/>
                <a:ea typeface="AppleGothic"/>
              </a:rPr>
              <a:t>도메인 prior가 필요하다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0300" y="1352550"/>
            <a:ext cx="2647950" cy="2857500"/>
          </a:xfrm>
          <a:prstGeom prst="roundRect">
            <a:avLst>
              <a:gd name="adj" fmla="val 12000"/>
            </a:avLst>
          </a:prstGeom>
          <a:solidFill>
            <a:srgbClr val="FDF4E3"/>
          </a:solidFill>
          <a:ln w="15875">
            <a:solidFill>
              <a:srgbClr val="E69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81750" y="1504950"/>
            <a:ext cx="2305050" cy="2476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E69F00"/>
                </a:solidFill>
                <a:latin typeface="Arial"/>
                <a:ea typeface="AppleGothic"/>
              </a:rPr>
              <a:t>식·물리 제약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81750" y="1885950"/>
            <a:ext cx="2305050" cy="209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666666"/>
                </a:solidFill>
                <a:latin typeface="Arial"/>
                <a:ea typeface="AppleGothic"/>
              </a:rPr>
              <a:t>EQL · PINN · Physics-ML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6438900" y="2247900"/>
            <a:ext cx="2190750" cy="0"/>
          </a:xfrm>
          <a:prstGeom prst="line">
            <a:avLst/>
          </a:prstGeom>
          <a:ln w="15875">
            <a:solidFill>
              <a:srgbClr val="E8E8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6381750" y="2419350"/>
            <a:ext cx="2305050" cy="552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222222"/>
                </a:solidFill>
                <a:latin typeface="Arial"/>
                <a:ea typeface="AppleGothic"/>
              </a:rPr>
              <a:t>함수식·PDE·열화 법칙을</a:t>
            </a:r>
          </a:p>
          <a:p>
            <a:pPr algn="ctr"/>
            <a:r>
              <a:rPr sz="1300" b="0">
                <a:solidFill>
                  <a:srgbClr val="222222"/>
                </a:solidFill>
                <a:latin typeface="Arial"/>
                <a:ea typeface="AppleGothic"/>
              </a:rPr>
              <a:t>구조 또는 loss에 반영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81750" y="3295650"/>
            <a:ext cx="2305050" cy="60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9B1C1C"/>
                </a:solidFill>
                <a:latin typeface="Arial"/>
                <a:ea typeface="AppleGothic"/>
              </a:rPr>
              <a:t>식과 적용 조건이 맞는</a:t>
            </a:r>
          </a:p>
          <a:p>
            <a:pPr algn="ctr"/>
            <a:r>
              <a:rPr sz="1200" b="0">
                <a:solidFill>
                  <a:srgbClr val="9B1C1C"/>
                </a:solidFill>
                <a:latin typeface="Arial"/>
                <a:ea typeface="AppleGothic"/>
              </a:rPr>
              <a:t>도메인에서 강하다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086850" y="1352550"/>
            <a:ext cx="2647950" cy="2857500"/>
          </a:xfrm>
          <a:prstGeom prst="roundRect">
            <a:avLst>
              <a:gd name="adj" fmla="val 12000"/>
            </a:avLst>
          </a:prstGeom>
          <a:solidFill>
            <a:srgbClr val="F5F5F5"/>
          </a:solidFill>
          <a:ln w="15875">
            <a:solidFill>
              <a:srgbClr val="2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258300" y="1504950"/>
            <a:ext cx="2305050" cy="2476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22222"/>
                </a:solidFill>
                <a:latin typeface="Arial"/>
                <a:ea typeface="AppleGothic"/>
              </a:rPr>
              <a:t>통계적 외삽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58300" y="1885950"/>
            <a:ext cx="2305050" cy="209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666666"/>
                </a:solidFill>
                <a:latin typeface="Arial"/>
                <a:ea typeface="AppleGothic"/>
              </a:rPr>
              <a:t>Engression · Xtrapolation</a:t>
            </a:r>
          </a:p>
          <a:p>
            <a:pPr algn="ctr"/>
            <a:r>
              <a:rPr sz="1100" b="1">
                <a:solidFill>
                  <a:srgbClr val="666666"/>
                </a:solidFill>
                <a:latin typeface="Arial"/>
                <a:ea typeface="AppleGothic"/>
              </a:rPr>
              <a:t>· Progression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9315450" y="2247900"/>
            <a:ext cx="2190750" cy="0"/>
          </a:xfrm>
          <a:prstGeom prst="line">
            <a:avLst/>
          </a:prstGeom>
          <a:ln w="15875">
            <a:solidFill>
              <a:srgbClr val="E8E8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9258300" y="2419350"/>
            <a:ext cx="2305050" cy="552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222222"/>
                </a:solidFill>
                <a:latin typeface="Arial"/>
                <a:ea typeface="AppleGothic"/>
              </a:rPr>
              <a:t>noise 위치·미분 경계·</a:t>
            </a:r>
          </a:p>
          <a:p>
            <a:pPr algn="ctr"/>
            <a:r>
              <a:rPr sz="1300" b="0">
                <a:solidFill>
                  <a:srgbClr val="222222"/>
                </a:solidFill>
                <a:latin typeface="Arial"/>
                <a:ea typeface="AppleGothic"/>
              </a:rPr>
              <a:t>tail dependence를 가정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258300" y="3295650"/>
            <a:ext cx="2305050" cy="60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9B1C1C"/>
                </a:solidFill>
                <a:latin typeface="Arial"/>
                <a:ea typeface="AppleGothic"/>
              </a:rPr>
              <a:t>가정이 약하면 band가 넓고</a:t>
            </a:r>
          </a:p>
          <a:p>
            <a:pPr algn="ctr"/>
            <a:r>
              <a:rPr sz="1200" b="0">
                <a:solidFill>
                  <a:srgbClr val="9B1C1C"/>
                </a:solidFill>
                <a:latin typeface="Arial"/>
                <a:ea typeface="AppleGothic"/>
              </a:rPr>
              <a:t>점예측은 식별되지 않는다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57200" y="4476750"/>
            <a:ext cx="11277600" cy="990600"/>
          </a:xfrm>
          <a:prstGeom prst="roundRect">
            <a:avLst>
              <a:gd name="adj" fmla="val 12000"/>
            </a:avLst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66750" y="4591050"/>
            <a:ext cx="10858500" cy="266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  <a:ea typeface="AppleGothic"/>
              </a:rPr>
              <a:t>직접 인접 연구  EV(2024)·LBO(2025)는 boundary-focused validation을 이미 제안했다.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66750" y="4914900"/>
            <a:ext cx="10858500" cy="419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  <a:ea typeface="AppleGothic"/>
              </a:rPr>
              <a:t>남은 질문  이질적인 prior를 outcome-free contract로 제한하고, physical-unit 위험으로 executor와 exact fallback을 시험 전에 함께 고정할 수 있는가?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200" y="5753100"/>
            <a:ext cx="1127760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666666"/>
                </a:solidFill>
                <a:latin typeface="Arial"/>
                <a:ea typeface="AppleGothic"/>
              </a:rPr>
              <a:t>Xu 2021 · Runje 2023 · Raissi 2019 · Shen &amp; Meinshausen 2024 · Pfister &amp; Bühlmann 2026 · Yu et al. 2024 · García et al. 2025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457200" y="6477000"/>
            <a:ext cx="11277600" cy="0"/>
          </a:xfrm>
          <a:prstGeom prst="line">
            <a:avLst/>
          </a:prstGeom>
          <a:ln w="9525">
            <a:solidFill>
              <a:srgbClr val="E8E8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457200" y="6534150"/>
            <a:ext cx="7620000" cy="1333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66666"/>
                </a:solidFill>
                <a:latin typeface="Arial"/>
                <a:ea typeface="AppleGothic"/>
              </a:rPr>
              <a:t>SPS Lab  ·  Prior-Adaptive Extrapolation  ·  PP-X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477500" y="6515100"/>
            <a:ext cx="952500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666666"/>
                </a:solidFill>
                <a:latin typeface="Arial"/>
                <a:ea typeface="AppleGothic"/>
              </a:rPr>
              <a:t>3/19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9050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09550"/>
            <a:ext cx="1123950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222222"/>
                </a:solidFill>
                <a:latin typeface="Arial"/>
                <a:ea typeface="AppleGothic"/>
              </a:rPr>
              <a:t>연구 루트 — 식의 근거에 따라 두 경로로 간다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14350"/>
            <a:ext cx="112395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66666"/>
                </a:solidFill>
                <a:latin typeface="Arial"/>
                <a:ea typeface="AppleGothic"/>
              </a:rPr>
              <a:t>식이 없거나 약한 prior만 있으면 PP-X, 적용 가능한 식이 정당화되면 PAE로 확장한다.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266950" y="819150"/>
            <a:ext cx="7658100" cy="514350"/>
          </a:xfrm>
          <a:prstGeom prst="roundRect">
            <a:avLst>
              <a:gd name="adj" fmla="val 12000"/>
            </a:avLst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419350" y="914400"/>
            <a:ext cx="735330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  <a:ea typeface="AppleGothic"/>
              </a:rPr>
              <a:t>목표  ·  근거 수준에 맞는 강건한 외삽 프레임워크 구축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695450"/>
            <a:ext cx="2381250" cy="819150"/>
          </a:xfrm>
          <a:prstGeom prst="roundRect">
            <a:avLst>
              <a:gd name="adj" fmla="val 12000"/>
            </a:avLst>
          </a:prstGeom>
          <a:solidFill>
            <a:srgbClr val="F5F5F5"/>
          </a:solidFill>
          <a:ln w="15875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0550" y="1790700"/>
            <a:ext cx="211455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666666"/>
                </a:solidFill>
                <a:latin typeface="Arial"/>
                <a:ea typeface="AppleGothic"/>
              </a:rPr>
              <a:t>사용 가능한 근거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0550" y="2076450"/>
            <a:ext cx="211455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222222"/>
                </a:solidFill>
                <a:latin typeface="Arial"/>
                <a:ea typeface="AppleGothic"/>
              </a:rPr>
              <a:t>관측 · 경계 · 도메인 지식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2914650" y="1952625"/>
            <a:ext cx="514350" cy="285750"/>
          </a:xfrm>
          <a:prstGeom prst="rightArrow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Diamond 11"/>
          <p:cNvSpPr/>
          <p:nvPr/>
        </p:nvSpPr>
        <p:spPr>
          <a:xfrm>
            <a:off x="3638550" y="1562100"/>
            <a:ext cx="2857500" cy="1104900"/>
          </a:xfrm>
          <a:prstGeom prst="diamond">
            <a:avLst/>
          </a:prstGeom>
          <a:solidFill>
            <a:srgbClr val="FDF4E3"/>
          </a:solidFill>
          <a:ln w="15875">
            <a:solidFill>
              <a:srgbClr val="E69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222222"/>
                </a:solidFill>
                <a:latin typeface="Arial"/>
                <a:ea typeface="AppleGothic"/>
              </a:rPr>
              <a:t>적용 가능한 후보식이
정당화되는가?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5067300" y="2667000"/>
            <a:ext cx="0" cy="114300"/>
          </a:xfrm>
          <a:prstGeom prst="line">
            <a:avLst/>
          </a:prstGeom>
          <a:ln w="15875">
            <a:solidFill>
              <a:srgbClr val="6666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1847850" y="2781300"/>
            <a:ext cx="6438900" cy="0"/>
          </a:xfrm>
          <a:prstGeom prst="line">
            <a:avLst/>
          </a:prstGeom>
          <a:ln w="15875">
            <a:solidFill>
              <a:srgbClr val="6666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Down Arrow 14"/>
          <p:cNvSpPr/>
          <p:nvPr/>
        </p:nvSpPr>
        <p:spPr>
          <a:xfrm>
            <a:off x="1676400" y="2724150"/>
            <a:ext cx="342900" cy="323850"/>
          </a:xfrm>
          <a:prstGeom prst="downArrow">
            <a:avLst/>
          </a:prstGeom>
          <a:solidFill>
            <a:srgbClr val="0072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Down Arrow 15"/>
          <p:cNvSpPr/>
          <p:nvPr/>
        </p:nvSpPr>
        <p:spPr>
          <a:xfrm>
            <a:off x="8115300" y="2724150"/>
            <a:ext cx="342900" cy="323850"/>
          </a:xfrm>
          <a:prstGeom prst="downArrow">
            <a:avLst/>
          </a:prstGeom>
          <a:solidFill>
            <a:srgbClr val="E69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095500" y="2647950"/>
            <a:ext cx="5715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072B2"/>
                </a:solidFill>
                <a:latin typeface="Arial"/>
                <a:ea typeface="AppleGothic"/>
              </a:rPr>
              <a:t>NO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67600" y="2647950"/>
            <a:ext cx="5715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E69F00"/>
                </a:solidFill>
                <a:latin typeface="Arial"/>
                <a:ea typeface="AppleGothic"/>
              </a:rPr>
              <a:t>YES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3105150"/>
            <a:ext cx="4953000" cy="1390650"/>
          </a:xfrm>
          <a:prstGeom prst="roundRect">
            <a:avLst>
              <a:gd name="adj" fmla="val 12000"/>
            </a:avLst>
          </a:prstGeom>
          <a:solidFill>
            <a:srgbClr val="E8F1F8"/>
          </a:solidFill>
          <a:ln w="15875">
            <a:solidFill>
              <a:srgbClr val="0072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8650" y="3219450"/>
            <a:ext cx="4610100" cy="266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0072B2"/>
                </a:solidFill>
                <a:latin typeface="Arial"/>
                <a:ea typeface="AppleGothic"/>
              </a:rPr>
              <a:t>PP-X  |  식이 없거나 약할 때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3600450"/>
            <a:ext cx="4495800" cy="6286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222222"/>
                </a:solidFill>
                <a:latin typeface="Arial"/>
                <a:ea typeface="AppleGothic"/>
              </a:rPr>
              <a:t>weak prior + residual candidate family</a:t>
            </a:r>
          </a:p>
          <a:p>
            <a:pPr algn="ctr"/>
            <a:r>
              <a:rPr sz="1200" b="0">
                <a:solidFill>
                  <a:srgbClr val="222222"/>
                </a:solidFill>
                <a:latin typeface="Arial"/>
                <a:ea typeface="AppleGothic"/>
              </a:rPr>
              <a:t>Validation evidence로 executor 승인 · 실패 시 fallback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781800" y="3105150"/>
            <a:ext cx="4953000" cy="1390650"/>
          </a:xfrm>
          <a:prstGeom prst="roundRect">
            <a:avLst>
              <a:gd name="adj" fmla="val 12000"/>
            </a:avLst>
          </a:prstGeom>
          <a:solidFill>
            <a:srgbClr val="FDF4E3"/>
          </a:solidFill>
          <a:ln w="15875">
            <a:solidFill>
              <a:srgbClr val="E69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953250" y="3219450"/>
            <a:ext cx="4610100" cy="266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E69F00"/>
                </a:solidFill>
                <a:latin typeface="Arial"/>
                <a:ea typeface="AppleGothic"/>
              </a:rPr>
              <a:t>PAE  |  검증된 식이 있을 때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10400" y="3600450"/>
            <a:ext cx="4495800" cy="6286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222222"/>
                </a:solidFill>
                <a:latin typeface="Arial"/>
                <a:ea typeface="AppleGothic"/>
              </a:rPr>
              <a:t>validated equation + 제한 NN</a:t>
            </a:r>
          </a:p>
          <a:p>
            <a:pPr algn="ctr"/>
            <a:r>
              <a:rPr sz="1200" b="0">
                <a:solidFill>
                  <a:srgbClr val="222222"/>
                </a:solidFill>
                <a:latin typeface="Arial"/>
                <a:ea typeface="AppleGothic"/>
              </a:rPr>
              <a:t>source gate · 이득 없으면 PP-X로 복귀</a:t>
            </a:r>
          </a:p>
        </p:txBody>
      </p:sp>
      <p:sp>
        <p:nvSpPr>
          <p:cNvPr id="25" name="Down Arrow 24"/>
          <p:cNvSpPr/>
          <p:nvPr/>
        </p:nvSpPr>
        <p:spPr>
          <a:xfrm>
            <a:off x="2762250" y="4552950"/>
            <a:ext cx="342900" cy="304800"/>
          </a:xfrm>
          <a:prstGeom prst="downArrow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Down Arrow 25"/>
          <p:cNvSpPr/>
          <p:nvPr/>
        </p:nvSpPr>
        <p:spPr>
          <a:xfrm>
            <a:off x="9086850" y="4552950"/>
            <a:ext cx="342900" cy="304800"/>
          </a:xfrm>
          <a:prstGeom prst="downArrow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2266950" y="4914900"/>
            <a:ext cx="7658100" cy="59055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2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400300" y="5010150"/>
            <a:ext cx="7391400" cy="3619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222222"/>
                </a:solidFill>
                <a:latin typeface="Arial"/>
                <a:ea typeface="AppleGothic"/>
              </a:rPr>
              <a:t>공통 Assurance  ·  믿기 / 보류 / 거절  →  두 경로를 하나의 외삽 프레임워크로 통합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5638800"/>
            <a:ext cx="1127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666666"/>
                </a:solidFill>
                <a:latin typeface="Arial"/>
                <a:ea typeface="AppleGothic"/>
              </a:rPr>
              <a:t>현재 발표 범위: PP-X  ·  후속 확장: PAE + 통합 Assurance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457200" y="6477000"/>
            <a:ext cx="11277600" cy="0"/>
          </a:xfrm>
          <a:prstGeom prst="line">
            <a:avLst/>
          </a:prstGeom>
          <a:ln w="9525">
            <a:solidFill>
              <a:srgbClr val="E8E8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457200" y="6534150"/>
            <a:ext cx="7620000" cy="1333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66666"/>
                </a:solidFill>
                <a:latin typeface="Arial"/>
                <a:ea typeface="AppleGothic"/>
              </a:rPr>
              <a:t>SPS Lab  ·  Prior-Adaptive Extrapolation  ·  PP-X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477500" y="6515100"/>
            <a:ext cx="952500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666666"/>
                </a:solidFill>
                <a:latin typeface="Arial"/>
                <a:ea typeface="AppleGothic"/>
              </a:rPr>
              <a:t>4/19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9050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09550"/>
            <a:ext cx="1123950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222222"/>
                </a:solidFill>
                <a:latin typeface="Arial"/>
                <a:ea typeface="AppleGothic"/>
              </a:rPr>
              <a:t>PP-X 게이트 전체도 — 어디서 승인·거절되나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14350"/>
            <a:ext cx="112395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66666"/>
                </a:solidFill>
                <a:latin typeface="Arial"/>
                <a:ea typeface="AppleGothic"/>
              </a:rPr>
              <a:t>한 장으로 보는 분기. 왼쪽은 Prior 켤지, 오른쪽은 executor를 Val로 쓸지.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914400"/>
            <a:ext cx="2057400" cy="1143000"/>
          </a:xfrm>
          <a:prstGeom prst="rect">
            <a:avLst/>
          </a:prstGeom>
          <a:solidFill>
            <a:srgbClr val="F5F5F5"/>
          </a:solidFill>
          <a:ln w="15875">
            <a:solidFill>
              <a:srgbClr val="2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3400" y="990600"/>
            <a:ext cx="1905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222222"/>
                </a:solidFill>
                <a:latin typeface="Arial"/>
                <a:ea typeface="AppleGothic"/>
              </a:rPr>
              <a:t>Step 1 · C1 Contract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3400" y="1295400"/>
            <a:ext cx="1905000" cy="647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222222"/>
                </a:solidFill>
                <a:latin typeface="Arial"/>
                <a:ea typeface="AppleGothic"/>
              </a:rPr>
              <a:t>경계·후보·fallback</a:t>
            </a:r>
          </a:p>
          <a:p>
            <a:pPr algn="ctr"/>
            <a:r>
              <a:rPr sz="1200" b="0">
                <a:solidFill>
                  <a:srgbClr val="222222"/>
                </a:solidFill>
                <a:latin typeface="Arial"/>
                <a:ea typeface="AppleGothic"/>
              </a:rPr>
              <a:t>미리 선언</a:t>
            </a:r>
          </a:p>
        </p:txBody>
      </p:sp>
      <p:sp>
        <p:nvSpPr>
          <p:cNvPr id="9" name="Rectangle 8"/>
          <p:cNvSpPr/>
          <p:nvPr/>
        </p:nvSpPr>
        <p:spPr>
          <a:xfrm>
            <a:off x="2667000" y="914400"/>
            <a:ext cx="2057400" cy="1143000"/>
          </a:xfrm>
          <a:prstGeom prst="rect">
            <a:avLst/>
          </a:prstGeom>
          <a:solidFill>
            <a:srgbClr val="E8F1F8"/>
          </a:solidFill>
          <a:ln w="15875">
            <a:solidFill>
              <a:srgbClr val="0072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0" y="990600"/>
            <a:ext cx="1905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0072B2"/>
                </a:solidFill>
                <a:latin typeface="Arial"/>
                <a:ea typeface="AppleGothic"/>
              </a:rPr>
              <a:t>Step 2 · C1 Prior gate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0" y="1295400"/>
            <a:ext cx="1905000" cy="647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222222"/>
                </a:solidFill>
                <a:latin typeface="Arial"/>
                <a:ea typeface="AppleGothic"/>
              </a:rPr>
              <a:t>select_ppx_route</a:t>
            </a:r>
          </a:p>
          <a:p>
            <a:pPr algn="ctr"/>
            <a:r>
              <a:rPr sz="1200" b="0">
                <a:solidFill>
                  <a:srgbClr val="222222"/>
                </a:solidFill>
                <a:latin typeface="Arial"/>
                <a:ea typeface="AppleGothic"/>
              </a:rPr>
              <a:t>BQ 또는 affine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876800" y="914400"/>
            <a:ext cx="2057400" cy="1143000"/>
          </a:xfrm>
          <a:prstGeom prst="rect">
            <a:avLst/>
          </a:prstGeom>
          <a:solidFill>
            <a:srgbClr val="F5F5F5"/>
          </a:solidFill>
          <a:ln w="15875">
            <a:solidFill>
              <a:srgbClr val="2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953000" y="990600"/>
            <a:ext cx="1905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222222"/>
                </a:solidFill>
                <a:latin typeface="Arial"/>
                <a:ea typeface="AppleGothic"/>
              </a:rPr>
              <a:t>Step 3 · C2 Fit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53000" y="1295400"/>
            <a:ext cx="1905000" cy="647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222222"/>
                </a:solidFill>
                <a:latin typeface="Arial"/>
                <a:ea typeface="AppleGothic"/>
              </a:rPr>
              <a:t>prior + residual</a:t>
            </a:r>
          </a:p>
          <a:p>
            <a:pPr algn="ctr"/>
            <a:r>
              <a:rPr sz="1200" b="0">
                <a:solidFill>
                  <a:srgbClr val="222222"/>
                </a:solidFill>
                <a:latin typeface="Arial"/>
                <a:ea typeface="AppleGothic"/>
              </a:rPr>
              <a:t>후보 학습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086600" y="914400"/>
            <a:ext cx="2057400" cy="1143000"/>
          </a:xfrm>
          <a:prstGeom prst="rect">
            <a:avLst/>
          </a:prstGeom>
          <a:solidFill>
            <a:srgbClr val="FDF4E3"/>
          </a:solidFill>
          <a:ln w="15875">
            <a:solidFill>
              <a:srgbClr val="E69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62800" y="990600"/>
            <a:ext cx="1905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E69F00"/>
                </a:solidFill>
                <a:latin typeface="Arial"/>
                <a:ea typeface="AppleGothic"/>
              </a:rPr>
              <a:t>Step 4 · C3 Approve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62800" y="1295400"/>
            <a:ext cx="1905000" cy="647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222222"/>
                </a:solidFill>
                <a:latin typeface="Arial"/>
                <a:ea typeface="AppleGothic"/>
              </a:rPr>
              <a:t>Executor gate</a:t>
            </a:r>
          </a:p>
          <a:p>
            <a:pPr algn="ctr"/>
            <a:r>
              <a:rPr sz="1200" b="0">
                <a:solidFill>
                  <a:srgbClr val="222222"/>
                </a:solidFill>
                <a:latin typeface="Arial"/>
                <a:ea typeface="AppleGothic"/>
              </a:rPr>
              <a:t>Val 2%·60%·1.10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296400" y="914400"/>
            <a:ext cx="2057400" cy="1143000"/>
          </a:xfrm>
          <a:prstGeom prst="rect">
            <a:avLst/>
          </a:prstGeom>
          <a:solidFill>
            <a:srgbClr val="F5F5F5"/>
          </a:solidFill>
          <a:ln w="15875">
            <a:solidFill>
              <a:srgbClr val="2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372600" y="990600"/>
            <a:ext cx="1905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222222"/>
                </a:solidFill>
                <a:latin typeface="Arial"/>
                <a:ea typeface="AppleGothic"/>
              </a:rPr>
              <a:t>Step 5 · Freeze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72600" y="1295400"/>
            <a:ext cx="1905000" cy="647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222222"/>
                </a:solidFill>
                <a:latin typeface="Arial"/>
                <a:ea typeface="AppleGothic"/>
              </a:rPr>
              <a:t>C3 이후 실행 규칙</a:t>
            </a:r>
          </a:p>
          <a:p>
            <a:pPr algn="ctr"/>
            <a:r>
              <a:rPr sz="1200" b="0">
                <a:solidFill>
                  <a:srgbClr val="222222"/>
                </a:solidFill>
                <a:latin typeface="Arial"/>
                <a:ea typeface="AppleGothic"/>
              </a:rPr>
              <a:t>route or fallback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2514600" y="1333500"/>
            <a:ext cx="152400" cy="266700"/>
          </a:xfrm>
          <a:prstGeom prst="rightArrow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ight Arrow 21"/>
          <p:cNvSpPr/>
          <p:nvPr/>
        </p:nvSpPr>
        <p:spPr>
          <a:xfrm>
            <a:off x="4724400" y="1333500"/>
            <a:ext cx="152400" cy="266700"/>
          </a:xfrm>
          <a:prstGeom prst="rightArrow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ight Arrow 22"/>
          <p:cNvSpPr/>
          <p:nvPr/>
        </p:nvSpPr>
        <p:spPr>
          <a:xfrm>
            <a:off x="6934200" y="1333500"/>
            <a:ext cx="152400" cy="266700"/>
          </a:xfrm>
          <a:prstGeom prst="rightArrow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ight Arrow 23"/>
          <p:cNvSpPr/>
          <p:nvPr/>
        </p:nvSpPr>
        <p:spPr>
          <a:xfrm>
            <a:off x="9144000" y="1333500"/>
            <a:ext cx="152400" cy="266700"/>
          </a:xfrm>
          <a:prstGeom prst="rightArrow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57200" y="2381250"/>
            <a:ext cx="5524500" cy="1905000"/>
          </a:xfrm>
          <a:prstGeom prst="rect">
            <a:avLst/>
          </a:prstGeom>
          <a:solidFill>
            <a:srgbClr val="FFFFFF"/>
          </a:solidFill>
          <a:ln w="15875">
            <a:solidFill>
              <a:srgbClr val="0072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09600" y="2495550"/>
            <a:ext cx="52197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72B2"/>
                </a:solidFill>
                <a:latin typeface="Arial"/>
                <a:ea typeface="AppleGothic"/>
              </a:rPr>
              <a:t>Step 2 · Final은 Prior를 끄지 않음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09600" y="2819400"/>
            <a:ext cx="5219700" cy="1333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22222"/>
                </a:solidFill>
                <a:latin typeface="Arial"/>
                <a:ea typeface="AppleGothic"/>
              </a:rPr>
              <a:t>경계 있음 → BQ (ON)</a:t>
            </a:r>
          </a:p>
          <a:p>
            <a:pPr algn="l"/>
            <a:r>
              <a:rPr sz="1300" b="0">
                <a:solidFill>
                  <a:srgbClr val="222222"/>
                </a:solidFill>
                <a:latin typeface="Arial"/>
                <a:ea typeface="AppleGothic"/>
              </a:rPr>
              <a:t>경계 없음 → affine (ON)</a:t>
            </a:r>
          </a:p>
          <a:p>
            <a:pPr algn="l"/>
            <a:r>
              <a:rPr sz="1300" b="0">
                <a:solidFill>
                  <a:srgbClr val="222222"/>
                </a:solidFill>
                <a:latin typeface="Arial"/>
                <a:ea typeface="AppleGothic"/>
              </a:rPr>
              <a:t/>
            </a:r>
          </a:p>
          <a:p>
            <a:pPr algn="l"/>
            <a:r>
              <a:rPr sz="1300" b="0">
                <a:solidFill>
                  <a:srgbClr val="222222"/>
                </a:solidFill>
                <a:latin typeface="Arial"/>
                <a:ea typeface="AppleGothic"/>
              </a:rPr>
              <a:t>OOF / group / mode는 계산하지 않음.</a:t>
            </a:r>
          </a:p>
          <a:p>
            <a:pPr algn="l"/>
            <a:r>
              <a:rPr sz="1300" b="0">
                <a:solidFill>
                  <a:srgbClr val="222222"/>
                </a:solidFill>
                <a:latin typeface="Arial"/>
                <a:ea typeface="AppleGothic"/>
              </a:rPr>
              <a:t>neural_safety는 v1_declared 보관</a:t>
            </a:r>
          </a:p>
          <a:p>
            <a:pPr algn="l"/>
            <a:r>
              <a:rPr sz="1300" b="0">
                <a:solidFill>
                  <a:srgbClr val="222222"/>
                </a:solidFill>
                <a:latin typeface="Arial"/>
                <a:ea typeface="AppleGothic"/>
              </a:rPr>
              <a:t>(DS03 · FEMTO만).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210300" y="2381250"/>
            <a:ext cx="5524500" cy="1905000"/>
          </a:xfrm>
          <a:prstGeom prst="rect">
            <a:avLst/>
          </a:prstGeom>
          <a:solidFill>
            <a:srgbClr val="FFFFFF"/>
          </a:solidFill>
          <a:ln w="15875">
            <a:solidFill>
              <a:srgbClr val="E69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62700" y="2495550"/>
            <a:ext cx="52197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69F00"/>
                </a:solidFill>
                <a:latin typeface="Arial"/>
                <a:ea typeface="AppleGothic"/>
              </a:rPr>
              <a:t>Step 4 · C3 Executor gate에서 거절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62700" y="2819400"/>
            <a:ext cx="5219700" cy="1333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22222"/>
                </a:solidFill>
                <a:latin typeface="Arial"/>
                <a:ea typeface="AppleGothic"/>
              </a:rPr>
              <a:t>Prior는 ON이었지만 Val 미달</a:t>
            </a:r>
          </a:p>
          <a:p>
            <a:pPr algn="l"/>
            <a:r>
              <a:rPr sz="1300" b="0">
                <a:solidFill>
                  <a:srgbClr val="222222"/>
                </a:solidFill>
                <a:latin typeface="Arial"/>
                <a:ea typeface="AppleGothic"/>
              </a:rPr>
              <a:t>→ Direct fallback</a:t>
            </a:r>
          </a:p>
          <a:p>
            <a:pPr algn="l"/>
            <a:r>
              <a:rPr sz="1300" b="0">
                <a:solidFill>
                  <a:srgbClr val="222222"/>
                </a:solidFill>
                <a:latin typeface="Arial"/>
                <a:ea typeface="AppleGothic"/>
              </a:rPr>
              <a:t/>
            </a:r>
          </a:p>
          <a:p>
            <a:pPr algn="l"/>
            <a:r>
              <a:rPr sz="1300" b="0">
                <a:solidFill>
                  <a:srgbClr val="222222"/>
                </a:solidFill>
                <a:latin typeface="Arial"/>
                <a:ea typeface="AppleGothic"/>
              </a:rPr>
              <a:t>미달 조건 (하나라도):</a:t>
            </a:r>
          </a:p>
          <a:p>
            <a:pPr algn="l"/>
            <a:r>
              <a:rPr sz="1300" b="0">
                <a:solidFill>
                  <a:srgbClr val="222222"/>
                </a:solidFill>
                <a:latin typeface="Arial"/>
                <a:ea typeface="AppleGothic"/>
              </a:rPr>
              <a:t>Gain &lt; 2%  ·  Unit wins &lt; 60%</a:t>
            </a:r>
          </a:p>
          <a:p>
            <a:pPr algn="l"/>
            <a:r>
              <a:rPr sz="1300" b="0">
                <a:solidFill>
                  <a:srgbClr val="222222"/>
                </a:solidFill>
                <a:latin typeface="Arial"/>
                <a:ea typeface="AppleGothic"/>
              </a:rPr>
              <a:t>Worst ratio &gt; 1.10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4572000"/>
            <a:ext cx="11277600" cy="666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22222"/>
                </a:solidFill>
                <a:latin typeface="Arial"/>
                <a:ea typeface="AppleGothic"/>
              </a:rPr>
              <a:t>승인되는 유일한 길</a:t>
            </a:r>
          </a:p>
          <a:p>
            <a:pPr algn="l"/>
            <a:r>
              <a:rPr sz="1300" b="0">
                <a:solidFill>
                  <a:srgbClr val="222222"/>
                </a:solidFill>
                <a:latin typeface="Arial"/>
                <a:ea typeface="AppleGothic"/>
              </a:rPr>
              <a:t>Contract 선언 → Prior ON → residual fit → Val 세 조건 PASS → route 1개 고정.</a:t>
            </a:r>
          </a:p>
          <a:p>
            <a:pPr algn="l"/>
            <a:r>
              <a:rPr sz="1300" b="0">
                <a:solidFill>
                  <a:srgbClr val="222222"/>
                </a:solidFill>
                <a:latin typeface="Arial"/>
                <a:ea typeface="AppleGothic"/>
              </a:rPr>
              <a:t>test label로는 route를 바꾸지 않는다.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" y="5476875"/>
            <a:ext cx="112776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666666"/>
                </a:solidFill>
                <a:latin typeface="Arial"/>
                <a:ea typeface="AppleGothic"/>
              </a:rPr>
              <a:t>암기  Prior gate = BQ vs affine  ·  Executor gate = 어떤 PP  ·  Val FAIL → fallback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457200" y="6477000"/>
            <a:ext cx="11277600" cy="0"/>
          </a:xfrm>
          <a:prstGeom prst="line">
            <a:avLst/>
          </a:prstGeom>
          <a:ln w="9525">
            <a:solidFill>
              <a:srgbClr val="E8E8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457200" y="6534150"/>
            <a:ext cx="7620000" cy="1333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66666"/>
                </a:solidFill>
                <a:latin typeface="Arial"/>
                <a:ea typeface="AppleGothic"/>
              </a:rPr>
              <a:t>SPS Lab  ·  Prior-Adaptive Extrapolation  ·  PP-X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477500" y="6515100"/>
            <a:ext cx="952500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666666"/>
                </a:solidFill>
                <a:latin typeface="Arial"/>
                <a:ea typeface="AppleGothic"/>
              </a:rPr>
              <a:t>5/19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9050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09550"/>
            <a:ext cx="1123950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222222"/>
                </a:solidFill>
                <a:latin typeface="Arial"/>
                <a:ea typeface="AppleGothic"/>
              </a:rPr>
              <a:t>Prior gate — known_boundary가 가르는 분기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14350"/>
            <a:ext cx="112395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66666"/>
                </a:solidFill>
                <a:latin typeface="Arial"/>
                <a:ea typeface="AppleGothic"/>
              </a:rPr>
              <a:t>select_ppx_route.  고장 시점≠고장 조건.  여기서 Prior ON/OFF만 결정한다.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91000" y="838200"/>
            <a:ext cx="3810000" cy="381000"/>
          </a:xfrm>
          <a:prstGeom prst="roundRect">
            <a:avLst>
              <a:gd name="adj" fmla="val 12000"/>
            </a:avLst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286250" y="895350"/>
            <a:ext cx="3619500" cy="266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  <a:ea typeface="AppleGothic"/>
              </a:rPr>
              <a:t>known_boundary ?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428750"/>
            <a:ext cx="5334000" cy="3048000"/>
          </a:xfrm>
          <a:prstGeom prst="rect">
            <a:avLst/>
          </a:prstGeom>
          <a:solidFill>
            <a:srgbClr val="E8F1F8"/>
          </a:solidFill>
          <a:ln w="15875">
            <a:solidFill>
              <a:srgbClr val="0072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09600" y="1543050"/>
            <a:ext cx="5029200" cy="2476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72B2"/>
                </a:solidFill>
                <a:latin typeface="Arial"/>
                <a:ea typeface="AppleGothic"/>
              </a:rPr>
              <a:t>TRUE → boundary_pp  ·  BQ 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600" y="1905000"/>
            <a:ext cx="5029200" cy="23812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22222"/>
                </a:solidFill>
                <a:latin typeface="Arial"/>
                <a:ea typeface="AppleGothic"/>
              </a:rPr>
              <a:t>의미  고장 조건(경계)을 안다</a:t>
            </a:r>
          </a:p>
          <a:p>
            <a:pPr algn="l"/>
            <a:r>
              <a:rPr sz="1300" b="0">
                <a:solidFill>
                  <a:srgbClr val="222222"/>
                </a:solidFill>
                <a:latin typeface="Arial"/>
                <a:ea typeface="AppleGothic"/>
              </a:rPr>
              <a:t>예) capacity≤80%, crack 33 mm</a:t>
            </a:r>
          </a:p>
          <a:p>
            <a:pPr algn="l"/>
            <a:r>
              <a:rPr sz="1300" b="0">
                <a:solidFill>
                  <a:srgbClr val="222222"/>
                </a:solidFill>
                <a:latin typeface="Arial"/>
                <a:ea typeface="AppleGothic"/>
              </a:rPr>
              <a:t>≠ “몇 사이클 뒤 고장”을 아는 것</a:t>
            </a:r>
          </a:p>
          <a:p>
            <a:pPr algn="l"/>
            <a:r>
              <a:rPr sz="1300" b="0">
                <a:solidFill>
                  <a:srgbClr val="222222"/>
                </a:solidFill>
                <a:latin typeface="Arial"/>
                <a:ea typeface="AppleGothic"/>
              </a:rPr>
              <a:t/>
            </a:r>
          </a:p>
          <a:p>
            <a:pPr algn="l"/>
            <a:r>
              <a:rPr sz="1300" b="0">
                <a:solidFill>
                  <a:srgbClr val="222222"/>
                </a:solidFill>
                <a:latin typeface="Arial"/>
                <a:ea typeface="AppleGothic"/>
              </a:rPr>
              <a:t>검사  OOF / group / mode 없음</a:t>
            </a:r>
          </a:p>
          <a:p>
            <a:pPr algn="l"/>
            <a:r>
              <a:rPr sz="1300" b="0">
                <a:solidFill>
                  <a:srgbClr val="222222"/>
                </a:solidFill>
                <a:latin typeface="Arial"/>
                <a:ea typeface="AppleGothic"/>
              </a:rPr>
              <a:t/>
            </a:r>
          </a:p>
          <a:p>
            <a:pPr algn="l"/>
            <a:r>
              <a:rPr sz="1300" b="0">
                <a:solidFill>
                  <a:srgbClr val="222222"/>
                </a:solidFill>
                <a:latin typeface="Arial"/>
                <a:ea typeface="AppleGothic"/>
              </a:rPr>
              <a:t>결과  prior_weight=1</a:t>
            </a:r>
          </a:p>
          <a:p>
            <a:pPr algn="l"/>
            <a:r>
              <a:rPr sz="1300" b="0">
                <a:solidFill>
                  <a:srgbClr val="222222"/>
                </a:solidFill>
                <a:latin typeface="Arial"/>
                <a:ea typeface="AppleGothic"/>
              </a:rPr>
              <a:t>다음  Step 3 · C2 fit → Step 4 · C3 executor gate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0" y="1428750"/>
            <a:ext cx="5334000" cy="3048000"/>
          </a:xfrm>
          <a:prstGeom prst="rect">
            <a:avLst/>
          </a:prstGeom>
          <a:solidFill>
            <a:srgbClr val="FDF4E3"/>
          </a:solidFill>
          <a:ln w="15875">
            <a:solidFill>
              <a:srgbClr val="E69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53200" y="1543050"/>
            <a:ext cx="5029200" cy="2476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69F00"/>
                </a:solidFill>
                <a:latin typeface="Arial"/>
                <a:ea typeface="AppleGothic"/>
              </a:rPr>
              <a:t>FALSE → affine  ·  Prior 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53200" y="1905000"/>
            <a:ext cx="5029200" cy="23812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22222"/>
                </a:solidFill>
                <a:latin typeface="Arial"/>
                <a:ea typeface="AppleGothic"/>
              </a:rPr>
              <a:t>Final은 사다리를 돌리지 않음.</a:t>
            </a:r>
          </a:p>
          <a:p>
            <a:pPr algn="l"/>
            <a:r>
              <a:rPr sz="1300" b="0">
                <a:solidFill>
                  <a:srgbClr val="222222"/>
                </a:solidFill>
                <a:latin typeface="Arial"/>
                <a:ea typeface="AppleGothic"/>
              </a:rPr>
              <a:t>경계가 없으면 affine prior를 켠다.</a:t>
            </a:r>
          </a:p>
          <a:p>
            <a:pPr algn="l"/>
            <a:r>
              <a:rPr sz="1300" b="0">
                <a:solidFill>
                  <a:srgbClr val="222222"/>
                </a:solidFill>
                <a:latin typeface="Arial"/>
                <a:ea typeface="AppleGothic"/>
              </a:rPr>
              <a:t/>
            </a:r>
          </a:p>
          <a:p>
            <a:pPr algn="l"/>
            <a:r>
              <a:rPr sz="1300" b="0">
                <a:solidFill>
                  <a:srgbClr val="222222"/>
                </a:solidFill>
                <a:latin typeface="Arial"/>
                <a:ea typeface="AppleGothic"/>
              </a:rPr>
              <a:t>OOF regret / group 수 / mode</a:t>
            </a:r>
          </a:p>
          <a:p>
            <a:pPr algn="l"/>
            <a:r>
              <a:rPr sz="1300" b="0">
                <a:solidFill>
                  <a:srgbClr val="222222"/>
                </a:solidFill>
                <a:latin typeface="Arial"/>
                <a:ea typeface="AppleGothic"/>
              </a:rPr>
              <a:t>stability는 계산하지 않음.</a:t>
            </a:r>
          </a:p>
          <a:p>
            <a:pPr algn="l"/>
            <a:r>
              <a:rPr sz="1300" b="0">
                <a:solidFill>
                  <a:srgbClr val="222222"/>
                </a:solidFill>
                <a:latin typeface="Arial"/>
                <a:ea typeface="AppleGothic"/>
              </a:rPr>
              <a:t/>
            </a:r>
          </a:p>
          <a:p>
            <a:pPr algn="l"/>
            <a:r>
              <a:rPr sz="1300" b="0">
                <a:solidFill>
                  <a:srgbClr val="222222"/>
                </a:solidFill>
                <a:latin typeface="Arial"/>
                <a:ea typeface="AppleGothic"/>
              </a:rPr>
              <a:t>그 검사는 v1_declared 보관</a:t>
            </a:r>
          </a:p>
          <a:p>
            <a:pPr algn="l"/>
            <a:r>
              <a:rPr sz="1300" b="0">
                <a:solidFill>
                  <a:srgbClr val="222222"/>
                </a:solidFill>
                <a:latin typeface="Arial"/>
                <a:ea typeface="AppleGothic"/>
              </a:rPr>
              <a:t>(DS03 · FEMTO 역사 감사만).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4762500"/>
            <a:ext cx="11277600" cy="7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22222"/>
                </a:solidFill>
                <a:latin typeface="Arial"/>
                <a:ea typeface="AppleGothic"/>
              </a:rPr>
              <a:t>차이 한 줄</a:t>
            </a:r>
          </a:p>
          <a:p>
            <a:pPr algn="l"/>
            <a:r>
              <a:rPr sz="1300" b="0">
                <a:solidFill>
                  <a:srgbClr val="222222"/>
                </a:solidFill>
                <a:latin typeface="Arial"/>
                <a:ea typeface="AppleGothic"/>
              </a:rPr>
              <a:t>경계 있음 = BQ.  경계 없음 = affine.  둘 다 Prior ON.</a:t>
            </a:r>
          </a:p>
          <a:p>
            <a:pPr algn="l"/>
            <a:r>
              <a:rPr sz="1300" b="0">
                <a:solidFill>
                  <a:srgbClr val="222222"/>
                </a:solidFill>
                <a:latin typeface="Arial"/>
                <a:ea typeface="AppleGothic"/>
              </a:rPr>
              <a:t>Final에서 Prior OFF는 없다. 거절은 Executor Val FAIL만.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457200" y="6477000"/>
            <a:ext cx="11277600" cy="0"/>
          </a:xfrm>
          <a:prstGeom prst="line">
            <a:avLst/>
          </a:prstGeom>
          <a:ln w="9525">
            <a:solidFill>
              <a:srgbClr val="E8E8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457200" y="6534150"/>
            <a:ext cx="7620000" cy="1333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66666"/>
                </a:solidFill>
                <a:latin typeface="Arial"/>
                <a:ea typeface="AppleGothic"/>
              </a:rPr>
              <a:t>SPS Lab  ·  Prior-Adaptive Extrapolation  ·  PP-X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477500" y="6515100"/>
            <a:ext cx="952500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666666"/>
                </a:solidFill>
                <a:latin typeface="Arial"/>
                <a:ea typeface="AppleGothic"/>
              </a:rPr>
              <a:t>6/19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9050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09550"/>
            <a:ext cx="1123950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222222"/>
                </a:solidFill>
                <a:latin typeface="Arial"/>
                <a:ea typeface="AppleGothic"/>
              </a:rPr>
              <a:t>C3 Executor gate — Val에서 승인·거절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14350"/>
            <a:ext cx="112395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66666"/>
                </a:solidFill>
                <a:latin typeface="Arial"/>
                <a:ea typeface="AppleGothic"/>
              </a:rPr>
              <a:t>select_paper_ppx.  Prior ON일 때만 진입.  Contract flag가 연 후보만 비교.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876300"/>
            <a:ext cx="11277600" cy="838200"/>
          </a:xfrm>
          <a:prstGeom prst="rect">
            <a:avLst/>
          </a:prstGeom>
          <a:solidFill>
            <a:srgbClr val="F5F5F5"/>
          </a:solidFill>
          <a:ln w="15875">
            <a:solidFill>
              <a:srgbClr val="2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09600" y="952500"/>
            <a:ext cx="10972800" cy="209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22222"/>
                </a:solidFill>
                <a:latin typeface="Arial"/>
                <a:ea typeface="AppleGothic"/>
              </a:rPr>
              <a:t>후보 (contract가 연 것만)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1219200"/>
            <a:ext cx="1097280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22222"/>
                </a:solidFill>
                <a:latin typeface="Arial"/>
                <a:ea typeface="AppleGothic"/>
              </a:rPr>
              <a:t>prior-only  ·  unbounded  ·  bounded  ·  dual*  ·  transport*  ·  history*  ·  direct fallback</a:t>
            </a:r>
          </a:p>
          <a:p>
            <a:pPr algn="l"/>
            <a:r>
              <a:rPr sz="1300" b="0">
                <a:solidFill>
                  <a:srgbClr val="222222"/>
                </a:solidFill>
                <a:latin typeface="Arial"/>
                <a:ea typeface="AppleGothic"/>
              </a:rPr>
              <a:t>* dual/transport/history = 해당 flag True일 때만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885950"/>
            <a:ext cx="3810000" cy="209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22222"/>
                </a:solidFill>
                <a:latin typeface="Arial"/>
                <a:ea typeface="AppleGothic"/>
              </a:rPr>
              <a:t>세 조건 AND (전부 PASS여야 승인)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190750"/>
            <a:ext cx="3505200" cy="952500"/>
          </a:xfrm>
          <a:prstGeom prst="rect">
            <a:avLst/>
          </a:prstGeom>
          <a:solidFill>
            <a:srgbClr val="E8F1F8"/>
          </a:solidFill>
          <a:ln w="15875">
            <a:solidFill>
              <a:srgbClr val="0072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52450" y="2286000"/>
            <a:ext cx="33147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0072B2"/>
                </a:solidFill>
                <a:latin typeface="Arial"/>
                <a:ea typeface="AppleGothic"/>
              </a:rPr>
              <a:t>Gain ≥ 2%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52450" y="2590800"/>
            <a:ext cx="33147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222222"/>
                </a:solidFill>
                <a:latin typeface="Arial"/>
                <a:ea typeface="AppleGothic"/>
              </a:rPr>
              <a:t>Val MSE가 fallback보다</a:t>
            </a:r>
          </a:p>
          <a:p>
            <a:pPr algn="ctr"/>
            <a:r>
              <a:rPr sz="1200" b="0">
                <a:solidFill>
                  <a:srgbClr val="222222"/>
                </a:solidFill>
                <a:latin typeface="Arial"/>
                <a:ea typeface="AppleGothic"/>
              </a:rPr>
              <a:t>상대 2% 이상 작음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91000" y="2190750"/>
            <a:ext cx="3505200" cy="952500"/>
          </a:xfrm>
          <a:prstGeom prst="rect">
            <a:avLst/>
          </a:prstGeom>
          <a:solidFill>
            <a:srgbClr val="E8F1F8"/>
          </a:solidFill>
          <a:ln w="15875">
            <a:solidFill>
              <a:srgbClr val="0072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86250" y="2286000"/>
            <a:ext cx="33147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0072B2"/>
                </a:solidFill>
                <a:latin typeface="Arial"/>
                <a:ea typeface="AppleGothic"/>
              </a:rPr>
              <a:t>Unit wins ≥ 60%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86250" y="2590800"/>
            <a:ext cx="33147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222222"/>
                </a:solidFill>
                <a:latin typeface="Arial"/>
                <a:ea typeface="AppleGothic"/>
              </a:rPr>
              <a:t>물리 unit RMSE에서</a:t>
            </a:r>
          </a:p>
          <a:p>
            <a:pPr algn="ctr"/>
            <a:r>
              <a:rPr sz="1200" b="0">
                <a:solidFill>
                  <a:srgbClr val="222222"/>
                </a:solidFill>
                <a:latin typeface="Arial"/>
                <a:ea typeface="AppleGothic"/>
              </a:rPr>
              <a:t>fallback 대비 승률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924800" y="2190750"/>
            <a:ext cx="3505200" cy="952500"/>
          </a:xfrm>
          <a:prstGeom prst="rect">
            <a:avLst/>
          </a:prstGeom>
          <a:solidFill>
            <a:srgbClr val="E8F1F8"/>
          </a:solidFill>
          <a:ln w="15875">
            <a:solidFill>
              <a:srgbClr val="0072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20050" y="2286000"/>
            <a:ext cx="33147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0072B2"/>
                </a:solidFill>
                <a:latin typeface="Arial"/>
                <a:ea typeface="AppleGothic"/>
              </a:rPr>
              <a:t>Worst ≤ 1.10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20050" y="2590800"/>
            <a:ext cx="33147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222222"/>
                </a:solidFill>
                <a:latin typeface="Arial"/>
                <a:ea typeface="AppleGothic"/>
              </a:rPr>
              <a:t>최악 unit RMSE 비</a:t>
            </a:r>
          </a:p>
          <a:p>
            <a:pPr algn="ctr"/>
            <a:r>
              <a:rPr sz="1200" b="0">
                <a:solidFill>
                  <a:srgbClr val="222222"/>
                </a:solidFill>
                <a:latin typeface="Arial"/>
                <a:ea typeface="AppleGothic"/>
              </a:rPr>
              <a:t>fallback 대비 ≤1.10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3429000"/>
            <a:ext cx="5334000" cy="1333500"/>
          </a:xfrm>
          <a:prstGeom prst="rect">
            <a:avLst/>
          </a:prstGeom>
          <a:solidFill>
            <a:srgbClr val="E8F1F8"/>
          </a:solidFill>
          <a:ln w="15875">
            <a:solidFill>
              <a:srgbClr val="0072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09600" y="3543300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72B2"/>
                </a:solidFill>
                <a:latin typeface="Arial"/>
                <a:ea typeface="AppleGothic"/>
              </a:rPr>
              <a:t>PASS → 승인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9600" y="3886200"/>
            <a:ext cx="5029200" cy="7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22222"/>
                </a:solidFill>
                <a:latin typeface="Arial"/>
                <a:ea typeface="AppleGothic"/>
              </a:rPr>
              <a:t>통과 후보 중 Val loss 최소</a:t>
            </a:r>
          </a:p>
          <a:p>
            <a:pPr algn="l"/>
            <a:r>
              <a:rPr sz="1300" b="0">
                <a:solidFill>
                  <a:srgbClr val="222222"/>
                </a:solidFill>
                <a:latin typeface="Arial"/>
                <a:ea typeface="AppleGothic"/>
              </a:rPr>
              <a:t>(동점이면 더 단순한 executor)</a:t>
            </a:r>
          </a:p>
          <a:p>
            <a:pPr algn="l"/>
            <a:r>
              <a:rPr sz="1300" b="0">
                <a:solidFill>
                  <a:srgbClr val="222222"/>
                </a:solidFill>
                <a:latin typeface="Arial"/>
                <a:ea typeface="AppleGothic"/>
              </a:rPr>
              <a:t>→ 그 route 1개를 test 전에 동결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0" y="3429000"/>
            <a:ext cx="5334000" cy="1333500"/>
          </a:xfrm>
          <a:prstGeom prst="rect">
            <a:avLst/>
          </a:prstGeom>
          <a:solidFill>
            <a:srgbClr val="FDF4E3"/>
          </a:solidFill>
          <a:ln w="15875">
            <a:solidFill>
              <a:srgbClr val="E69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53200" y="3543300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69F00"/>
                </a:solidFill>
                <a:latin typeface="Arial"/>
                <a:ea typeface="AppleGothic"/>
              </a:rPr>
              <a:t>FAIL → 거절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53200" y="3886200"/>
            <a:ext cx="5029200" cy="7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22222"/>
                </a:solidFill>
                <a:latin typeface="Arial"/>
                <a:ea typeface="AppleGothic"/>
              </a:rPr>
              <a:t>어떤 prior-residual도 세 조건 미달</a:t>
            </a:r>
          </a:p>
          <a:p>
            <a:pPr algn="l"/>
            <a:r>
              <a:rPr sz="1300" b="0">
                <a:solidFill>
                  <a:srgbClr val="222222"/>
                </a:solidFill>
                <a:latin typeface="Arial"/>
                <a:ea typeface="AppleGothic"/>
              </a:rPr>
              <a:t>→ Direct / persistence fallback</a:t>
            </a:r>
          </a:p>
          <a:p>
            <a:pPr algn="l"/>
            <a:r>
              <a:rPr sz="1300" b="0">
                <a:solidFill>
                  <a:srgbClr val="222222"/>
                </a:solidFill>
                <a:latin typeface="Arial"/>
                <a:ea typeface="AppleGothic"/>
              </a:rPr>
              <a:t>(사전 contract에 적은 것)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4972050"/>
            <a:ext cx="11277600" cy="723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Arial"/>
                <a:ea typeface="AppleGothic"/>
              </a:rPr>
              <a:t>분기명  boundary_pp = BQ ON  ·  transferable_prior = affine ON  ·  neural_safety = v1_declared만</a:t>
            </a:r>
          </a:p>
          <a:p>
            <a:pPr algn="l"/>
            <a:r>
              <a:rPr sz="1200" b="0">
                <a:solidFill>
                  <a:srgbClr val="222222"/>
                </a:solidFill>
                <a:latin typeface="Arial"/>
                <a:ea typeface="AppleGothic"/>
              </a:rPr>
              <a:t>Final은 Prior를 끄지 않음  ·  Executor FAIL은 비교했지만 Val 위험 때문에 사전 fallback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457200" y="6477000"/>
            <a:ext cx="11277600" cy="0"/>
          </a:xfrm>
          <a:prstGeom prst="line">
            <a:avLst/>
          </a:prstGeom>
          <a:ln w="9525">
            <a:solidFill>
              <a:srgbClr val="E8E8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457200" y="6534150"/>
            <a:ext cx="7620000" cy="1333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66666"/>
                </a:solidFill>
                <a:latin typeface="Arial"/>
                <a:ea typeface="AppleGothic"/>
              </a:rPr>
              <a:t>SPS Lab  ·  Prior-Adaptive Extrapolation  ·  PP-X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477500" y="6515100"/>
            <a:ext cx="952500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666666"/>
                </a:solidFill>
                <a:latin typeface="Arial"/>
                <a:ea typeface="AppleGothic"/>
              </a:rPr>
              <a:t>7/19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9050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09550"/>
            <a:ext cx="1123950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222222"/>
                </a:solidFill>
                <a:latin typeface="Arial"/>
                <a:ea typeface="AppleGothic"/>
              </a:rPr>
              <a:t>방법 — 최종 PP-X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14350"/>
            <a:ext cx="112395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66666"/>
                </a:solidFill>
                <a:latin typeface="Arial"/>
                <a:ea typeface="AppleGothic"/>
              </a:rPr>
              <a:t>C1 contract → C2 prior-residual core → C3 unit approval → frozen execution / fallback</a:t>
            </a:r>
          </a:p>
        </p:txBody>
      </p:sp>
      <p:pic>
        <p:nvPicPr>
          <p:cNvPr id="6" name="Picture 5" descr="ppx_co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500" y="742950"/>
            <a:ext cx="7239000" cy="3810000"/>
          </a:xfrm>
          <a:prstGeom prst="rect">
            <a:avLst/>
          </a:prstGeom>
        </p:spPr>
      </p:pic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524750" y="819150"/>
          <a:ext cx="4267200" cy="2362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33600"/>
                <a:gridCol w="2133600"/>
              </a:tblGrid>
              <a:tr h="59055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  <a:ea typeface="AppleGothic"/>
                        </a:rPr>
                        <a:t>기여</a:t>
                      </a:r>
                    </a:p>
                  </a:txBody>
                  <a:tcPr anchor="ctr"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  <a:ea typeface="AppleGothic"/>
                        </a:rPr>
                        <a:t>PP-X가 하는 일</a:t>
                      </a:r>
                    </a:p>
                  </a:txBody>
                  <a:tcPr anchor="ctr">
                    <a:solidFill>
                      <a:srgbClr val="222222"/>
                    </a:solidFill>
                  </a:tcPr>
                </a:tc>
              </a:tr>
              <a:tr h="59055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C1 Declare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경계·unit·causal X·허용 prior·fallback 선언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9055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C2 Learn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prior 기본 경로 + bounded residual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59055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C3 Approve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validation 평균·unit wins·worst risk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524750" y="3314700"/>
          <a:ext cx="4267200" cy="1905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33600"/>
                <a:gridCol w="2133600"/>
              </a:tblGrid>
              <a:tr h="38100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  <a:ea typeface="AppleGothic"/>
                        </a:rPr>
                        <a:t>승인 규칙 (val/source만)</a:t>
                      </a:r>
                    </a:p>
                  </a:txBody>
                  <a:tcPr anchor="ctr"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  <a:ea typeface="AppleGothic"/>
                        </a:rPr>
                        <a:t>조건</a:t>
                      </a:r>
                    </a:p>
                  </a:txBody>
                  <a:tcPr anchor="ctr">
                    <a:solidFill>
                      <a:srgbClr val="222222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Prior admissibility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known_boundary → BQ, 아니면 affine (Final)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Executor gain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validation RMSE 상대 2% 이상 개선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Unit risk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unit wins ≥60% · worst ratio ≤1.10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실행 규칙 / 거절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승인 route 1개 고정, 아니면 사전 fallback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190500" y="4648200"/>
            <a:ext cx="7239000" cy="838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Arial"/>
                <a:ea typeface="AppleGothic"/>
              </a:rPr>
              <a:t>모든 데이터셋에서 같은 optional module을 켜지 않는다. 공통점은 prior와 residual의 역할을 분리하고, contract가 허용한 executor만 validation에서 승인한다.</a:t>
            </a:r>
          </a:p>
          <a:p>
            <a:pPr algn="l"/>
            <a:r>
              <a:rPr sz="1200" b="0">
                <a:solidFill>
                  <a:srgbClr val="222222"/>
                </a:solidFill>
                <a:latin typeface="Arial"/>
                <a:ea typeface="AppleGothic"/>
              </a:rPr>
              <a:t>Final에서 executor가 승인되지 않으면 contract에 미리 적은 direct·persistence fallback으로 간다.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0500" y="5715000"/>
            <a:ext cx="11525250" cy="209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666666"/>
                </a:solidFill>
                <a:latin typeface="Arial"/>
                <a:ea typeface="AppleGothic"/>
              </a:rPr>
              <a:t>버전 번호 혼동을 피하기 위해 논문과 본 발표에서는 ‘PP-X Algorithm 1’로만 표기한다.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457200" y="6477000"/>
            <a:ext cx="11277600" cy="0"/>
          </a:xfrm>
          <a:prstGeom prst="line">
            <a:avLst/>
          </a:prstGeom>
          <a:ln w="9525">
            <a:solidFill>
              <a:srgbClr val="E8E8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457200" y="6534150"/>
            <a:ext cx="7620000" cy="1333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66666"/>
                </a:solidFill>
                <a:latin typeface="Arial"/>
                <a:ea typeface="AppleGothic"/>
              </a:rPr>
              <a:t>SPS Lab  ·  Prior-Adaptive Extrapolation  ·  PP-X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477500" y="6515100"/>
            <a:ext cx="952500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666666"/>
                </a:solidFill>
                <a:latin typeface="Arial"/>
                <a:ea typeface="AppleGothic"/>
              </a:rPr>
              <a:t>10/19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9050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09550"/>
            <a:ext cx="1123950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222222"/>
                </a:solidFill>
                <a:latin typeface="Arial"/>
                <a:ea typeface="AppleGothic"/>
              </a:rPr>
              <a:t>그래서 외삽에서 무엇이 좋아졌는가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14350"/>
            <a:ext cx="112395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66666"/>
                </a:solidFill>
                <a:latin typeface="Arial"/>
                <a:ea typeface="AppleGothic"/>
              </a:rPr>
              <a:t>현재 retrospective 데이터 안에서 확인된 효과와 아직 주장할 수 없는 범위를 분리한다.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781050"/>
            <a:ext cx="112776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22222"/>
                </a:solidFill>
                <a:latin typeface="Arial"/>
                <a:ea typeface="AppleGothic"/>
              </a:rPr>
              <a:t>비교 대상  하나의 prior나 optional module을 모든 데이터에 항상 켜는 외삽 모델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352550"/>
            <a:ext cx="2647950" cy="3276600"/>
          </a:xfrm>
          <a:prstGeom prst="roundRect">
            <a:avLst>
              <a:gd name="adj" fmla="val 12000"/>
            </a:avLst>
          </a:prstGeom>
          <a:solidFill>
            <a:srgbClr val="E8F1F8"/>
          </a:solidFill>
          <a:ln w="15875">
            <a:solidFill>
              <a:srgbClr val="0072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8650" y="1524000"/>
            <a:ext cx="2305050" cy="285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0072B2"/>
                </a:solidFill>
                <a:latin typeface="Arial"/>
                <a:ea typeface="AppleGothic"/>
              </a:rPr>
              <a:t>① 평균 예측오차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8650" y="2057400"/>
            <a:ext cx="2305050" cy="99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222222"/>
                </a:solidFill>
                <a:latin typeface="Arial"/>
                <a:ea typeface="AppleGothic"/>
              </a:rPr>
              <a:t>각 contract에서 validation이 지지한</a:t>
            </a:r>
          </a:p>
          <a:p>
            <a:pPr algn="ctr"/>
            <a:r>
              <a:rPr sz="1200" b="0">
                <a:solidFill>
                  <a:srgbClr val="222222"/>
                </a:solidFill>
                <a:latin typeface="Arial"/>
                <a:ea typeface="AppleGothic"/>
              </a:rPr>
              <a:t>executor만 선택해, 맞는 구조의</a:t>
            </a:r>
          </a:p>
          <a:p>
            <a:pPr algn="ctr"/>
            <a:r>
              <a:rPr sz="1200" b="0">
                <a:solidFill>
                  <a:srgbClr val="222222"/>
                </a:solidFill>
                <a:latin typeface="Arial"/>
                <a:ea typeface="AppleGothic"/>
              </a:rPr>
              <a:t>외삽 이득은 유지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685800" y="3238500"/>
            <a:ext cx="2190750" cy="0"/>
          </a:xfrm>
          <a:prstGeom prst="line">
            <a:avLst/>
          </a:prstGeom>
          <a:ln w="15875">
            <a:solidFill>
              <a:srgbClr val="E8E8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628650" y="3486150"/>
            <a:ext cx="2305050" cy="723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0072B2"/>
                </a:solidFill>
                <a:latin typeface="Arial"/>
                <a:ea typeface="AppleGothic"/>
              </a:rPr>
              <a:t>개발 결과</a:t>
            </a:r>
          </a:p>
          <a:p>
            <a:pPr algn="ctr"/>
            <a:r>
              <a:rPr sz="1200" b="1">
                <a:solidFill>
                  <a:srgbClr val="0072B2"/>
                </a:solidFill>
                <a:latin typeface="Arial"/>
                <a:ea typeface="AppleGothic"/>
              </a:rPr>
              <a:t>동일예산 최강 비교군 대비 8/9 우세</a:t>
            </a:r>
          </a:p>
          <a:p>
            <a:pPr algn="ctr"/>
            <a:r>
              <a:rPr sz="1200" b="1">
                <a:solidFill>
                  <a:srgbClr val="0072B2"/>
                </a:solidFill>
                <a:latin typeface="Arial"/>
                <a:ea typeface="AppleGothic"/>
              </a:rPr>
              <a:t>paired GM-RMSE 33.8% 감소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33750" y="1352550"/>
            <a:ext cx="2647950" cy="3276600"/>
          </a:xfrm>
          <a:prstGeom prst="roundRect">
            <a:avLst>
              <a:gd name="adj" fmla="val 12000"/>
            </a:avLst>
          </a:prstGeom>
          <a:solidFill>
            <a:srgbClr val="F5F5F5"/>
          </a:solidFill>
          <a:ln w="15875">
            <a:solidFill>
              <a:srgbClr val="2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05200" y="1524000"/>
            <a:ext cx="2305050" cy="285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222222"/>
                </a:solidFill>
                <a:latin typeface="Arial"/>
                <a:ea typeface="AppleGothic"/>
              </a:rPr>
              <a:t>② 전역 적용 붕괴 방지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05200" y="2057400"/>
            <a:ext cx="2305050" cy="99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222222"/>
                </a:solidFill>
                <a:latin typeface="Arial"/>
                <a:ea typeface="AppleGothic"/>
              </a:rPr>
              <a:t>모든 셋에 같은 bound·scale을</a:t>
            </a:r>
          </a:p>
          <a:p>
            <a:pPr algn="ctr"/>
            <a:r>
              <a:rPr sz="1200" b="0">
                <a:solidFill>
                  <a:srgbClr val="222222"/>
                </a:solidFill>
                <a:latin typeface="Arial"/>
                <a:ea typeface="AppleGothic"/>
              </a:rPr>
              <a:t>항상 켜지 않고, 해당 contract에서</a:t>
            </a:r>
          </a:p>
          <a:p>
            <a:pPr algn="ctr"/>
            <a:r>
              <a:rPr sz="1200" b="0">
                <a:solidFill>
                  <a:srgbClr val="222222"/>
                </a:solidFill>
                <a:latin typeface="Arial"/>
                <a:ea typeface="AppleGothic"/>
              </a:rPr>
              <a:t>지지된 executor만 최종 route에 포함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3562350" y="3238500"/>
            <a:ext cx="2190750" cy="0"/>
          </a:xfrm>
          <a:prstGeom prst="line">
            <a:avLst/>
          </a:prstGeom>
          <a:ln w="15875">
            <a:solidFill>
              <a:srgbClr val="E8E8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3505200" y="3486150"/>
            <a:ext cx="2305050" cy="723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222222"/>
                </a:solidFill>
                <a:latin typeface="Arial"/>
                <a:ea typeface="AppleGothic"/>
              </a:rPr>
              <a:t>직접 반례</a:t>
            </a:r>
          </a:p>
          <a:p>
            <a:pPr algn="ctr"/>
            <a:r>
              <a:rPr sz="1200" b="1">
                <a:solidFill>
                  <a:srgbClr val="222222"/>
                </a:solidFill>
                <a:latin typeface="Arial"/>
                <a:ea typeface="AppleGothic"/>
              </a:rPr>
              <a:t>MICH fixed bound ΔR² −.291</a:t>
            </a:r>
          </a:p>
          <a:p>
            <a:pPr algn="ctr"/>
            <a:r>
              <a:rPr sz="1200" b="1">
                <a:solidFill>
                  <a:srgbClr val="222222"/>
                </a:solidFill>
                <a:latin typeface="Arial"/>
                <a:ea typeface="AppleGothic"/>
              </a:rPr>
              <a:t>RWTH dual-scale ΔR² −.037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0300" y="1352550"/>
            <a:ext cx="2647950" cy="3276600"/>
          </a:xfrm>
          <a:prstGeom prst="roundRect">
            <a:avLst>
              <a:gd name="adj" fmla="val 12000"/>
            </a:avLst>
          </a:prstGeom>
          <a:solidFill>
            <a:srgbClr val="FDF4E3"/>
          </a:solidFill>
          <a:ln w="15875">
            <a:solidFill>
              <a:srgbClr val="E69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81750" y="1524000"/>
            <a:ext cx="2305050" cy="285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E69F00"/>
                </a:solidFill>
                <a:latin typeface="Arial"/>
                <a:ea typeface="AppleGothic"/>
              </a:rPr>
              <a:t>③ 유닛 단위 안정성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81750" y="2057400"/>
            <a:ext cx="2305050" cy="99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222222"/>
                </a:solidFill>
                <a:latin typeface="Arial"/>
                <a:ea typeface="AppleGothic"/>
              </a:rPr>
              <a:t>평균 RMSE만 보지 않고 unit wins와</a:t>
            </a:r>
          </a:p>
          <a:p>
            <a:pPr algn="ctr"/>
            <a:r>
              <a:rPr sz="1200" b="0">
                <a:solidFill>
                  <a:srgbClr val="222222"/>
                </a:solidFill>
                <a:latin typeface="Arial"/>
                <a:ea typeface="AppleGothic"/>
              </a:rPr>
              <a:t>worst-unit ratio를 승인 조건에 포함해</a:t>
            </a:r>
          </a:p>
          <a:p>
            <a:pPr algn="ctr"/>
            <a:r>
              <a:rPr sz="1200" b="0">
                <a:solidFill>
                  <a:srgbClr val="222222"/>
                </a:solidFill>
                <a:latin typeface="Arial"/>
                <a:ea typeface="AppleGothic"/>
              </a:rPr>
              <a:t>일부 설비에 손해가 몰리는 route 제한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6438900" y="3238500"/>
            <a:ext cx="2190750" cy="0"/>
          </a:xfrm>
          <a:prstGeom prst="line">
            <a:avLst/>
          </a:prstGeom>
          <a:ln w="15875">
            <a:solidFill>
              <a:srgbClr val="E8E8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6381750" y="3486150"/>
            <a:ext cx="2305050" cy="723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E69F00"/>
                </a:solidFill>
                <a:latin typeface="Arial"/>
                <a:ea typeface="AppleGothic"/>
              </a:rPr>
              <a:t>직접 근거</a:t>
            </a:r>
          </a:p>
          <a:p>
            <a:pPr algn="ctr"/>
            <a:r>
              <a:rPr sz="1200" b="1">
                <a:solidFill>
                  <a:srgbClr val="E69F00"/>
                </a:solidFill>
                <a:latin typeface="Arial"/>
                <a:ea typeface="AppleGothic"/>
              </a:rPr>
              <a:t>HUST transport 15/16 unit 개선</a:t>
            </a:r>
          </a:p>
          <a:p>
            <a:pPr algn="ctr"/>
            <a:r>
              <a:rPr sz="1200" b="1">
                <a:solidFill>
                  <a:srgbClr val="E69F00"/>
                </a:solidFill>
                <a:latin typeface="Arial"/>
                <a:ea typeface="AppleGothic"/>
              </a:rPr>
              <a:t>MICH dual-scale 7/8 unit 개선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086850" y="1352550"/>
            <a:ext cx="2647950" cy="3276600"/>
          </a:xfrm>
          <a:prstGeom prst="roundRect">
            <a:avLst>
              <a:gd name="adj" fmla="val 12000"/>
            </a:avLst>
          </a:prstGeom>
          <a:solidFill>
            <a:srgbClr val="F5F5F5"/>
          </a:solidFill>
          <a:ln w="15875">
            <a:solidFill>
              <a:srgbClr val="2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258300" y="1524000"/>
            <a:ext cx="2305050" cy="285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222222"/>
                </a:solidFill>
                <a:latin typeface="Arial"/>
                <a:ea typeface="AppleGothic"/>
              </a:rPr>
              <a:t>④ 잘못된 승인 감소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58300" y="2057400"/>
            <a:ext cx="2305050" cy="99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222222"/>
                </a:solidFill>
                <a:latin typeface="Arial"/>
                <a:ea typeface="AppleGothic"/>
              </a:rPr>
              <a:t>12-domain common-backbone audit에서</a:t>
            </a:r>
          </a:p>
          <a:p>
            <a:pPr algn="ctr"/>
            <a:r>
              <a:rPr sz="1200" b="0">
                <a:solidFill>
                  <a:srgbClr val="222222"/>
                </a:solidFill>
                <a:latin typeface="Arial"/>
                <a:ea typeface="AppleGothic"/>
              </a:rPr>
              <a:t>unit-gain CI 조건을 추가해</a:t>
            </a:r>
          </a:p>
          <a:p>
            <a:pPr algn="ctr"/>
            <a:r>
              <a:rPr sz="1200" b="0">
                <a:solidFill>
                  <a:srgbClr val="222222"/>
                </a:solidFill>
                <a:latin typeface="Arial"/>
                <a:ea typeface="AppleGothic"/>
              </a:rPr>
              <a:t>근거가 약한 prior 승인을 걸러냄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9315450" y="3238500"/>
            <a:ext cx="2190750" cy="0"/>
          </a:xfrm>
          <a:prstGeom prst="line">
            <a:avLst/>
          </a:prstGeom>
          <a:ln w="15875">
            <a:solidFill>
              <a:srgbClr val="E8E8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9258300" y="3486150"/>
            <a:ext cx="2305050" cy="723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222222"/>
                </a:solidFill>
                <a:latin typeface="Arial"/>
                <a:ea typeface="AppleGothic"/>
              </a:rPr>
              <a:t>retrospective policy audit</a:t>
            </a:r>
          </a:p>
          <a:p>
            <a:pPr algn="ctr"/>
            <a:r>
              <a:rPr sz="1200" b="1">
                <a:solidFill>
                  <a:srgbClr val="222222"/>
                </a:solidFill>
                <a:latin typeface="Arial"/>
                <a:ea typeface="AppleGothic"/>
              </a:rPr>
              <a:t>false accept 2 → 0</a:t>
            </a:r>
          </a:p>
          <a:p>
            <a:pPr algn="ctr"/>
            <a:r>
              <a:rPr sz="1200" b="1">
                <a:solidFill>
                  <a:srgbClr val="222222"/>
                </a:solidFill>
                <a:latin typeface="Arial"/>
                <a:ea typeface="AppleGothic"/>
              </a:rPr>
              <a:t>선택 정확도 .667 → .833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57200" y="4953000"/>
            <a:ext cx="11277600" cy="781050"/>
          </a:xfrm>
          <a:prstGeom prst="roundRect">
            <a:avLst>
              <a:gd name="adj" fmla="val 12000"/>
            </a:avLst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66750" y="5067300"/>
            <a:ext cx="10858500" cy="53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  <a:ea typeface="AppleGothic"/>
              </a:rPr>
              <a:t>기여 효과  현재 평가 데이터셋에서 PP-X는 validation이 지지한 구조만 실행해 전역 prior/executor의 성능 붕괴를 줄이고, 평균 오차와 unit-level risk를 함께 관리했다.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5829300"/>
            <a:ext cx="11277600" cy="209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9B1C1C"/>
                </a:solidFill>
                <a:latin typeface="Arial"/>
                <a:ea typeface="AppleGothic"/>
              </a:rPr>
              <a:t>범위  위 수치는 retrospective evidence다. 보지 않은 미래 cohort에서 같은 실패 감소를 보장한다는 주장은 하지 않는다.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457200" y="6477000"/>
            <a:ext cx="11277600" cy="0"/>
          </a:xfrm>
          <a:prstGeom prst="line">
            <a:avLst/>
          </a:prstGeom>
          <a:ln w="9525">
            <a:solidFill>
              <a:srgbClr val="E8E8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457200" y="6534150"/>
            <a:ext cx="7620000" cy="1333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66666"/>
                </a:solidFill>
                <a:latin typeface="Arial"/>
                <a:ea typeface="AppleGothic"/>
              </a:rPr>
              <a:t>SPS Lab  ·  Prior-Adaptive Extrapolation  ·  PP-X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477500" y="6515100"/>
            <a:ext cx="952500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666666"/>
                </a:solidFill>
                <a:latin typeface="Arial"/>
                <a:ea typeface="AppleGothic"/>
              </a:rPr>
              <a:t>11/19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9050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09550"/>
            <a:ext cx="1123950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222222"/>
                </a:solidFill>
                <a:latin typeface="Arial"/>
                <a:ea typeface="AppleGothic"/>
              </a:rPr>
              <a:t>외삽 구간을 어떻게 정하는가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14350"/>
            <a:ext cx="112395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66666"/>
                </a:solidFill>
                <a:latin typeface="Arial"/>
                <a:ea typeface="AppleGothic"/>
              </a:rPr>
              <a:t>학습이 본 건강 범위보다 더 진행된 관측만 점수로 친다</a:t>
            </a:r>
          </a:p>
        </p:txBody>
      </p:sp>
      <p:pic>
        <p:nvPicPr>
          <p:cNvPr id="6" name="Picture 5" descr="extrapolation_cu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900" y="819150"/>
            <a:ext cx="6858000" cy="3333750"/>
          </a:xfrm>
          <a:prstGeom prst="rect">
            <a:avLst/>
          </a:prstGeom>
        </p:spPr>
      </p:pic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334250" y="838200"/>
          <a:ext cx="4400550" cy="33337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00275"/>
                <a:gridCol w="2200275"/>
              </a:tblGrid>
              <a:tr h="416718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  <a:ea typeface="AppleGothic"/>
                        </a:rPr>
                        <a:t>절차</a:t>
                      </a:r>
                    </a:p>
                  </a:txBody>
                  <a:tcPr anchor="ctr"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  <a:ea typeface="AppleGothic"/>
                        </a:rPr>
                        <a:t>내용</a:t>
                      </a:r>
                    </a:p>
                  </a:txBody>
                  <a:tcPr anchor="ctr">
                    <a:solidFill>
                      <a:srgbClr val="222222"/>
                    </a:solidFill>
                  </a:tcPr>
                </a:tc>
              </a:tr>
              <a:tr h="416718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경계, 유닛, 시간, 입력, 외삽 좌표를 먼저 고정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16718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2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학습·검증·시험에 같은 유닛을 넣지 않음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416718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학습에는 본 적 있는 건강 구간만 사용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16718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4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검증·시험에는 그 범위 밖 관측만 남김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416718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정규화 통계는 학습 분할에서만 계산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16718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6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모델과 executor는 검증에서만 선택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416724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고정한 시험 분할은 한 번만 예측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342900" y="4305300"/>
            <a:ext cx="11430000" cy="952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22222"/>
                </a:solidFill>
                <a:latin typeface="Arial"/>
                <a:ea typeface="AppleGothic"/>
              </a:rPr>
              <a:t>세로선은 학습에서 관측한 최저 건강이다. 그보다 더 나빠진 구간(오른쪽)만 검증·시험 점수에 넣는다.</a:t>
            </a:r>
          </a:p>
          <a:p>
            <a:pPr algn="l"/>
            <a:r>
              <a:rPr sz="1300" b="0">
                <a:solidFill>
                  <a:srgbClr val="222222"/>
                </a:solidFill>
                <a:latin typeface="Arial"/>
                <a:ea typeface="AppleGothic"/>
              </a:rPr>
              <a:t>같은 유닛의 미래 값, 최종 수명, 시험 궤적에서 만든 통계는 입력에 쓰지 않는다. 이 조건을 어기면 내삽 평가가 된다.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2900" y="5353050"/>
            <a:ext cx="11430000" cy="266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66666"/>
                </a:solidFill>
                <a:latin typeface="Arial"/>
                <a:ea typeface="AppleGothic"/>
              </a:rPr>
              <a:t>자르는 규칙은 같다. 외삽 geometry는 셋마다 다르므로 다음 장에서 1D와 다차원을 구분해 적는다.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457200" y="6477000"/>
            <a:ext cx="11277600" cy="0"/>
          </a:xfrm>
          <a:prstGeom prst="line">
            <a:avLst/>
          </a:prstGeom>
          <a:ln w="9525">
            <a:solidFill>
              <a:srgbClr val="E8E8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457200" y="6534150"/>
            <a:ext cx="7620000" cy="1333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66666"/>
                </a:solidFill>
                <a:latin typeface="Arial"/>
                <a:ea typeface="AppleGothic"/>
              </a:rPr>
              <a:t>SPS Lab  ·  Prior-Adaptive Extrapolation  ·  PP-X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477500" y="6515100"/>
            <a:ext cx="952500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666666"/>
                </a:solidFill>
                <a:latin typeface="Arial"/>
                <a:ea typeface="AppleGothic"/>
              </a:rPr>
              <a:t>12/19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9050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09550"/>
            <a:ext cx="1123950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222222"/>
                </a:solidFill>
                <a:latin typeface="Arial"/>
                <a:ea typeface="AppleGothic"/>
              </a:rPr>
              <a:t>프로토콜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14350"/>
            <a:ext cx="112395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66666"/>
                </a:solidFill>
                <a:latin typeface="Arial"/>
                <a:ea typeface="AppleGothic"/>
              </a:rPr>
              <a:t>점수는 이 범위 안에서만 읽는다  ·  적합도는 허가증이지 성적표가 아니다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952500"/>
          <a:ext cx="11277600" cy="23812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59200"/>
                <a:gridCol w="3759200"/>
                <a:gridCol w="3759200"/>
              </a:tblGrid>
              <a:tr h="476250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  <a:ea typeface="AppleGothic"/>
                        </a:rPr>
                        <a:t>규칙</a:t>
                      </a:r>
                    </a:p>
                  </a:txBody>
                  <a:tcPr anchor="ctr"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  <a:ea typeface="AppleGothic"/>
                        </a:rPr>
                        <a:t>의미</a:t>
                      </a:r>
                    </a:p>
                  </a:txBody>
                  <a:tcPr anchor="ctr"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  <a:ea typeface="AppleGothic"/>
                        </a:rPr>
                        <a:t>깨지면</a:t>
                      </a:r>
                    </a:p>
                  </a:txBody>
                  <a:tcPr anchor="ctr">
                    <a:solidFill>
                      <a:srgbClr val="222222"/>
                    </a:solidFill>
                  </a:tcPr>
                </a:tc>
              </a:tr>
              <a:tr h="47625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unit-disjoint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train / val / test 셀이 겹치지 않음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같은 유닛 누수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7625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hull-out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선언한 1D 열화좌표에서 test가 train 밖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내삽으로 바뀜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47625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val-only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게이트·보정을 val에서만 고름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test로 튜닝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7625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Pass / Weak / Fail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운행 허가. Fail이면 예측을 옮기지 않음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억지 점수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3619500"/>
          <a:ext cx="5524500" cy="2095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62250"/>
                <a:gridCol w="2762250"/>
              </a:tblGrid>
              <a:tr h="523875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  <a:ea typeface="AppleGothic"/>
                        </a:rPr>
                        <a:t>In scope</a:t>
                      </a:r>
                    </a:p>
                  </a:txBody>
                  <a:tcPr anchor="ctr"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  <a:ea typeface="AppleGothic"/>
                        </a:rPr>
                        <a:t>예</a:t>
                      </a:r>
                    </a:p>
                  </a:txBody>
                  <a:tcPr anchor="ctr">
                    <a:solidFill>
                      <a:srgbClr val="222222"/>
                    </a:solidFill>
                  </a:tcPr>
                </a:tc>
              </a:tr>
              <a:tr h="523875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1D late-tail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Sun · RWTH · MICH · MATR2019 · NASA · Virkler · HUST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23875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1D + 다차원 설명 필요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MATRb2 · N-CMAPSS (PCA2는 0%)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523875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executor 선택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train/val · group-LOO only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210300" y="3619500"/>
          <a:ext cx="5524500" cy="2095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62250"/>
                <a:gridCol w="2762250"/>
              </a:tblGrid>
              <a:tr h="523875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  <a:ea typeface="AppleGothic"/>
                        </a:rPr>
                        <a:t>오늘 표에 없음</a:t>
                      </a:r>
                    </a:p>
                  </a:txBody>
                  <a:tcPr anchor="ctr"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  <a:ea typeface="AppleGothic"/>
                        </a:rPr>
                        <a:t>이유</a:t>
                      </a:r>
                    </a:p>
                  </a:txBody>
                  <a:tcPr anchor="ctr">
                    <a:solidFill>
                      <a:srgbClr val="222222"/>
                    </a:solidFill>
                  </a:tcPr>
                </a:tc>
              </a:tr>
              <a:tr h="523875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전체 feature hull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1D 100% ≠ 다차원 hull 밖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23875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도메인 / 재료 transfer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조건·끝점·재질 이동은 다른 종류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523875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C-MAPSS FD002/004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조건 hull은 강하나 이번 주표 밖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cxnSp>
        <p:nvCxnSpPr>
          <p:cNvPr id="9" name="Connector 8"/>
          <p:cNvCxnSpPr/>
          <p:nvPr/>
        </p:nvCxnSpPr>
        <p:spPr>
          <a:xfrm>
            <a:off x="457200" y="6477000"/>
            <a:ext cx="11277600" cy="0"/>
          </a:xfrm>
          <a:prstGeom prst="line">
            <a:avLst/>
          </a:prstGeom>
          <a:ln w="9525">
            <a:solidFill>
              <a:srgbClr val="E8E8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457200" y="6534150"/>
            <a:ext cx="7620000" cy="1333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66666"/>
                </a:solidFill>
                <a:latin typeface="Arial"/>
                <a:ea typeface="AppleGothic"/>
              </a:rPr>
              <a:t>SPS Lab  ·  Prior-Adaptive Extrapolation  ·  PP-X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477500" y="6515100"/>
            <a:ext cx="952500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666666"/>
                </a:solidFill>
                <a:latin typeface="Arial"/>
                <a:ea typeface="AppleGothic"/>
              </a:rPr>
              <a:t>13/42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9050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09550"/>
            <a:ext cx="1123950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222222"/>
                </a:solidFill>
                <a:latin typeface="Arial"/>
                <a:ea typeface="AppleGothic"/>
              </a:rPr>
              <a:t>주 결과 — 최종 PP-X portfolio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14350"/>
            <a:ext cx="112395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66666"/>
                </a:solidFill>
                <a:latin typeface="Arial"/>
                <a:ea typeface="AppleGothic"/>
              </a:rPr>
              <a:t>1D 열화좌표 기준의 엄격한 외삽만.  retrospective development 결과  ·  PAE 없음</a:t>
            </a:r>
          </a:p>
        </p:txBody>
      </p:sp>
      <p:pic>
        <p:nvPicPr>
          <p:cNvPr id="6" name="Picture 5" descr="ppx_portfoli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750" y="781050"/>
            <a:ext cx="6477000" cy="3714750"/>
          </a:xfrm>
          <a:prstGeom prst="rect">
            <a:avLst/>
          </a:prstGeom>
        </p:spPr>
      </p:pic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858000" y="838200"/>
          <a:ext cx="487680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25600"/>
                <a:gridCol w="1625600"/>
                <a:gridCol w="1625600"/>
              </a:tblGrid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  <a:ea typeface="AppleGothic"/>
                        </a:rPr>
                        <a:t>셋</a:t>
                      </a:r>
                    </a:p>
                  </a:txBody>
                  <a:tcPr anchor="ctr"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  <a:ea typeface="AppleGothic"/>
                        </a:rPr>
                        <a:t>Executor</a:t>
                      </a:r>
                    </a:p>
                  </a:txBody>
                  <a:tcPr anchor="ctr"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  <a:ea typeface="AppleGothic"/>
                        </a:rPr>
                        <a:t>R²</a:t>
                      </a:r>
                    </a:p>
                  </a:txBody>
                  <a:tcPr anchor="ctr">
                    <a:solidFill>
                      <a:srgbClr val="22222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222222"/>
                          </a:solidFill>
                          <a:latin typeface="Arial"/>
                        </a:rPr>
                        <a:t>HUST</a:t>
                      </a:r>
                    </a:p>
                    <a:p>
                      <a:pPr algn="l"/>
                      <a:r>
                        <a:rPr sz="850" b="1">
                          <a:solidFill>
                            <a:srgbClr val="222222"/>
                          </a:solidFill>
                          <a:latin typeface="Arial"/>
                        </a:rPr>
                        <a:t>화중 배터리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transport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0.958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222222"/>
                          </a:solidFill>
                          <a:latin typeface="Arial"/>
                        </a:rPr>
                        <a:t>Sunwoda</a:t>
                      </a:r>
                    </a:p>
                    <a:p>
                      <a:pPr algn="l"/>
                      <a:r>
                        <a:rPr sz="850" b="1">
                          <a:solidFill>
                            <a:srgbClr val="222222"/>
                          </a:solidFill>
                          <a:latin typeface="Arial"/>
                        </a:rPr>
                        <a:t>선우다 상용셀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fixed BQ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0.939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222222"/>
                          </a:solidFill>
                          <a:latin typeface="Arial"/>
                        </a:rPr>
                        <a:t>N-CMAPSS</a:t>
                      </a:r>
                    </a:p>
                    <a:p>
                      <a:pPr algn="l"/>
                      <a:r>
                        <a:rPr sz="850" b="1">
                          <a:solidFill>
                            <a:srgbClr val="222222"/>
                          </a:solidFill>
                          <a:latin typeface="Arial"/>
                        </a:rPr>
                        <a:t>항공기 엔진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multiscale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0.937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222222"/>
                          </a:solidFill>
                          <a:latin typeface="Arial"/>
                        </a:rPr>
                        <a:t>Virkler</a:t>
                      </a:r>
                    </a:p>
                    <a:p>
                      <a:pPr algn="l"/>
                      <a:r>
                        <a:rPr sz="850" b="1">
                          <a:solidFill>
                            <a:srgbClr val="222222"/>
                          </a:solidFill>
                          <a:latin typeface="Arial"/>
                        </a:rPr>
                        <a:t>알루미늄 균열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gated residual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0.888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222222"/>
                          </a:solidFill>
                          <a:latin typeface="Arial"/>
                        </a:rPr>
                        <a:t>RWTH</a:t>
                      </a:r>
                    </a:p>
                    <a:p>
                      <a:pPr algn="l"/>
                      <a:r>
                        <a:rPr sz="850" b="1">
                          <a:solidFill>
                            <a:srgbClr val="222222"/>
                          </a:solidFill>
                          <a:latin typeface="Arial"/>
                        </a:rPr>
                        <a:t>아헨 배터리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fixed BQ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0.878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222222"/>
                          </a:solidFill>
                          <a:latin typeface="Arial"/>
                        </a:rPr>
                        <a:t>MATR batch2</a:t>
                      </a:r>
                    </a:p>
                    <a:p>
                      <a:pPr algn="l"/>
                      <a:r>
                        <a:rPr sz="850" b="1">
                          <a:solidFill>
                            <a:srgbClr val="222222"/>
                          </a:solidFill>
                          <a:latin typeface="Arial"/>
                        </a:rPr>
                        <a:t>MIT 배치2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decay+transport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0.862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222222"/>
                          </a:solidFill>
                          <a:latin typeface="Arial"/>
                        </a:rPr>
                        <a:t>MICH</a:t>
                      </a:r>
                    </a:p>
                    <a:p>
                      <a:pPr algn="l"/>
                      <a:r>
                        <a:rPr sz="850" b="1">
                          <a:solidFill>
                            <a:srgbClr val="222222"/>
                          </a:solidFill>
                          <a:latin typeface="Arial"/>
                        </a:rPr>
                        <a:t>미시간 배터리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dual-scale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0.751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222222"/>
                          </a:solidFill>
                          <a:latin typeface="Arial"/>
                        </a:rPr>
                        <a:t>NASA PCoE</a:t>
                      </a:r>
                    </a:p>
                    <a:p>
                      <a:pPr algn="l"/>
                      <a:r>
                        <a:rPr sz="850" b="1">
                          <a:solidFill>
                            <a:srgbClr val="222222"/>
                          </a:solidFill>
                          <a:latin typeface="Arial"/>
                        </a:rPr>
                        <a:t>NASA 실험셀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multiscale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0.584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222222"/>
                          </a:solidFill>
                          <a:latin typeface="Arial"/>
                        </a:rPr>
                        <a:t>MATR 2019</a:t>
                      </a:r>
                    </a:p>
                    <a:p>
                      <a:pPr algn="l"/>
                      <a:r>
                        <a:rPr sz="850" b="1">
                          <a:solidFill>
                            <a:srgbClr val="222222"/>
                          </a:solidFill>
                          <a:latin typeface="Arial"/>
                        </a:rPr>
                        <a:t>MIT 2019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affine latent-regime + Val calibration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0.466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342900" y="4648200"/>
            <a:ext cx="3810000" cy="1600200"/>
          </a:xfrm>
          <a:prstGeom prst="roundRect">
            <a:avLst>
              <a:gd name="adj" fmla="val 12000"/>
            </a:avLst>
          </a:prstGeom>
          <a:solidFill>
            <a:srgbClr val="E8F1F8"/>
          </a:solidFill>
          <a:ln w="15875">
            <a:solidFill>
              <a:srgbClr val="0072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42900" y="4648200"/>
            <a:ext cx="76200" cy="1600200"/>
          </a:xfrm>
          <a:prstGeom prst="rect">
            <a:avLst/>
          </a:prstGeom>
          <a:solidFill>
            <a:srgbClr val="0072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33400" y="4743450"/>
            <a:ext cx="3429000" cy="209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72B2"/>
                </a:solidFill>
                <a:latin typeface="Arial"/>
                <a:ea typeface="AppleGothic"/>
              </a:rPr>
              <a:t>Li 배터리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3400" y="4991100"/>
            <a:ext cx="342900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Arial"/>
                <a:ea typeface="AppleGothic"/>
              </a:rPr>
              <a:t>화중·선우다·아헨·미시간 리튬셀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Arial"/>
                <a:ea typeface="AppleGothic"/>
              </a:rPr>
              <a:t>MIT 수명 벤치 (2019 / 배치2)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Arial"/>
                <a:ea typeface="AppleGothic"/>
              </a:rPr>
              <a:t>NASA 실험용 18650  (로켓 아님)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05300" y="4648200"/>
            <a:ext cx="3619500" cy="1600200"/>
          </a:xfrm>
          <a:prstGeom prst="roundRect">
            <a:avLst>
              <a:gd name="adj" fmla="val 12000"/>
            </a:avLst>
          </a:prstGeom>
          <a:solidFill>
            <a:srgbClr val="F5F5F5"/>
          </a:solidFill>
          <a:ln w="15875">
            <a:solidFill>
              <a:srgbClr val="2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05300" y="4648200"/>
            <a:ext cx="76200" cy="1600200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95800" y="4743450"/>
            <a:ext cx="3238500" cy="209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22222"/>
                </a:solidFill>
                <a:latin typeface="Arial"/>
                <a:ea typeface="AppleGothic"/>
              </a:rPr>
              <a:t>균열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95800" y="4991100"/>
            <a:ext cx="3238500" cy="1047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Arial"/>
                <a:ea typeface="AppleGothic"/>
              </a:rPr>
              <a:t>알루미늄 판에 금이 감</a:t>
            </a:r>
          </a:p>
          <a:p>
            <a:pPr algn="l"/>
            <a:r>
              <a:rPr sz="1200" b="0">
                <a:solidFill>
                  <a:srgbClr val="222222"/>
                </a:solidFill>
                <a:latin typeface="Arial"/>
                <a:ea typeface="AppleGothic"/>
              </a:rPr>
              <a:t>항공기 재료 피로실험</a:t>
            </a:r>
          </a:p>
          <a:p>
            <a:pPr algn="l"/>
            <a:r>
              <a:rPr sz="1200" b="0">
                <a:solidFill>
                  <a:srgbClr val="222222"/>
                </a:solidFill>
                <a:latin typeface="Arial"/>
                <a:ea typeface="AppleGothic"/>
              </a:rPr>
              <a:t>배터리 아님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77200" y="4648200"/>
            <a:ext cx="3771900" cy="1600200"/>
          </a:xfrm>
          <a:prstGeom prst="roundRect">
            <a:avLst>
              <a:gd name="adj" fmla="val 12000"/>
            </a:avLst>
          </a:prstGeom>
          <a:solidFill>
            <a:srgbClr val="FDF4E3"/>
          </a:solidFill>
          <a:ln w="15875">
            <a:solidFill>
              <a:srgbClr val="E69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77200" y="4648200"/>
            <a:ext cx="76200" cy="1600200"/>
          </a:xfrm>
          <a:prstGeom prst="rect">
            <a:avLst/>
          </a:prstGeom>
          <a:solidFill>
            <a:srgbClr val="E69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67700" y="4743450"/>
            <a:ext cx="3390900" cy="209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E69F00"/>
                </a:solidFill>
                <a:latin typeface="Arial"/>
                <a:ea typeface="AppleGothic"/>
              </a:rPr>
              <a:t>엔진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67700" y="4991100"/>
            <a:ext cx="3390900" cy="1047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Arial"/>
                <a:ea typeface="AppleGothic"/>
              </a:rPr>
              <a:t>항공기 엔진 시뮬레이터</a:t>
            </a:r>
          </a:p>
          <a:p>
            <a:pPr algn="l"/>
            <a:r>
              <a:rPr sz="1200" b="0">
                <a:solidFill>
                  <a:srgbClr val="222222"/>
                </a:solidFill>
                <a:latin typeface="Arial"/>
                <a:ea typeface="AppleGothic"/>
              </a:rPr>
              <a:t>처음 보는 비행조건</a:t>
            </a:r>
          </a:p>
          <a:p>
            <a:pPr algn="l"/>
            <a:r>
              <a:rPr sz="1200" b="0">
                <a:solidFill>
                  <a:srgbClr val="222222"/>
                </a:solidFill>
                <a:latin typeface="Arial"/>
                <a:ea typeface="AppleGothic"/>
              </a:rPr>
              <a:t>실제 비행기 데이터가 아님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457200" y="6477000"/>
            <a:ext cx="11277600" cy="0"/>
          </a:xfrm>
          <a:prstGeom prst="line">
            <a:avLst/>
          </a:prstGeom>
          <a:ln w="9525">
            <a:solidFill>
              <a:srgbClr val="E8E8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457200" y="6534150"/>
            <a:ext cx="7620000" cy="1333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66666"/>
                </a:solidFill>
                <a:latin typeface="Arial"/>
                <a:ea typeface="AppleGothic"/>
              </a:rPr>
              <a:t>SPS Lab  ·  Prior-Adaptive Extrapolation  ·  PP-X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477500" y="6515100"/>
            <a:ext cx="952500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666666"/>
                </a:solidFill>
                <a:latin typeface="Arial"/>
                <a:ea typeface="AppleGothic"/>
              </a:rPr>
              <a:t>13/19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9050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09550"/>
            <a:ext cx="1123950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222222"/>
                </a:solidFill>
                <a:latin typeface="Arial"/>
                <a:ea typeface="AppleGothic"/>
              </a:rPr>
              <a:t>Ablation — dual-scale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14350"/>
            <a:ext cx="112395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66666"/>
                </a:solidFill>
                <a:latin typeface="Arial"/>
                <a:ea typeface="AppleGothic"/>
              </a:rPr>
              <a:t>executor 하나  ·  모든 데이터에 켜는 기본값이 아니다</a:t>
            </a:r>
          </a:p>
        </p:txBody>
      </p:sp>
      <p:pic>
        <p:nvPicPr>
          <p:cNvPr id="6" name="Picture 5" descr="ablation_pan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781050"/>
            <a:ext cx="11734800" cy="409575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953000"/>
            <a:ext cx="5524500" cy="8572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22222"/>
                </a:solidFill>
                <a:latin typeface="Arial"/>
                <a:ea typeface="AppleGothic"/>
              </a:rPr>
              <a:t>(a) 결론  고정 bound는 Sun·RWTH에서는 높지만 MICH를 0.468에 묶는다. dual-scale을 켠 뒤에야 MICH가 0.751이 된다.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86500" y="4953000"/>
            <a:ext cx="5448300" cy="8572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22222"/>
                </a:solidFill>
                <a:latin typeface="Arial"/>
                <a:ea typeface="AppleGothic"/>
              </a:rPr>
              <a:t>(b) 결론  평균을 조금 낮추고 최저 점수를 올린 선택이다. 데이터별 최고점을 모은 모델이 아니다.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457200" y="6477000"/>
            <a:ext cx="11277600" cy="0"/>
          </a:xfrm>
          <a:prstGeom prst="line">
            <a:avLst/>
          </a:prstGeom>
          <a:ln w="9525">
            <a:solidFill>
              <a:srgbClr val="E8E8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457200" y="6534150"/>
            <a:ext cx="7620000" cy="1333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66666"/>
                </a:solidFill>
                <a:latin typeface="Arial"/>
                <a:ea typeface="AppleGothic"/>
              </a:rPr>
              <a:t>SPS Lab  ·  Prior-Adaptive Extrapolation  ·  PP-X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477500" y="6515100"/>
            <a:ext cx="952500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666666"/>
                </a:solidFill>
                <a:latin typeface="Arial"/>
                <a:ea typeface="AppleGothic"/>
              </a:rPr>
              <a:t>15/42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9050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09550"/>
            <a:ext cx="1123950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222222"/>
                </a:solidFill>
                <a:latin typeface="Arial"/>
                <a:ea typeface="AppleGothic"/>
              </a:rPr>
              <a:t>수식 1 — Final prior는 BQ 또는 affine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14350"/>
            <a:ext cx="112395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66666"/>
                </a:solidFill>
                <a:latin typeface="Arial"/>
                <a:ea typeface="AppleGothic"/>
              </a:rPr>
              <a:t>known_boundary가 prior 함수형만 고른다. 둘 다 ON이며 residual 후보 학습으로 이어진다.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23875" y="1000125"/>
            <a:ext cx="5238750" cy="3810000"/>
          </a:xfrm>
          <a:prstGeom prst="roundRect">
            <a:avLst/>
          </a:prstGeom>
          <a:solidFill>
            <a:srgbClr val="E8F1F8"/>
          </a:solidFill>
          <a:ln w="15875">
            <a:solidFill>
              <a:srgbClr val="0072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2000" y="1238250"/>
            <a:ext cx="4762500" cy="3238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0072B2"/>
                </a:solidFill>
                <a:latin typeface="Arial"/>
                <a:ea typeface="AppleGothic"/>
              </a:rPr>
              <a:t>known_boundary = TRUE  →  BQ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1952625"/>
            <a:ext cx="4762500" cy="552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222222"/>
                </a:solidFill>
                <a:latin typeface="Arial"/>
                <a:ea typeface="AppleGothic"/>
              </a:rPr>
              <a:t>m = health − EOL boundary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2647950"/>
            <a:ext cx="4762500" cy="590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100" b="1">
                <a:solidFill>
                  <a:srgbClr val="0072B2"/>
                </a:solidFill>
                <a:latin typeface="Arial"/>
                <a:ea typeface="AppleGothic"/>
              </a:rPr>
              <a:t>ŷprior = m · softplus(q)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7250" y="3524250"/>
            <a:ext cx="4572000" cy="7429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666666"/>
                </a:solidFill>
                <a:latin typeface="Arial"/>
                <a:ea typeface="AppleGothic"/>
              </a:rPr>
              <a:t>경계거리 m을 곱하므로 EOL 경계에서 RUL=0.</a:t>
            </a:r>
          </a:p>
          <a:p>
            <a:pPr algn="ctr"/>
            <a:r>
              <a:rPr sz="1200" b="0">
                <a:solidFill>
                  <a:srgbClr val="666666"/>
                </a:solidFill>
                <a:latin typeface="Arial"/>
                <a:ea typeface="AppleGothic"/>
              </a:rPr>
              <a:t>q는 단위 경계거리당 남은 수명.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29375" y="1000125"/>
            <a:ext cx="5238750" cy="3810000"/>
          </a:xfrm>
          <a:prstGeom prst="roundRect">
            <a:avLst/>
          </a:prstGeom>
          <a:solidFill>
            <a:srgbClr val="FDF4E3"/>
          </a:solidFill>
          <a:ln w="15875">
            <a:solidFill>
              <a:srgbClr val="E69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67500" y="1238250"/>
            <a:ext cx="4762500" cy="3238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E69F00"/>
                </a:solidFill>
                <a:latin typeface="Arial"/>
                <a:ea typeface="AppleGothic"/>
              </a:rPr>
              <a:t>known_boundary = FALSE  →  affine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67500" y="2143125"/>
            <a:ext cx="4762500" cy="590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E69F00"/>
                </a:solidFill>
                <a:latin typeface="Arial"/>
                <a:ea typeface="AppleGothic"/>
              </a:rPr>
              <a:t>ŷprior = wᵀX + 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62750" y="3238500"/>
            <a:ext cx="4572000" cy="8572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666666"/>
                </a:solidFill>
                <a:latin typeface="Arial"/>
                <a:ea typeface="AppleGothic"/>
              </a:rPr>
              <a:t>causal feature X에서 RUL 기본 추세를 Ridge로 학습.</a:t>
            </a:r>
          </a:p>
          <a:p>
            <a:pPr algn="ctr"/>
            <a:r>
              <a:rPr sz="1200" b="0">
                <a:solidFill>
                  <a:srgbClr val="666666"/>
                </a:solidFill>
                <a:latin typeface="Arial"/>
                <a:ea typeface="AppleGothic"/>
              </a:rPr>
              <a:t>경계 0을 강제하지 않는 비경계형 tail.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666875" y="5191125"/>
            <a:ext cx="8858250" cy="666750"/>
          </a:xfrm>
          <a:prstGeom prst="roundRect">
            <a:avLst/>
          </a:prstGeom>
          <a:solidFill>
            <a:srgbClr val="F5F5F5"/>
          </a:solidFill>
          <a:ln w="15875">
            <a:solidFill>
              <a:srgbClr val="2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857375" y="5314950"/>
            <a:ext cx="8477250" cy="400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222222"/>
                </a:solidFill>
                <a:latin typeface="Arial"/>
                <a:ea typeface="AppleGothic"/>
              </a:rPr>
              <a:t>Final prior gate: BQ냐 affine이냐만 결정 · OOF/group/mode 검사 없음 · prior_weight=1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858500" y="6419850"/>
            <a:ext cx="838200" cy="1714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1">
                <a:solidFill>
                  <a:srgbClr val="666666"/>
                </a:solidFill>
                <a:latin typeface="Arial"/>
              </a:rPr>
              <a:t>8/19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9050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09550"/>
            <a:ext cx="1123950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222222"/>
                </a:solidFill>
                <a:latin typeface="Arial"/>
                <a:ea typeface="AppleGothic"/>
              </a:rPr>
              <a:t>수식 1 — Final prior는 BQ 또는 affine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14350"/>
            <a:ext cx="112395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66666"/>
                </a:solidFill>
                <a:latin typeface="Arial"/>
                <a:ea typeface="AppleGothic"/>
              </a:rPr>
              <a:t>known_boundary가 prior 함수형만 고른다. 둘 다 ON이며 residual 후보 학습으로 이어진다.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23875" y="1000125"/>
            <a:ext cx="5238750" cy="3810000"/>
          </a:xfrm>
          <a:prstGeom prst="roundRect">
            <a:avLst/>
          </a:prstGeom>
          <a:solidFill>
            <a:srgbClr val="E8F1F8"/>
          </a:solidFill>
          <a:ln w="15875">
            <a:solidFill>
              <a:srgbClr val="0072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2000" y="1238250"/>
            <a:ext cx="4762500" cy="3238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0072B2"/>
                </a:solidFill>
                <a:latin typeface="Arial"/>
                <a:ea typeface="AppleGothic"/>
              </a:rPr>
              <a:t>known_boundary = TRUE  →  BQ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1952625"/>
            <a:ext cx="4762500" cy="552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222222"/>
                </a:solidFill>
                <a:latin typeface="Arial"/>
                <a:ea typeface="AppleGothic"/>
              </a:rPr>
              <a:t>m = health − EOL boundary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2647950"/>
            <a:ext cx="4762500" cy="590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100" b="1">
                <a:solidFill>
                  <a:srgbClr val="0072B2"/>
                </a:solidFill>
                <a:latin typeface="Arial"/>
                <a:ea typeface="AppleGothic"/>
              </a:rPr>
              <a:t>ŷprior = m · softplus(q)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7250" y="3524250"/>
            <a:ext cx="4572000" cy="7429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666666"/>
                </a:solidFill>
                <a:latin typeface="Arial"/>
                <a:ea typeface="AppleGothic"/>
              </a:rPr>
              <a:t>경계거리 m을 곱하므로 EOL 경계에서 RUL=0.</a:t>
            </a:r>
          </a:p>
          <a:p>
            <a:pPr algn="ctr"/>
            <a:r>
              <a:rPr sz="1200" b="0">
                <a:solidFill>
                  <a:srgbClr val="666666"/>
                </a:solidFill>
                <a:latin typeface="Arial"/>
                <a:ea typeface="AppleGothic"/>
              </a:rPr>
              <a:t>q는 단위 경계거리당 남은 수명.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29375" y="1000125"/>
            <a:ext cx="5238750" cy="3810000"/>
          </a:xfrm>
          <a:prstGeom prst="roundRect">
            <a:avLst/>
          </a:prstGeom>
          <a:solidFill>
            <a:srgbClr val="FDF4E3"/>
          </a:solidFill>
          <a:ln w="15875">
            <a:solidFill>
              <a:srgbClr val="E69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67500" y="1238250"/>
            <a:ext cx="4762500" cy="3238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E69F00"/>
                </a:solidFill>
                <a:latin typeface="Arial"/>
                <a:ea typeface="AppleGothic"/>
              </a:rPr>
              <a:t>known_boundary = FALSE  →  affine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67500" y="2143125"/>
            <a:ext cx="4762500" cy="590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E69F00"/>
                </a:solidFill>
                <a:latin typeface="Arial"/>
                <a:ea typeface="AppleGothic"/>
              </a:rPr>
              <a:t>ŷprior = wᵀX + 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62750" y="3238500"/>
            <a:ext cx="4572000" cy="8572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666666"/>
                </a:solidFill>
                <a:latin typeface="Arial"/>
                <a:ea typeface="AppleGothic"/>
              </a:rPr>
              <a:t>causal feature X에서 RUL 기본 추세를 Ridge로 학습.</a:t>
            </a:r>
          </a:p>
          <a:p>
            <a:pPr algn="ctr"/>
            <a:r>
              <a:rPr sz="1200" b="0">
                <a:solidFill>
                  <a:srgbClr val="666666"/>
                </a:solidFill>
                <a:latin typeface="Arial"/>
                <a:ea typeface="AppleGothic"/>
              </a:rPr>
              <a:t>경계 0을 강제하지 않는 비경계형 tail.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666875" y="5191125"/>
            <a:ext cx="8858250" cy="666750"/>
          </a:xfrm>
          <a:prstGeom prst="roundRect">
            <a:avLst/>
          </a:prstGeom>
          <a:solidFill>
            <a:srgbClr val="F5F5F5"/>
          </a:solidFill>
          <a:ln w="15875">
            <a:solidFill>
              <a:srgbClr val="2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857375" y="5314950"/>
            <a:ext cx="8477250" cy="400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222222"/>
                </a:solidFill>
                <a:latin typeface="Arial"/>
                <a:ea typeface="AppleGothic"/>
              </a:rPr>
              <a:t>Final prior gate: BQ냐 affine이냐만 결정 · OOF/group/mode 검사 없음 · prior_weight=1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858500" y="6419850"/>
            <a:ext cx="838200" cy="1714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1">
                <a:solidFill>
                  <a:srgbClr val="666666"/>
                </a:solidFill>
                <a:latin typeface="Arial"/>
              </a:rPr>
              <a:t>8/19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9050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09550"/>
            <a:ext cx="1123950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222222"/>
                </a:solidFill>
                <a:latin typeface="Arial"/>
                <a:ea typeface="AppleGothic"/>
              </a:rPr>
              <a:t>수식 2 — residual 후보와 executor의 역할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14350"/>
            <a:ext cx="112395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66666"/>
                </a:solidFill>
                <a:latin typeface="Arial"/>
                <a:ea typeface="AppleGothic"/>
              </a:rPr>
              <a:t>C2는 bounded 하나만 학습하지 않는다. 후보군을 학습하고 C3 validation이 하나를 고른다.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28625" y="914400"/>
          <a:ext cx="11334748" cy="381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33687"/>
                <a:gridCol w="2833687"/>
                <a:gridCol w="2833687"/>
                <a:gridCol w="2833687"/>
              </a:tblGrid>
              <a:tr h="476250"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  <a:ea typeface="AppleGothic"/>
                        </a:rPr>
                        <a:t>후보</a:t>
                      </a:r>
                    </a:p>
                  </a:txBody>
                  <a:tcPr anchor="ctr"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  <a:ea typeface="AppleGothic"/>
                        </a:rPr>
                        <a:t>예측식 / 동작</a:t>
                      </a:r>
                    </a:p>
                  </a:txBody>
                  <a:tcPr anchor="ctr"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  <a:ea typeface="AppleGothic"/>
                        </a:rPr>
                        <a:t>무엇을 바꾸나</a:t>
                      </a:r>
                    </a:p>
                  </a:txBody>
                  <a:tcPr anchor="ctr"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  <a:ea typeface="AppleGothic"/>
                        </a:rPr>
                        <a:t>Final에서의 위치</a:t>
                      </a:r>
                    </a:p>
                  </a:txBody>
                  <a:tcPr anchor="ctr">
                    <a:solidFill>
                      <a:srgbClr val="222222"/>
                    </a:solidFill>
                  </a:tcPr>
                </a:tc>
              </a:tr>
              <a:tr h="476250"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prior-only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D{yprior}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residual 없음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가장 단순한 기준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76250"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unbounded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D{yprior + r(z)}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수정폭 제한 없음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공통 residual 후보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476250"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fixed bounded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D{yprior + B·tanh[r(z)/B]}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|수정|≤B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Sunwoda·RWTH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76250"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dual-scale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D{yprior + B(z)·tanh[r(z)/B(z)]}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support별 local/broad bound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MICH만 ON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476250"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history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z = adapter(current, causal history)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residual 입력 시간척도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NASA·N-CMAPSS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76250"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transport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ŷ′ = ag·ŷ + cg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regime 출력 scale·offset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HUST·MATR-b2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476250"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direct fallback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D{fNN(X)}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prior-residual 미사용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Executor Val FAIL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952500" y="5095875"/>
            <a:ext cx="10287000" cy="781050"/>
          </a:xfrm>
          <a:prstGeom prst="roundRect">
            <a:avLst/>
          </a:prstGeom>
          <a:solidFill>
            <a:srgbClr val="E8F1F8"/>
          </a:solidFill>
          <a:ln w="15875">
            <a:solidFill>
              <a:srgbClr val="0072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90625" y="5219700"/>
            <a:ext cx="9810750" cy="5143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1">
                <a:solidFill>
                  <a:srgbClr val="222222"/>
                </a:solidFill>
                <a:latin typeface="Arial"/>
                <a:ea typeface="AppleGothic"/>
              </a:rPr>
              <a:t>C2 Fit = prior-only·unbounded·bounded 후보 학습 → C3 Approve = 2%·60%·1.10 통과 executor 1개 동결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58500" y="6419850"/>
            <a:ext cx="838200" cy="1714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1">
                <a:solidFill>
                  <a:srgbClr val="666666"/>
                </a:solidFill>
                <a:latin typeface="Arial"/>
              </a:rPr>
              <a:t>9/19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9050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09550"/>
            <a:ext cx="1123950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222222"/>
                </a:solidFill>
                <a:latin typeface="Arial"/>
                <a:ea typeface="AppleGothic"/>
              </a:rPr>
              <a:t>동일예산 비교 — 그림과 검정의 의미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14350"/>
            <a:ext cx="112395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66666"/>
                </a:solidFill>
                <a:latin typeface="Arial"/>
                <a:ea typeface="AppleGothic"/>
              </a:rPr>
              <a:t>왼쪽 heatmap은 9 settings × 9 methods의 pooled R². 오른쪽은 이 그림에서 계산한 검정이다.</a:t>
            </a:r>
          </a:p>
        </p:txBody>
      </p:sp>
      <p:pic>
        <p:nvPicPr>
          <p:cNvPr id="6" name="Picture 5" descr="competitor_ba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500" y="809625"/>
            <a:ext cx="7810500" cy="495300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239125" y="952500"/>
            <a:ext cx="3476625" cy="1381125"/>
          </a:xfrm>
          <a:prstGeom prst="roundRect">
            <a:avLst/>
          </a:prstGeom>
          <a:solidFill>
            <a:srgbClr val="E8F1F8"/>
          </a:solidFill>
          <a:ln w="15875">
            <a:solidFill>
              <a:srgbClr val="0072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29625" y="1085850"/>
            <a:ext cx="3095625" cy="2476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0072B2"/>
                </a:solidFill>
                <a:latin typeface="Arial"/>
                <a:ea typeface="AppleGothic"/>
              </a:rPr>
              <a:t>무엇을 비교했나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29625" y="1447800"/>
            <a:ext cx="3095625" cy="7048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1">
                <a:solidFill>
                  <a:srgbClr val="222222"/>
                </a:solidFill>
                <a:latin typeface="Arial"/>
                <a:ea typeface="AppleGothic"/>
              </a:rPr>
              <a:t>각 setting에서 후보 30개를 탐색한</a:t>
            </a:r>
          </a:p>
          <a:p>
            <a:pPr algn="ctr"/>
            <a:r>
              <a:rPr sz="1150" b="1">
                <a:solidFill>
                  <a:srgbClr val="222222"/>
                </a:solidFill>
                <a:latin typeface="Arial"/>
                <a:ea typeface="AppleGothic"/>
              </a:rPr>
              <a:t>가장 강한 baseline vs PP-X Final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39125" y="2619375"/>
            <a:ext cx="3476625" cy="1190625"/>
          </a:xfrm>
          <a:prstGeom prst="roundRect">
            <a:avLst/>
          </a:prstGeom>
          <a:solidFill>
            <a:srgbClr val="E8F1F8"/>
          </a:solidFill>
          <a:ln w="15875">
            <a:solidFill>
              <a:srgbClr val="0072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29625" y="2743200"/>
            <a:ext cx="3095625" cy="333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0072B2"/>
                </a:solidFill>
                <a:latin typeface="Arial"/>
                <a:ea typeface="AppleGothic"/>
              </a:rPr>
              <a:t>8 / 9 우세 · p=.0391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29625" y="3181350"/>
            <a:ext cx="309562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>
                <a:solidFill>
                  <a:srgbClr val="666666"/>
                </a:solidFill>
                <a:latin typeface="Arial"/>
                <a:ea typeface="AppleGothic"/>
              </a:rPr>
              <a:t>9개 setting 승패의</a:t>
            </a:r>
          </a:p>
          <a:p>
            <a:pPr algn="ctr"/>
            <a:r>
              <a:rPr sz="1050" b="0">
                <a:solidFill>
                  <a:srgbClr val="666666"/>
                </a:solidFill>
                <a:latin typeface="Arial"/>
                <a:ea typeface="AppleGothic"/>
              </a:rPr>
              <a:t>two-sided exact sign test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39125" y="4095750"/>
            <a:ext cx="3476625" cy="1190625"/>
          </a:xfrm>
          <a:prstGeom prst="roundRect">
            <a:avLst/>
          </a:prstGeom>
          <a:solidFill>
            <a:srgbClr val="FDF4E3"/>
          </a:solidFill>
          <a:ln w="15875">
            <a:solidFill>
              <a:srgbClr val="E69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29625" y="4219575"/>
            <a:ext cx="3095625" cy="285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E69F00"/>
                </a:solidFill>
                <a:latin typeface="Arial"/>
                <a:ea typeface="AppleGothic"/>
              </a:rPr>
              <a:t>예외 · Virkler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29625" y="4591050"/>
            <a:ext cx="3095625" cy="5143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1">
                <a:solidFill>
                  <a:srgbClr val="222222"/>
                </a:solidFill>
                <a:latin typeface="Arial"/>
                <a:ea typeface="AppleGothic"/>
              </a:rPr>
              <a:t>PP-X .888</a:t>
            </a:r>
          </a:p>
          <a:p>
            <a:pPr algn="ctr"/>
            <a:r>
              <a:rPr sz="1150" b="1">
                <a:solidFill>
                  <a:srgbClr val="222222"/>
                </a:solidFill>
                <a:latin typeface="Arial"/>
                <a:ea typeface="AppleGothic"/>
              </a:rPr>
              <a:t>FT-Transformer .890 (+.002)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39125" y="5572125"/>
            <a:ext cx="3476625" cy="4286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9B1C1C"/>
                </a:solidFill>
                <a:latin typeface="Arial"/>
                <a:ea typeface="AppleGothic"/>
              </a:rPr>
              <a:t>matched direct 9/9 검정과는 별개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858500" y="6419850"/>
            <a:ext cx="838200" cy="1714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1">
                <a:solidFill>
                  <a:srgbClr val="666666"/>
                </a:solidFill>
                <a:latin typeface="Arial"/>
              </a:rPr>
              <a:t>14/19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81000" y="304800"/>
            <a:ext cx="11430000" cy="6248400"/>
          </a:xfrm>
          <a:prstGeom prst="rect">
            <a:avLst/>
          </a:prstGeom>
          <a:noFill/>
          <a:ln w="15875">
            <a:solidFill>
              <a:srgbClr val="2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2500" y="1905000"/>
            <a:ext cx="10287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222222"/>
                </a:solidFill>
                <a:latin typeface="Arial"/>
                <a:ea typeface="AppleGothic"/>
              </a:rPr>
              <a:t>감사합니다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52500" y="2571750"/>
            <a:ext cx="102870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0072B2"/>
                </a:solidFill>
                <a:latin typeface="Arial"/>
                <a:ea typeface="AppleGothic"/>
              </a:rPr>
              <a:t>Q &amp; 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33500" y="3429000"/>
            <a:ext cx="9525000" cy="7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222222"/>
                </a:solidFill>
                <a:latin typeface="Arial"/>
                <a:ea typeface="AppleGothic"/>
              </a:rPr>
              <a:t>오늘: PP-X  ·  contract-conditioned prior + validation-approved executor + fallback</a:t>
            </a:r>
          </a:p>
          <a:p>
            <a:pPr algn="ctr"/>
            <a:r>
              <a:rPr sz="1500" b="0">
                <a:solidFill>
                  <a:srgbClr val="222222"/>
                </a:solidFill>
                <a:latin typeface="Arial"/>
                <a:ea typeface="AppleGothic"/>
              </a:rPr>
              <a:t>구조 증거: CCMR v2.2  ·  한계: 정확도≠안정성, prospective 확증은 남음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52500" y="4762500"/>
            <a:ext cx="10287000" cy="266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666666"/>
                </a:solidFill>
                <a:latin typeface="Arial"/>
                <a:ea typeface="AppleGothic"/>
              </a:rPr>
              <a:t>질문 받겠습니다.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2500" y="5334000"/>
            <a:ext cx="10287000" cy="209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666666"/>
                </a:solidFill>
                <a:latin typeface="Arial"/>
                <a:ea typeface="AppleGothic"/>
              </a:rPr>
              <a:t>SPS Lab  ·  박사과정 박진서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9050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09550"/>
            <a:ext cx="1123950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222222"/>
                </a:solidFill>
                <a:latin typeface="Arial"/>
                <a:ea typeface="AppleGothic"/>
              </a:rPr>
              <a:t>통계검정 지도 — 질문마다 검정이 다르다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14350"/>
            <a:ext cx="112395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66666"/>
                </a:solidFill>
                <a:latin typeface="Arial"/>
                <a:ea typeface="AppleGothic"/>
              </a:rPr>
              <a:t>내부 구조·외부 경쟁력·component·붕괴 안정성을 하나의 p값으로 섞지 않는다.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904875"/>
          <a:ext cx="11277600" cy="37147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55520"/>
                <a:gridCol w="2255520"/>
                <a:gridCol w="2255520"/>
                <a:gridCol w="2255520"/>
                <a:gridCol w="2255520"/>
              </a:tblGrid>
              <a:tr h="619125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  <a:ea typeface="AppleGothic"/>
                        </a:rPr>
                        <a:t>질문</a:t>
                      </a:r>
                    </a:p>
                  </a:txBody>
                  <a:tcPr anchor="ctr"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  <a:ea typeface="AppleGothic"/>
                        </a:rPr>
                        <a:t>비교 대상</a:t>
                      </a:r>
                    </a:p>
                  </a:txBody>
                  <a:tcPr anchor="ctr"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  <a:ea typeface="AppleGothic"/>
                        </a:rPr>
                        <a:t>표본 단위</a:t>
                      </a:r>
                    </a:p>
                  </a:txBody>
                  <a:tcPr anchor="ctr"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  <a:ea typeface="AppleGothic"/>
                        </a:rPr>
                        <a:t>검정</a:t>
                      </a:r>
                    </a:p>
                  </a:txBody>
                  <a:tcPr anchor="ctr"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  <a:ea typeface="AppleGothic"/>
                        </a:rPr>
                        <a:t>판정</a:t>
                      </a:r>
                    </a:p>
                  </a:txBody>
                  <a:tcPr anchor="ctr">
                    <a:solidFill>
                      <a:srgbClr val="222222"/>
                    </a:solidFill>
                  </a:tcPr>
                </a:tc>
              </a:tr>
              <a:tr h="619125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Prior 구조가 필요한가?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PP-X vs matched direct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9 setting · 77 physical units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exact sign + hierarchical bootstrap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9/9 · p=.0039 · RMSE −33.8%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619125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강한 ML보다 경쟁력 있나?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PP-X vs 동일예산 최강 baseline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9 settings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two-sided exact sign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8/9 · p=.0391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619125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각 module이 필요한가?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component on vs off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physical units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unit sign/boot + 24개 BH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일부 개선·일부 악화 유의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619125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외삽이 덜 무너지나?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9모델의 setting별 R² 분포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9 settings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MAD permutation + SD bootstrap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관찰상 우수; Holm 후 전역 비유의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619125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Seed가 더 안정적인가?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5-seed refits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optimizer seeds 5개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exact sign/기술통계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p&lt;.05 확증 불가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1143000" y="5000625"/>
            <a:ext cx="9906000" cy="685800"/>
          </a:xfrm>
          <a:prstGeom prst="rect">
            <a:avLst/>
          </a:prstGeom>
          <a:solidFill>
            <a:srgbClr val="E8F1F8"/>
          </a:solidFill>
          <a:ln w="15875">
            <a:solidFill>
              <a:srgbClr val="0072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33500" y="5124450"/>
            <a:ext cx="9525000" cy="4381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222222"/>
                </a:solidFill>
                <a:latin typeface="Arial"/>
                <a:ea typeface="AppleGothic"/>
              </a:rPr>
              <a:t>핵심 주장: 현재 9개 retrospective 외삽 setting에서 PP-X는 prior 없는 direct보다 평균 오차가 작고, 강한 동일예산 비교군보다 8/9에서 높으며, 심한 음의 R² 붕괴가 덜 관찰됐다.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58500" y="6419850"/>
            <a:ext cx="838200" cy="171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666666"/>
                </a:solidFill>
                <a:latin typeface="Arial"/>
                <a:ea typeface="AppleGothic"/>
              </a:rPr>
              <a:t>15/19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9050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09550"/>
            <a:ext cx="1123950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222222"/>
                </a:solidFill>
                <a:latin typeface="Arial"/>
                <a:ea typeface="AppleGothic"/>
              </a:rPr>
              <a:t>검정 1 — prior–residual 구조의 평균 효과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14350"/>
            <a:ext cx="112395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66666"/>
                </a:solidFill>
                <a:latin typeface="Arial"/>
                <a:ea typeface="AppleGothic"/>
              </a:rPr>
              <a:t>FT-Transformer 비교가 아니다. 같은 데이터·split에서 prior 구조를 제거한 내부 대조군과 비교한다.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952500"/>
            <a:ext cx="3333750" cy="3905250"/>
          </a:xfrm>
          <a:prstGeom prst="rect">
            <a:avLst/>
          </a:prstGeom>
          <a:solidFill>
            <a:srgbClr val="E8F1F8"/>
          </a:solidFill>
          <a:ln w="15875">
            <a:solidFill>
              <a:srgbClr val="0072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7700" y="1123950"/>
            <a:ext cx="2952750" cy="266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0072B2"/>
                </a:solidFill>
                <a:latin typeface="Arial"/>
                <a:ea typeface="AppleGothic"/>
              </a:rPr>
              <a:t>비교 목적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619250"/>
            <a:ext cx="2876550" cy="1428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222222"/>
                </a:solidFill>
                <a:latin typeface="Arial"/>
                <a:ea typeface="AppleGothic"/>
              </a:rPr>
              <a:t>PP-X Final</a:t>
            </a:r>
          </a:p>
          <a:p>
            <a:pPr algn="ctr"/>
            <a:r>
              <a:rPr sz="1300" b="1">
                <a:solidFill>
                  <a:srgbClr val="222222"/>
                </a:solidFill>
                <a:latin typeface="Arial"/>
                <a:ea typeface="AppleGothic"/>
              </a:rPr>
              <a:t>vs</a:t>
            </a:r>
          </a:p>
          <a:p>
            <a:pPr algn="ctr"/>
            <a:r>
              <a:rPr sz="1300" b="1">
                <a:solidFill>
                  <a:srgbClr val="222222"/>
                </a:solidFill>
                <a:latin typeface="Arial"/>
                <a:ea typeface="AppleGothic"/>
              </a:rPr>
              <a:t>matched direct</a:t>
            </a:r>
          </a:p>
          <a:p>
            <a:pPr algn="ctr"/>
            <a:r>
              <a:rPr sz="1300" b="1">
                <a:solidFill>
                  <a:srgbClr val="222222"/>
                </a:solidFill>
                <a:latin typeface="Arial"/>
                <a:ea typeface="AppleGothic"/>
              </a:rPr>
              <a:t/>
            </a:r>
          </a:p>
          <a:p>
            <a:pPr algn="ctr"/>
            <a:r>
              <a:rPr sz="1300" b="1">
                <a:solidFill>
                  <a:srgbClr val="222222"/>
                </a:solidFill>
                <a:latin typeface="Arial"/>
                <a:ea typeface="AppleGothic"/>
              </a:rPr>
              <a:t>같은 입력·split의 direct 예측 모델에서</a:t>
            </a:r>
          </a:p>
          <a:p>
            <a:pPr algn="ctr"/>
            <a:r>
              <a:rPr sz="1300" b="1">
                <a:solidFill>
                  <a:srgbClr val="222222"/>
                </a:solidFill>
                <a:latin typeface="Arial"/>
                <a:ea typeface="AppleGothic"/>
              </a:rPr>
              <a:t>BQ/affine prior-residual 구조만 제거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524250"/>
            <a:ext cx="2876550" cy="876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666666"/>
                </a:solidFill>
                <a:latin typeface="Arial"/>
                <a:ea typeface="AppleGothic"/>
              </a:rPr>
              <a:t>묻는 질문</a:t>
            </a:r>
          </a:p>
          <a:p>
            <a:pPr algn="ctr"/>
            <a:r>
              <a:rPr sz="1200" b="1">
                <a:solidFill>
                  <a:srgbClr val="666666"/>
                </a:solidFill>
                <a:latin typeface="Arial"/>
                <a:ea typeface="AppleGothic"/>
              </a:rPr>
              <a:t>“일반 direct 예측보다</a:t>
            </a:r>
          </a:p>
          <a:p>
            <a:pPr algn="ctr"/>
            <a:r>
              <a:rPr sz="1200" b="1">
                <a:solidFill>
                  <a:srgbClr val="666666"/>
                </a:solidFill>
                <a:latin typeface="Arial"/>
                <a:ea typeface="AppleGothic"/>
              </a:rPr>
              <a:t>prior 구조가 실제로 도움 되는가?”</a:t>
            </a:r>
          </a:p>
        </p:txBody>
      </p:sp>
      <p:sp>
        <p:nvSpPr>
          <p:cNvPr id="10" name="Rectangle 9"/>
          <p:cNvSpPr/>
          <p:nvPr/>
        </p:nvSpPr>
        <p:spPr>
          <a:xfrm>
            <a:off x="4095750" y="952500"/>
            <a:ext cx="3619500" cy="3905250"/>
          </a:xfrm>
          <a:prstGeom prst="rect">
            <a:avLst/>
          </a:prstGeom>
          <a:solidFill>
            <a:srgbClr val="F5F5F5"/>
          </a:solidFill>
          <a:ln w="15875">
            <a:solidFill>
              <a:srgbClr val="2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86250" y="1123950"/>
            <a:ext cx="3238500" cy="266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222222"/>
                </a:solidFill>
                <a:latin typeface="Arial"/>
                <a:ea typeface="AppleGothic"/>
              </a:rPr>
              <a:t>계층 bootstrap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05300" y="1619250"/>
            <a:ext cx="3200400" cy="23812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Arial"/>
                <a:ea typeface="AppleGothic"/>
              </a:rPr>
              <a:t>① 각 물리 unit의 RMSE 비교</a:t>
            </a:r>
          </a:p>
          <a:p>
            <a:pPr algn="l"/>
            <a:r>
              <a:rPr sz="1200" b="0">
                <a:solidFill>
                  <a:srgbClr val="222222"/>
                </a:solidFill>
                <a:latin typeface="Arial"/>
                <a:ea typeface="AppleGothic"/>
              </a:rPr>
              <a:t/>
            </a:r>
          </a:p>
          <a:p>
            <a:pPr algn="l"/>
            <a:r>
              <a:rPr sz="1200" b="0">
                <a:solidFill>
                  <a:srgbClr val="222222"/>
                </a:solidFill>
                <a:latin typeface="Arial"/>
                <a:ea typeface="AppleGothic"/>
              </a:rPr>
              <a:t>② 데이터셋을 동일 확률로 재표집</a:t>
            </a:r>
          </a:p>
          <a:p>
            <a:pPr algn="l"/>
            <a:r>
              <a:rPr sz="1200" b="0">
                <a:solidFill>
                  <a:srgbClr val="222222"/>
                </a:solidFill>
                <a:latin typeface="Arial"/>
                <a:ea typeface="AppleGothic"/>
              </a:rPr>
              <a:t/>
            </a:r>
          </a:p>
          <a:p>
            <a:pPr algn="l"/>
            <a:r>
              <a:rPr sz="1200" b="0">
                <a:solidFill>
                  <a:srgbClr val="222222"/>
                </a:solidFill>
                <a:latin typeface="Arial"/>
                <a:ea typeface="AppleGothic"/>
              </a:rPr>
              <a:t>③ 선택된 데이터셋 안에서 unit 재표집</a:t>
            </a:r>
          </a:p>
          <a:p>
            <a:pPr algn="l"/>
            <a:r>
              <a:rPr sz="1200" b="0">
                <a:solidFill>
                  <a:srgbClr val="222222"/>
                </a:solidFill>
                <a:latin typeface="Arial"/>
                <a:ea typeface="AppleGothic"/>
              </a:rPr>
              <a:t/>
            </a:r>
          </a:p>
          <a:p>
            <a:pPr algn="l"/>
            <a:r>
              <a:rPr sz="1200" b="0">
                <a:solidFill>
                  <a:srgbClr val="222222"/>
                </a:solidFill>
                <a:latin typeface="Arial"/>
                <a:ea typeface="AppleGothic"/>
              </a:rPr>
              <a:t>④ 반복마다 log-RMSE 이득 계산</a:t>
            </a:r>
          </a:p>
          <a:p>
            <a:pPr algn="l"/>
            <a:r>
              <a:rPr sz="1200" b="0">
                <a:solidFill>
                  <a:srgbClr val="222222"/>
                </a:solidFill>
                <a:latin typeface="Arial"/>
                <a:ea typeface="AppleGothic"/>
              </a:rPr>
              <a:t/>
            </a:r>
          </a:p>
          <a:p>
            <a:pPr algn="l"/>
            <a:r>
              <a:rPr sz="1200" b="0">
                <a:solidFill>
                  <a:srgbClr val="222222"/>
                </a:solidFill>
                <a:latin typeface="Arial"/>
                <a:ea typeface="AppleGothic"/>
              </a:rPr>
              <a:t>→ 큰 데이터셋이 결론을 독점하지 않음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05300" y="4210050"/>
            <a:ext cx="3200400" cy="400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666666"/>
                </a:solidFill>
                <a:latin typeface="Arial"/>
                <a:ea typeface="AppleGothic"/>
              </a:rPr>
              <a:t>9 settings · 77 physical units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020050" y="952500"/>
            <a:ext cx="3714750" cy="3905250"/>
          </a:xfrm>
          <a:prstGeom prst="rect">
            <a:avLst/>
          </a:prstGeom>
          <a:solidFill>
            <a:srgbClr val="E8F1F8"/>
          </a:solidFill>
          <a:ln w="15875">
            <a:solidFill>
              <a:srgbClr val="0072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10550" y="1123950"/>
            <a:ext cx="3333750" cy="266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0072B2"/>
                </a:solidFill>
                <a:latin typeface="Arial"/>
                <a:ea typeface="AppleGothic"/>
              </a:rPr>
              <a:t>결과와 해석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10550" y="1638300"/>
            <a:ext cx="3333750" cy="53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0072B2"/>
                </a:solidFill>
                <a:latin typeface="Arial"/>
                <a:ea typeface="AppleGothic"/>
              </a:rPr>
              <a:t>9 / 9 우세  ·  p=.0039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8334375" y="2381250"/>
            <a:ext cx="3076575" cy="0"/>
          </a:xfrm>
          <a:prstGeom prst="line">
            <a:avLst/>
          </a:prstGeom>
          <a:ln w="15875">
            <a:solidFill>
              <a:srgbClr val="0072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8210550" y="2571750"/>
            <a:ext cx="3333750" cy="5143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0072B2"/>
                </a:solidFill>
                <a:latin typeface="Arial"/>
                <a:ea typeface="AppleGothic"/>
              </a:rPr>
              <a:t>평균 RMSE 33.8% 감소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10550" y="3124200"/>
            <a:ext cx="3333750" cy="400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222222"/>
                </a:solidFill>
                <a:latin typeface="Arial"/>
                <a:ea typeface="AppleGothic"/>
              </a:rPr>
              <a:t>95% CI: 15.8%–48.6%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10550" y="3752850"/>
            <a:ext cx="3333750" cy="723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666666"/>
                </a:solidFill>
                <a:latin typeface="Arial"/>
                <a:ea typeface="AppleGothic"/>
              </a:rPr>
              <a:t>log CI [.172,.665]를</a:t>
            </a:r>
          </a:p>
          <a:p>
            <a:pPr algn="ctr"/>
            <a:r>
              <a:rPr sz="1100" b="0">
                <a:solidFill>
                  <a:srgbClr val="666666"/>
                </a:solidFill>
                <a:latin typeface="Arial"/>
                <a:ea typeface="AppleGothic"/>
              </a:rPr>
              <a:t>사람이 읽기 쉬운 RMSE 감소율로 환산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3875" y="5143500"/>
            <a:ext cx="11144250" cy="4762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222222"/>
                </a:solidFill>
                <a:latin typeface="Arial"/>
                <a:ea typeface="AppleGothic"/>
              </a:rPr>
              <a:t>말할 수 있음: 현재 평가 범위에서 prior–residual 구조의 평균 오차 감소가 0보다 크다. 말할 수 없음: 모든 MLP·Transformer보다 항상 우수하다.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858500" y="6419850"/>
            <a:ext cx="838200" cy="171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666666"/>
                </a:solidFill>
                <a:latin typeface="Arial"/>
                <a:ea typeface="AppleGothic"/>
              </a:rPr>
              <a:t>16/19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9050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09550"/>
            <a:ext cx="1123950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222222"/>
                </a:solidFill>
                <a:latin typeface="Arial"/>
                <a:ea typeface="AppleGothic"/>
              </a:rPr>
              <a:t>검정 3 — component on/off와 Final route의 일치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14350"/>
            <a:ext cx="112395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66666"/>
                </a:solidFill>
                <a:latin typeface="Arial"/>
                <a:ea typeface="AppleGothic"/>
              </a:rPr>
              <a:t>강제 on/off ablation을 물리 unit 단위로 비교하고 24개 동시검정에 BH 보정을 적용했다.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904875"/>
          <a:ext cx="11277600" cy="3238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79600"/>
                <a:gridCol w="1879600"/>
                <a:gridCol w="1879600"/>
                <a:gridCol w="1879600"/>
                <a:gridCol w="1879600"/>
                <a:gridCol w="1879600"/>
              </a:tblGrid>
              <a:tr h="359833"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  <a:ea typeface="AppleGothic"/>
                        </a:rPr>
                        <a:t>Component</a:t>
                      </a:r>
                    </a:p>
                  </a:txBody>
                  <a:tcPr anchor="ctr"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  <a:ea typeface="AppleGothic"/>
                        </a:rPr>
                        <a:t>Setting</a:t>
                      </a:r>
                    </a:p>
                  </a:txBody>
                  <a:tcPr anchor="ctr"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  <a:ea typeface="AppleGothic"/>
                        </a:rPr>
                        <a:t>OFF → ON R²</a:t>
                      </a:r>
                    </a:p>
                  </a:txBody>
                  <a:tcPr anchor="ctr"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  <a:ea typeface="AppleGothic"/>
                        </a:rPr>
                        <a:t>BH q</a:t>
                      </a:r>
                    </a:p>
                  </a:txBody>
                  <a:tcPr anchor="ctr"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  <a:ea typeface="AppleGothic"/>
                        </a:rPr>
                        <a:t>Ablation 판정</a:t>
                      </a:r>
                    </a:p>
                  </a:txBody>
                  <a:tcPr anchor="ctr"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  <a:ea typeface="AppleGothic"/>
                        </a:rPr>
                        <a:t>실제 Final</a:t>
                      </a:r>
                    </a:p>
                  </a:txBody>
                  <a:tcPr anchor="ctr">
                    <a:solidFill>
                      <a:srgbClr val="222222"/>
                    </a:solidFill>
                  </a:tcPr>
                </a:tc>
              </a:tr>
              <a:tr h="359833"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nonlinear residual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Sunwoda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.281 → .939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.0188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개선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59833"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nonlinear residual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RWTH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.659 → .878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.0208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개선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ON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359833"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nonlinear residual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MICH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−3.343 → .468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.0208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개선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59833"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dual-scale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MICH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.468 → .751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.0313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개선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ON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359833"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dual-scale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RWTH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.878 → .842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.0208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유의하게 악화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OFF · fixed .878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59833"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fixed bound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MICH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.759 → .468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.0313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유의하게 악화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OFF · dual .751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359833"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regime transport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HUST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.829 → .958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.0029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개선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59836"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regime transport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MATR-b2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.675 → .862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.0188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개선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ON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666750" y="4572000"/>
            <a:ext cx="10858500" cy="819150"/>
          </a:xfrm>
          <a:prstGeom prst="rect">
            <a:avLst/>
          </a:prstGeom>
          <a:solidFill>
            <a:srgbClr val="E8F1F8"/>
          </a:solidFill>
          <a:ln w="15875">
            <a:solidFill>
              <a:srgbClr val="0072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7250" y="4695825"/>
            <a:ext cx="10477500" cy="552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222222"/>
                </a:solidFill>
                <a:latin typeface="Arial"/>
                <a:ea typeface="AppleGothic"/>
              </a:rPr>
              <a:t>실험과 실제 결과가 매칭됨: MICH는 dual-scale을 켰고, RWTH는 dual-scale을 끄고 fixed bound를 유지했다. 음성 ablation은 모델 실패가 아니라 잘못된 전역 적용을 막는 근거다.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6750" y="5762625"/>
            <a:ext cx="10858500" cy="419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1">
                <a:solidFill>
                  <a:srgbClr val="666666"/>
                </a:solidFill>
                <a:latin typeface="Arial"/>
                <a:ea typeface="AppleGothic"/>
              </a:rPr>
              <a:t>BH 보정 목적: 24개 비교 중 우연히 유의한 결과가 생기는 허위발견률을 통제.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58500" y="6419850"/>
            <a:ext cx="838200" cy="171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666666"/>
                </a:solidFill>
                <a:latin typeface="Arial"/>
                <a:ea typeface="AppleGothic"/>
              </a:rPr>
              <a:t>17/19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9050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09550"/>
            <a:ext cx="1123950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222222"/>
                </a:solidFill>
                <a:latin typeface="Arial"/>
                <a:ea typeface="AppleGothic"/>
              </a:rPr>
              <a:t>검정 4 — ‘외삽이 덜 무너진다’의 근거와 한계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14350"/>
            <a:ext cx="112395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66666"/>
                </a:solidFill>
                <a:latin typeface="Arial"/>
                <a:ea typeface="AppleGothic"/>
              </a:rPr>
              <a:t>성능 평균뿐 아니라 setting 간 편차·최악 점수·음의 R² 발생을 함께 본다.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914400"/>
          <a:ext cx="6953250" cy="31432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90650"/>
                <a:gridCol w="1390650"/>
                <a:gridCol w="1390650"/>
                <a:gridCol w="1390650"/>
                <a:gridCol w="1390650"/>
              </a:tblGrid>
              <a:tr h="523875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  <a:ea typeface="AppleGothic"/>
                        </a:rPr>
                        <a:t>모델</a:t>
                      </a:r>
                    </a:p>
                  </a:txBody>
                  <a:tcPr anchor="ctr"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  <a:ea typeface="AppleGothic"/>
                        </a:rPr>
                        <a:t>macro R²</a:t>
                      </a:r>
                    </a:p>
                  </a:txBody>
                  <a:tcPr anchor="ctr"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  <a:ea typeface="AppleGothic"/>
                        </a:rPr>
                        <a:t>setting SD</a:t>
                      </a:r>
                    </a:p>
                  </a:txBody>
                  <a:tcPr anchor="ctr"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  <a:ea typeface="AppleGothic"/>
                        </a:rPr>
                        <a:t>최악 R²</a:t>
                      </a:r>
                    </a:p>
                  </a:txBody>
                  <a:tcPr anchor="ctr"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  <a:ea typeface="AppleGothic"/>
                        </a:rPr>
                        <a:t>R²&gt;0</a:t>
                      </a:r>
                    </a:p>
                  </a:txBody>
                  <a:tcPr anchor="ctr">
                    <a:solidFill>
                      <a:srgbClr val="222222"/>
                    </a:solidFill>
                  </a:tcPr>
                </a:tc>
              </a:tr>
              <a:tr h="523875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PP-X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.807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.174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.466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9/9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23875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Engression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.257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.949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−1.580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7/9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523875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FT-Transformer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.115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1.005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−2.010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7/9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23875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plain MLP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.093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1.007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−2.140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6/9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523875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GroupDRO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.011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.998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−2.057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5/9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7810500" y="914400"/>
            <a:ext cx="3905250" cy="1428750"/>
          </a:xfrm>
          <a:prstGeom prst="rect">
            <a:avLst/>
          </a:prstGeom>
          <a:solidFill>
            <a:srgbClr val="E8F1F8"/>
          </a:solidFill>
          <a:ln w="15875">
            <a:solidFill>
              <a:srgbClr val="0072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01000" y="1066800"/>
            <a:ext cx="3524250" cy="266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0072B2"/>
                </a:solidFill>
                <a:latin typeface="Arial"/>
                <a:ea typeface="AppleGothic"/>
              </a:rPr>
              <a:t>관찰된 붕괴 완화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01000" y="1466850"/>
            <a:ext cx="3524250" cy="666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222222"/>
                </a:solidFill>
                <a:latin typeface="Arial"/>
                <a:ea typeface="AppleGothic"/>
              </a:rPr>
              <a:t>가장 작은 SD</a:t>
            </a:r>
          </a:p>
          <a:p>
            <a:pPr algn="ctr"/>
            <a:r>
              <a:rPr sz="1300" b="1">
                <a:solidFill>
                  <a:srgbClr val="222222"/>
                </a:solidFill>
                <a:latin typeface="Arial"/>
                <a:ea typeface="AppleGothic"/>
              </a:rPr>
              <a:t>가장 높은 최악 R²</a:t>
            </a:r>
          </a:p>
          <a:p>
            <a:pPr algn="ctr"/>
            <a:r>
              <a:rPr sz="1300" b="1">
                <a:solidFill>
                  <a:srgbClr val="222222"/>
                </a:solidFill>
                <a:latin typeface="Arial"/>
                <a:ea typeface="AppleGothic"/>
              </a:rPr>
              <a:t>유일한 9/9 양의 R²</a:t>
            </a:r>
          </a:p>
        </p:txBody>
      </p:sp>
      <p:sp>
        <p:nvSpPr>
          <p:cNvPr id="10" name="Rectangle 9"/>
          <p:cNvSpPr/>
          <p:nvPr/>
        </p:nvSpPr>
        <p:spPr>
          <a:xfrm>
            <a:off x="7810500" y="2628900"/>
            <a:ext cx="3905250" cy="1428750"/>
          </a:xfrm>
          <a:prstGeom prst="rect">
            <a:avLst/>
          </a:prstGeom>
          <a:solidFill>
            <a:srgbClr val="FDF4E3"/>
          </a:solidFill>
          <a:ln w="15875">
            <a:solidFill>
              <a:srgbClr val="E69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01000" y="2781300"/>
            <a:ext cx="3524250" cy="266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E69F00"/>
                </a:solidFill>
                <a:latin typeface="Arial"/>
                <a:ea typeface="AppleGothic"/>
              </a:rPr>
              <a:t>통계적 경계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01000" y="3181350"/>
            <a:ext cx="3524250" cy="666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222222"/>
                </a:solidFill>
                <a:latin typeface="Arial"/>
                <a:ea typeface="AppleGothic"/>
              </a:rPr>
              <a:t>Engression 대비 MAD p=.0391</a:t>
            </a:r>
          </a:p>
          <a:p>
            <a:pPr algn="ctr"/>
            <a:r>
              <a:rPr sz="1200" b="1">
                <a:solidFill>
                  <a:srgbClr val="222222"/>
                </a:solidFill>
                <a:latin typeface="Arial"/>
                <a:ea typeface="AppleGothic"/>
              </a:rPr>
              <a:t>8모델 Holm 보정 q=.2734</a:t>
            </a:r>
          </a:p>
          <a:p>
            <a:pPr algn="ctr"/>
            <a:r>
              <a:rPr sz="1200" b="1">
                <a:solidFill>
                  <a:srgbClr val="222222"/>
                </a:solidFill>
                <a:latin typeface="Arial"/>
                <a:ea typeface="AppleGothic"/>
              </a:rPr>
              <a:t>→ 전 모델 대비 확증은 아님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71500" y="4524375"/>
            <a:ext cx="11049000" cy="876300"/>
          </a:xfrm>
          <a:prstGeom prst="rect">
            <a:avLst/>
          </a:prstGeom>
          <a:solidFill>
            <a:srgbClr val="E8F1F8"/>
          </a:solidFill>
          <a:ln w="15875">
            <a:solidFill>
              <a:srgbClr val="0072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9625" y="4657725"/>
            <a:ext cx="10572750" cy="590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1">
                <a:solidFill>
                  <a:srgbClr val="222222"/>
                </a:solidFill>
                <a:latin typeface="Arial"/>
                <a:ea typeface="AppleGothic"/>
              </a:rPr>
              <a:t>허용 주장: “현재 9개 retrospective 외삽 setting에서 PP-X는 심한 성능 붕괴가 덜 관찰됐다.”</a:t>
            </a:r>
          </a:p>
          <a:p>
            <a:pPr algn="ctr"/>
            <a:r>
              <a:rPr sz="1250" b="1">
                <a:solidFill>
                  <a:srgbClr val="222222"/>
                </a:solidFill>
                <a:latin typeface="Arial"/>
                <a:ea typeface="AppleGothic"/>
              </a:rPr>
              <a:t>금지 주장: “모든 미래 데이터와 모든 모델에 대해 안정성 우월이 통계적으로 확증됐다.”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6750" y="5810250"/>
            <a:ext cx="10858500" cy="333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1">
                <a:solidFill>
                  <a:srgbClr val="666666"/>
                </a:solidFill>
                <a:latin typeface="Arial"/>
                <a:ea typeface="AppleGothic"/>
              </a:rPr>
              <a:t>5-seed는 optimizer 재학습 기술통계다. n=5 양측 exact 검정 최소 p=.0625이므로 독립적인 안정성 확증으로 쓰지 않는다.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858500" y="6419850"/>
            <a:ext cx="838200" cy="171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666666"/>
                </a:solidFill>
                <a:latin typeface="Arial"/>
                <a:ea typeface="AppleGothic"/>
              </a:rPr>
              <a:t>18/19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